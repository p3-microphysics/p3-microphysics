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58" r:id="rId5"/>
    <p:sldId id="275" r:id="rId6"/>
    <p:sldId id="276" r:id="rId7"/>
    <p:sldId id="259" r:id="rId8"/>
    <p:sldId id="260" r:id="rId9"/>
    <p:sldId id="261" r:id="rId10"/>
    <p:sldId id="270" r:id="rId11"/>
    <p:sldId id="271" r:id="rId12"/>
    <p:sldId id="272" r:id="rId13"/>
    <p:sldId id="273" r:id="rId14"/>
    <p:sldId id="274" r:id="rId15"/>
    <p:sldId id="262" r:id="rId16"/>
    <p:sldId id="266" r:id="rId17"/>
    <p:sldId id="263" r:id="rId18"/>
    <p:sldId id="267" r:id="rId19"/>
    <p:sldId id="268" r:id="rId20"/>
    <p:sldId id="299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69" r:id="rId35"/>
    <p:sldId id="264" r:id="rId36"/>
    <p:sldId id="291" r:id="rId37"/>
    <p:sldId id="265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61154B-8A04-4DD2-8FAE-00C8D2D4365E}" v="2" dt="2025-11-18T17:39:35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57" d="100"/>
          <a:sy n="57" d="100"/>
        </p:scale>
        <p:origin x="98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lette,Melissa (elle | she, her) (ECCC)" userId="d1681f99-91c6-42f6-9d8f-2571876a63e4" providerId="ADAL" clId="{9F0C1A30-A3B2-4172-952E-5D13564FAC7A}"/>
    <pc:docChg chg="custSel addSld delSld modSld">
      <pc:chgData name="Cholette,Melissa (elle | she, her) (ECCC)" userId="d1681f99-91c6-42f6-9d8f-2571876a63e4" providerId="ADAL" clId="{9F0C1A30-A3B2-4172-952E-5D13564FAC7A}" dt="2025-11-18T17:39:48.730" v="257" actId="20577"/>
      <pc:docMkLst>
        <pc:docMk/>
      </pc:docMkLst>
      <pc:sldChg chg="modSp mod">
        <pc:chgData name="Cholette,Melissa (elle | she, her) (ECCC)" userId="d1681f99-91c6-42f6-9d8f-2571876a63e4" providerId="ADAL" clId="{9F0C1A30-A3B2-4172-952E-5D13564FAC7A}" dt="2025-11-07T13:53:27.595" v="210" actId="20577"/>
        <pc:sldMkLst>
          <pc:docMk/>
          <pc:sldMk cId="1008711494" sldId="256"/>
        </pc:sldMkLst>
        <pc:spChg chg="mod">
          <ac:chgData name="Cholette,Melissa (elle | she, her) (ECCC)" userId="d1681f99-91c6-42f6-9d8f-2571876a63e4" providerId="ADAL" clId="{9F0C1A30-A3B2-4172-952E-5D13564FAC7A}" dt="2025-11-07T13:53:27.595" v="210" actId="20577"/>
          <ac:spMkLst>
            <pc:docMk/>
            <pc:sldMk cId="1008711494" sldId="256"/>
            <ac:spMk id="3" creationId="{3F21E547-1954-D188-0856-2B0D832F3376}"/>
          </ac:spMkLst>
        </pc:spChg>
      </pc:sldChg>
      <pc:sldChg chg="addSp delSp modSp new mod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4257688419" sldId="258"/>
        </pc:sldMkLst>
        <pc:spChg chg="mod">
          <ac:chgData name="Cholette,Melissa (elle | she, her) (ECCC)" userId="d1681f99-91c6-42f6-9d8f-2571876a63e4" providerId="ADAL" clId="{9F0C1A30-A3B2-4172-952E-5D13564FAC7A}" dt="2025-11-07T13:31:24.826" v="38" actId="20577"/>
          <ac:spMkLst>
            <pc:docMk/>
            <pc:sldMk cId="4257688419" sldId="258"/>
            <ac:spMk id="2" creationId="{A752F78F-F2D3-5275-A31C-2EA94FAA8A3A}"/>
          </ac:spMkLst>
        </pc:spChg>
        <pc:spChg chg="add mod">
          <ac:chgData name="Cholette,Melissa (elle | she, her) (ECCC)" userId="d1681f99-91c6-42f6-9d8f-2571876a63e4" providerId="ADAL" clId="{9F0C1A30-A3B2-4172-952E-5D13564FAC7A}" dt="2025-11-07T13:37:18.060" v="74" actId="14100"/>
          <ac:spMkLst>
            <pc:docMk/>
            <pc:sldMk cId="4257688419" sldId="258"/>
            <ac:spMk id="5" creationId="{A8C2EB10-C8E2-D6DB-6821-ADA0F57B9501}"/>
          </ac:spMkLst>
        </pc:spChg>
        <pc:spChg chg="add mod">
          <ac:chgData name="Cholette,Melissa (elle | she, her) (ECCC)" userId="d1681f99-91c6-42f6-9d8f-2571876a63e4" providerId="ADAL" clId="{9F0C1A30-A3B2-4172-952E-5D13564FAC7A}" dt="2025-11-07T13:39:47.449" v="80" actId="1076"/>
          <ac:spMkLst>
            <pc:docMk/>
            <pc:sldMk cId="4257688419" sldId="258"/>
            <ac:spMk id="7" creationId="{E43CB3AF-60BA-40C1-4F4A-0C1E8B2640DE}"/>
          </ac:spMkLst>
        </pc:spChg>
        <pc:graphicFrameChg chg="add mod">
          <ac:chgData name="Cholette,Melissa (elle | she, her) (ECCC)" userId="d1681f99-91c6-42f6-9d8f-2571876a63e4" providerId="ADAL" clId="{9F0C1A30-A3B2-4172-952E-5D13564FAC7A}" dt="2025-11-07T13:37:06.615" v="72"/>
          <ac:graphicFrameMkLst>
            <pc:docMk/>
            <pc:sldMk cId="4257688419" sldId="258"/>
            <ac:graphicFrameMk id="4" creationId="{7EE7D509-2467-31B7-8717-E446B55094E0}"/>
          </ac:graphicFrameMkLst>
        </pc:graphicFrameChg>
      </pc:sldChg>
      <pc:sldChg chg="addSp delSp modSp add mod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3737807095" sldId="259"/>
        </pc:sldMkLst>
        <pc:spChg chg="mod">
          <ac:chgData name="Cholette,Melissa (elle | she, her) (ECCC)" userId="d1681f99-91c6-42f6-9d8f-2571876a63e4" providerId="ADAL" clId="{9F0C1A30-A3B2-4172-952E-5D13564FAC7A}" dt="2025-11-07T13:31:36.003" v="47" actId="20577"/>
          <ac:spMkLst>
            <pc:docMk/>
            <pc:sldMk cId="3737807095" sldId="259"/>
            <ac:spMk id="2" creationId="{F51C35A8-70B7-3336-D64C-BE560C82F805}"/>
          </ac:spMkLst>
        </pc:spChg>
        <pc:spChg chg="add mod">
          <ac:chgData name="Cholette,Melissa (elle | she, her) (ECCC)" userId="d1681f99-91c6-42f6-9d8f-2571876a63e4" providerId="ADAL" clId="{9F0C1A30-A3B2-4172-952E-5D13564FAC7A}" dt="2025-11-07T13:37:02.804" v="71" actId="14100"/>
          <ac:spMkLst>
            <pc:docMk/>
            <pc:sldMk cId="3737807095" sldId="259"/>
            <ac:spMk id="6" creationId="{7858408C-F352-1910-1553-8D519C71FF89}"/>
          </ac:spMkLst>
        </pc:spChg>
        <pc:spChg chg="add mod">
          <ac:chgData name="Cholette,Melissa (elle | she, her) (ECCC)" userId="d1681f99-91c6-42f6-9d8f-2571876a63e4" providerId="ADAL" clId="{9F0C1A30-A3B2-4172-952E-5D13564FAC7A}" dt="2025-11-07T13:50:20.270" v="140" actId="1076"/>
          <ac:spMkLst>
            <pc:docMk/>
            <pc:sldMk cId="3737807095" sldId="259"/>
            <ac:spMk id="8" creationId="{6B7773ED-D764-591D-FE96-F83F3DDF574B}"/>
          </ac:spMkLst>
        </pc:spChg>
        <pc:graphicFrameChg chg="add mod">
          <ac:chgData name="Cholette,Melissa (elle | she, her) (ECCC)" userId="d1681f99-91c6-42f6-9d8f-2571876a63e4" providerId="ADAL" clId="{9F0C1A30-A3B2-4172-952E-5D13564FAC7A}" dt="2025-11-07T13:36:53.712" v="69"/>
          <ac:graphicFrameMkLst>
            <pc:docMk/>
            <pc:sldMk cId="3737807095" sldId="259"/>
            <ac:graphicFrameMk id="5" creationId="{E4CE5E05-960C-B6C6-3135-91C72A0A3AA6}"/>
          </ac:graphicFrameMkLst>
        </pc:graphicFrameChg>
      </pc:sldChg>
      <pc:sldChg chg="addSp delSp modSp add mod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1516566750" sldId="260"/>
        </pc:sldMkLst>
        <pc:spChg chg="mod">
          <ac:chgData name="Cholette,Melissa (elle | she, her) (ECCC)" userId="d1681f99-91c6-42f6-9d8f-2571876a63e4" providerId="ADAL" clId="{9F0C1A30-A3B2-4172-952E-5D13564FAC7A}" dt="2025-11-07T13:32:33.657" v="54" actId="20577"/>
          <ac:spMkLst>
            <pc:docMk/>
            <pc:sldMk cId="1516566750" sldId="260"/>
            <ac:spMk id="2" creationId="{4F7B99CD-0175-50B6-DAFC-313BCB1091BA}"/>
          </ac:spMkLst>
        </pc:spChg>
        <pc:spChg chg="add mod">
          <ac:chgData name="Cholette,Melissa (elle | she, her) (ECCC)" userId="d1681f99-91c6-42f6-9d8f-2571876a63e4" providerId="ADAL" clId="{9F0C1A30-A3B2-4172-952E-5D13564FAC7A}" dt="2025-11-07T13:35:23.164" v="63" actId="208"/>
          <ac:spMkLst>
            <pc:docMk/>
            <pc:sldMk cId="1516566750" sldId="260"/>
            <ac:spMk id="6" creationId="{5431232A-3DA6-CF66-1D35-0ADC52D5D698}"/>
          </ac:spMkLst>
        </pc:spChg>
        <pc:spChg chg="add mod">
          <ac:chgData name="Cholette,Melissa (elle | she, her) (ECCC)" userId="d1681f99-91c6-42f6-9d8f-2571876a63e4" providerId="ADAL" clId="{9F0C1A30-A3B2-4172-952E-5D13564FAC7A}" dt="2025-11-07T13:39:11.928" v="78" actId="1076"/>
          <ac:spMkLst>
            <pc:docMk/>
            <pc:sldMk cId="1516566750" sldId="260"/>
            <ac:spMk id="8" creationId="{7DDCC460-A916-C6C6-A907-5C67862F992D}"/>
          </ac:spMkLst>
        </pc:spChg>
        <pc:graphicFrameChg chg="add mod modGraphic">
          <ac:chgData name="Cholette,Melissa (elle | she, her) (ECCC)" userId="d1681f99-91c6-42f6-9d8f-2571876a63e4" providerId="ADAL" clId="{9F0C1A30-A3B2-4172-952E-5D13564FAC7A}" dt="2025-11-07T13:52:54.245" v="158" actId="20577"/>
          <ac:graphicFrameMkLst>
            <pc:docMk/>
            <pc:sldMk cId="1516566750" sldId="260"/>
            <ac:graphicFrameMk id="5" creationId="{7634562E-AFCE-D693-6024-52AF0DA4B242}"/>
          </ac:graphicFrameMkLst>
        </pc:graphicFrameChg>
      </pc:sldChg>
      <pc:sldChg chg="add mod modShow">
        <pc:chgData name="Cholette,Melissa (elle | she, her) (ECCC)" userId="d1681f99-91c6-42f6-9d8f-2571876a63e4" providerId="ADAL" clId="{9F0C1A30-A3B2-4172-952E-5D13564FAC7A}" dt="2025-11-07T13:37:28.819" v="75" actId="729"/>
        <pc:sldMkLst>
          <pc:docMk/>
          <pc:sldMk cId="2606150947" sldId="261"/>
        </pc:sldMkLst>
      </pc:sldChg>
      <pc:sldChg chg="add mod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3068782621" sldId="262"/>
        </pc:sldMkLst>
      </pc:sldChg>
      <pc:sldChg chg="add mod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1775396767" sldId="263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2956053225" sldId="264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2288359409" sldId="265"/>
        </pc:sldMkLst>
      </pc:sldChg>
      <pc:sldChg chg="add mod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201181810" sldId="266"/>
        </pc:sldMkLst>
      </pc:sldChg>
      <pc:sldChg chg="add mod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4048858339" sldId="267"/>
        </pc:sldMkLst>
      </pc:sldChg>
      <pc:sldChg chg="add mod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3412917324" sldId="268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2390345933" sldId="269"/>
        </pc:sldMkLst>
      </pc:sldChg>
      <pc:sldChg chg="add mod modShow">
        <pc:chgData name="Cholette,Melissa (elle | she, her) (ECCC)" userId="d1681f99-91c6-42f6-9d8f-2571876a63e4" providerId="ADAL" clId="{9F0C1A30-A3B2-4172-952E-5D13564FAC7A}" dt="2025-11-07T13:37:34.752" v="76" actId="729"/>
        <pc:sldMkLst>
          <pc:docMk/>
          <pc:sldMk cId="2883982431" sldId="270"/>
        </pc:sldMkLst>
      </pc:sldChg>
      <pc:sldChg chg="delSp add mod setBg delDesignElem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3397383528" sldId="271"/>
        </pc:sldMkLst>
      </pc:sldChg>
      <pc:sldChg chg="delSp add mod setBg delDesignElem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1984886707" sldId="272"/>
        </pc:sldMkLst>
      </pc:sldChg>
      <pc:sldChg chg="add mod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1159214101" sldId="273"/>
        </pc:sldMkLst>
      </pc:sldChg>
      <pc:sldChg chg="add mod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3908798000" sldId="274"/>
        </pc:sldMkLst>
      </pc:sldChg>
      <pc:sldChg chg="addSp delSp modSp new mod modClrScheme modShow chgLayout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3939939641" sldId="275"/>
        </pc:sldMkLst>
        <pc:picChg chg="add mod">
          <ac:chgData name="Cholette,Melissa (elle | she, her) (ECCC)" userId="d1681f99-91c6-42f6-9d8f-2571876a63e4" providerId="ADAL" clId="{9F0C1A30-A3B2-4172-952E-5D13564FAC7A}" dt="2025-11-07T13:44:51.880" v="124" actId="1076"/>
          <ac:picMkLst>
            <pc:docMk/>
            <pc:sldMk cId="3939939641" sldId="275"/>
            <ac:picMk id="5" creationId="{B35118D8-2B1D-9D79-76E7-E7439D0CC477}"/>
          </ac:picMkLst>
        </pc:picChg>
        <pc:picChg chg="add mod">
          <ac:chgData name="Cholette,Melissa (elle | she, her) (ECCC)" userId="d1681f99-91c6-42f6-9d8f-2571876a63e4" providerId="ADAL" clId="{9F0C1A30-A3B2-4172-952E-5D13564FAC7A}" dt="2025-11-07T13:45:15.336" v="127" actId="1076"/>
          <ac:picMkLst>
            <pc:docMk/>
            <pc:sldMk cId="3939939641" sldId="275"/>
            <ac:picMk id="7" creationId="{DB296B3F-BD64-4021-3F97-6024B7692334}"/>
          </ac:picMkLst>
        </pc:picChg>
        <pc:picChg chg="add mod">
          <ac:chgData name="Cholette,Melissa (elle | she, her) (ECCC)" userId="d1681f99-91c6-42f6-9d8f-2571876a63e4" providerId="ADAL" clId="{9F0C1A30-A3B2-4172-952E-5D13564FAC7A}" dt="2025-11-07T13:45:42.900" v="128" actId="14100"/>
          <ac:picMkLst>
            <pc:docMk/>
            <pc:sldMk cId="3939939641" sldId="275"/>
            <ac:picMk id="1030" creationId="{7908CC75-3AF0-C838-439C-DF032F807BB8}"/>
          </ac:picMkLst>
        </pc:picChg>
        <pc:picChg chg="add mod">
          <ac:chgData name="Cholette,Melissa (elle | she, her) (ECCC)" userId="d1681f99-91c6-42f6-9d8f-2571876a63e4" providerId="ADAL" clId="{9F0C1A30-A3B2-4172-952E-5D13564FAC7A}" dt="2025-11-07T13:46:38.076" v="131" actId="1076"/>
          <ac:picMkLst>
            <pc:docMk/>
            <pc:sldMk cId="3939939641" sldId="275"/>
            <ac:picMk id="1032" creationId="{10CD7883-7468-1A5F-0D3D-51CCF129AF89}"/>
          </ac:picMkLst>
        </pc:picChg>
      </pc:sldChg>
      <pc:sldChg chg="addSp delSp modSp new mod modShow">
        <pc:chgData name="Cholette,Melissa (elle | she, her) (ECCC)" userId="d1681f99-91c6-42f6-9d8f-2571876a63e4" providerId="ADAL" clId="{9F0C1A30-A3B2-4172-952E-5D13564FAC7A}" dt="2025-11-18T17:39:17.998" v="218" actId="729"/>
        <pc:sldMkLst>
          <pc:docMk/>
          <pc:sldMk cId="53937927" sldId="276"/>
        </pc:sldMkLst>
        <pc:picChg chg="add mod">
          <ac:chgData name="Cholette,Melissa (elle | she, her) (ECCC)" userId="d1681f99-91c6-42f6-9d8f-2571876a63e4" providerId="ADAL" clId="{9F0C1A30-A3B2-4172-952E-5D13564FAC7A}" dt="2025-11-07T13:47:26.323" v="136" actId="1076"/>
          <ac:picMkLst>
            <pc:docMk/>
            <pc:sldMk cId="53937927" sldId="276"/>
            <ac:picMk id="5" creationId="{EFFA91C1-0C67-040C-EDE5-64AE9965A502}"/>
          </ac:picMkLst>
        </pc:picChg>
        <pc:picChg chg="add mod">
          <ac:chgData name="Cholette,Melissa (elle | she, her) (ECCC)" userId="d1681f99-91c6-42f6-9d8f-2571876a63e4" providerId="ADAL" clId="{9F0C1A30-A3B2-4172-952E-5D13564FAC7A}" dt="2025-11-07T13:46:45.659" v="133" actId="1076"/>
          <ac:picMkLst>
            <pc:docMk/>
            <pc:sldMk cId="53937927" sldId="276"/>
            <ac:picMk id="2050" creationId="{6C144F86-D9D3-F892-5E6D-AB4BC6A1DA07}"/>
          </ac:picMkLst>
        </pc:picChg>
        <pc:picChg chg="add mod">
          <ac:chgData name="Cholette,Melissa (elle | she, her) (ECCC)" userId="d1681f99-91c6-42f6-9d8f-2571876a63e4" providerId="ADAL" clId="{9F0C1A30-A3B2-4172-952E-5D13564FAC7A}" dt="2025-11-07T13:46:44.706" v="132" actId="1076"/>
          <ac:picMkLst>
            <pc:docMk/>
            <pc:sldMk cId="53937927" sldId="276"/>
            <ac:picMk id="2054" creationId="{80B2F500-2923-3F34-2999-A967262B466D}"/>
          </ac:picMkLst>
        </pc:picChg>
        <pc:picChg chg="add mod">
          <ac:chgData name="Cholette,Melissa (elle | she, her) (ECCC)" userId="d1681f99-91c6-42f6-9d8f-2571876a63e4" providerId="ADAL" clId="{9F0C1A30-A3B2-4172-952E-5D13564FAC7A}" dt="2025-11-07T13:43:55.604" v="114" actId="1076"/>
          <ac:picMkLst>
            <pc:docMk/>
            <pc:sldMk cId="53937927" sldId="276"/>
            <ac:picMk id="2056" creationId="{AE8CF384-BFB2-E885-BB43-013F2B42DC61}"/>
          </ac:picMkLst>
        </pc:picChg>
      </pc:sldChg>
      <pc:sldChg chg="addSp delSp modSp new mod">
        <pc:chgData name="Cholette,Melissa (elle | she, her) (ECCC)" userId="d1681f99-91c6-42f6-9d8f-2571876a63e4" providerId="ADAL" clId="{9F0C1A30-A3B2-4172-952E-5D13564FAC7A}" dt="2025-11-18T17:39:06.932" v="217" actId="20577"/>
        <pc:sldMkLst>
          <pc:docMk/>
          <pc:sldMk cId="3859387270" sldId="277"/>
        </pc:sldMkLst>
        <pc:spChg chg="del">
          <ac:chgData name="Cholette,Melissa (elle | she, her) (ECCC)" userId="d1681f99-91c6-42f6-9d8f-2571876a63e4" providerId="ADAL" clId="{9F0C1A30-A3B2-4172-952E-5D13564FAC7A}" dt="2025-11-18T17:38:48.793" v="212"/>
          <ac:spMkLst>
            <pc:docMk/>
            <pc:sldMk cId="3859387270" sldId="277"/>
            <ac:spMk id="3" creationId="{E76A0BF6-59CA-06F0-E2CC-9AD0E1175562}"/>
          </ac:spMkLst>
        </pc:spChg>
        <pc:spChg chg="add mod">
          <ac:chgData name="Cholette,Melissa (elle | she, her) (ECCC)" userId="d1681f99-91c6-42f6-9d8f-2571876a63e4" providerId="ADAL" clId="{9F0C1A30-A3B2-4172-952E-5D13564FAC7A}" dt="2025-11-18T17:39:06.932" v="217" actId="20577"/>
          <ac:spMkLst>
            <pc:docMk/>
            <pc:sldMk cId="3859387270" sldId="277"/>
            <ac:spMk id="6" creationId="{1991D07F-C763-A96B-B47B-F6761FB65875}"/>
          </ac:spMkLst>
        </pc:spChg>
        <pc:graphicFrameChg chg="add del mod">
          <ac:chgData name="Cholette,Melissa (elle | she, her) (ECCC)" userId="d1681f99-91c6-42f6-9d8f-2571876a63e4" providerId="ADAL" clId="{9F0C1A30-A3B2-4172-952E-5D13564FAC7A}" dt="2025-11-18T17:38:53.813" v="213"/>
          <ac:graphicFrameMkLst>
            <pc:docMk/>
            <pc:sldMk cId="3859387270" sldId="277"/>
            <ac:graphicFrameMk id="4" creationId="{E06FC944-192A-7BB3-0035-2CFDBEF49FEE}"/>
          </ac:graphicFrameMkLst>
        </pc:graphicFrameChg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1508842232" sldId="278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1535838767" sldId="279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1764622585" sldId="280"/>
        </pc:sldMkLst>
      </pc:sldChg>
      <pc:sldChg chg="delSp add setBg delDesignElem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2003723758" sldId="281"/>
        </pc:sldMkLst>
        <pc:spChg chg="del">
          <ac:chgData name="Cholette,Melissa (elle | she, her) (ECCC)" userId="d1681f99-91c6-42f6-9d8f-2571876a63e4" providerId="ADAL" clId="{9F0C1A30-A3B2-4172-952E-5D13564FAC7A}" dt="2025-11-18T17:39:35.771" v="221"/>
          <ac:spMkLst>
            <pc:docMk/>
            <pc:sldMk cId="2003723758" sldId="281"/>
            <ac:spMk id="32" creationId="{0E91F5CA-B392-444C-88E3-BF5BAAEBDEB0}"/>
          </ac:spMkLst>
        </pc:spChg>
        <pc:spChg chg="del">
          <ac:chgData name="Cholette,Melissa (elle | she, her) (ECCC)" userId="d1681f99-91c6-42f6-9d8f-2571876a63e4" providerId="ADAL" clId="{9F0C1A30-A3B2-4172-952E-5D13564FAC7A}" dt="2025-11-18T17:39:35.771" v="221"/>
          <ac:spMkLst>
            <pc:docMk/>
            <pc:sldMk cId="2003723758" sldId="281"/>
            <ac:spMk id="34" creationId="{DFCA2118-59A2-4310-A4B2-F2CBA821E842}"/>
          </ac:spMkLst>
        </pc:spChg>
      </pc:sldChg>
      <pc:sldChg chg="delSp add setBg delDesignElem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141640219" sldId="282"/>
        </pc:sldMkLst>
        <pc:spChg chg="del">
          <ac:chgData name="Cholette,Melissa (elle | she, her) (ECCC)" userId="d1681f99-91c6-42f6-9d8f-2571876a63e4" providerId="ADAL" clId="{9F0C1A30-A3B2-4172-952E-5D13564FAC7A}" dt="2025-11-18T17:39:35.771" v="221"/>
          <ac:spMkLst>
            <pc:docMk/>
            <pc:sldMk cId="141640219" sldId="282"/>
            <ac:spMk id="11" creationId="{0E91F5CA-B392-444C-88E3-BF5BAAEBDEB0}"/>
          </ac:spMkLst>
        </pc:spChg>
        <pc:spChg chg="del">
          <ac:chgData name="Cholette,Melissa (elle | she, her) (ECCC)" userId="d1681f99-91c6-42f6-9d8f-2571876a63e4" providerId="ADAL" clId="{9F0C1A30-A3B2-4172-952E-5D13564FAC7A}" dt="2025-11-18T17:39:35.771" v="221"/>
          <ac:spMkLst>
            <pc:docMk/>
            <pc:sldMk cId="141640219" sldId="282"/>
            <ac:spMk id="13" creationId="{DFCA2118-59A2-4310-A4B2-F2CBA821E842}"/>
          </ac:spMkLst>
        </pc:spChg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1508167669" sldId="283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2436939230" sldId="284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3462550727" sldId="285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3579404399" sldId="286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2319196692" sldId="287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3816094102" sldId="288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2007157034" sldId="289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2369955051" sldId="290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1792916174" sldId="291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938758437" sldId="292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1273256174" sldId="293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3437771780" sldId="294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2980016752" sldId="295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882707810" sldId="296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330930824" sldId="297"/>
        </pc:sldMkLst>
      </pc:sldChg>
      <pc:sldChg chg="add">
        <pc:chgData name="Cholette,Melissa (elle | she, her) (ECCC)" userId="d1681f99-91c6-42f6-9d8f-2571876a63e4" providerId="ADAL" clId="{9F0C1A30-A3B2-4172-952E-5D13564FAC7A}" dt="2025-11-18T17:39:35.771" v="221"/>
        <pc:sldMkLst>
          <pc:docMk/>
          <pc:sldMk cId="785531202" sldId="298"/>
        </pc:sldMkLst>
      </pc:sldChg>
      <pc:sldChg chg="modSp new mod">
        <pc:chgData name="Cholette,Melissa (elle | she, her) (ECCC)" userId="d1681f99-91c6-42f6-9d8f-2571876a63e4" providerId="ADAL" clId="{9F0C1A30-A3B2-4172-952E-5D13564FAC7A}" dt="2025-11-18T17:39:48.730" v="257" actId="20577"/>
        <pc:sldMkLst>
          <pc:docMk/>
          <pc:sldMk cId="3658368984" sldId="299"/>
        </pc:sldMkLst>
        <pc:spChg chg="mod">
          <ac:chgData name="Cholette,Melissa (elle | she, her) (ECCC)" userId="d1681f99-91c6-42f6-9d8f-2571876a63e4" providerId="ADAL" clId="{9F0C1A30-A3B2-4172-952E-5D13564FAC7A}" dt="2025-11-18T17:39:48.730" v="257" actId="20577"/>
          <ac:spMkLst>
            <pc:docMk/>
            <pc:sldMk cId="3658368984" sldId="299"/>
            <ac:spMk id="2" creationId="{6ABA4F83-DE3C-0337-0ECE-CD76D5EFE1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FA7B7B-FB60-44AA-1CAB-B558FA9B0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45970C7-0B8E-3B8D-EA73-3FC8C6DD8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C40A45-CD1F-C06E-3789-6517AF78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B78-29E6-474C-865B-5DAC440BD5F1}" type="datetimeFigureOut">
              <a:rPr lang="fr-CA" smtClean="0"/>
              <a:t>2025-11-18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5CB3A3-A853-5DAE-5495-8ABCB6B03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C52412-A4C5-94FE-12B5-F963ED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FA4F-02FC-415C-A567-11ACB17DC7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1881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8FF9DE-22C5-185A-9178-BB25A84F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5B56C0-80D9-D58E-84E4-95640177F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3F76A2-AF00-6F98-3E99-DCBDA7F3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B78-29E6-474C-865B-5DAC440BD5F1}" type="datetimeFigureOut">
              <a:rPr lang="fr-CA" smtClean="0"/>
              <a:t>2025-11-18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8D6C89-3092-7853-4CB3-BFBA2B60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8FC052-F409-70B7-FE3A-6130098C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FA4F-02FC-415C-A567-11ACB17DC7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2335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592396-AD5D-67F3-595F-5DD95AF3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1746F2-C590-29BE-F1D1-F08992BD1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233EEA-754D-3FC0-1CD4-321E81DD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B78-29E6-474C-865B-5DAC440BD5F1}" type="datetimeFigureOut">
              <a:rPr lang="fr-CA" smtClean="0"/>
              <a:t>2025-11-18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775769-D196-6A18-84A2-3B8D40B5D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9705D9-02CF-B248-3B5B-D2719228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FA4F-02FC-415C-A567-11ACB17DC7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36641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880C45-5A93-CDC7-CB27-6664B2D3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8344D8-20E8-47ED-3639-982907BF7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6574881-ABF4-AB74-65D4-CB2E68551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12D3D0-1EFD-92CB-AD85-2DEA2A1FB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B78-29E6-474C-865B-5DAC440BD5F1}" type="datetimeFigureOut">
              <a:rPr lang="fr-CA" smtClean="0"/>
              <a:t>2025-11-18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716481-40F9-C691-5619-098E3E5C9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026FB4-270B-BF38-1222-8AB65836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FA4F-02FC-415C-A567-11ACB17DC7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1409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3247E6-B00B-0478-08BC-9CD1347B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79470D-D349-0DAF-7B3B-0DCA35922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F528FE-749C-A4E2-01A6-A4B58EA02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CDB533-7FE5-9D0C-4C94-E3C51DDF7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59718C6-8DFF-374D-2EBE-B00330970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C965229-FD9C-EF81-F4AF-17D7BC950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B78-29E6-474C-865B-5DAC440BD5F1}" type="datetimeFigureOut">
              <a:rPr lang="fr-CA" smtClean="0"/>
              <a:t>2025-11-18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48547CE-4769-2200-9975-C597D114C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F3B2B9F-0E25-8230-4411-37CF895C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FA4F-02FC-415C-A567-11ACB17DC7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8097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809F07-6E20-4D44-19A2-837600D3A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6CB134B-C727-908C-9B49-2EC0BAA97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B78-29E6-474C-865B-5DAC440BD5F1}" type="datetimeFigureOut">
              <a:rPr lang="fr-CA" smtClean="0"/>
              <a:t>2025-11-18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2D22E1-27DB-47E1-A45F-876CA7EA1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3E31CB-64C4-430A-D612-9657C739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FA4F-02FC-415C-A567-11ACB17DC7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12906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1003B3C-E854-4374-15C7-490FBBBE2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B78-29E6-474C-865B-5DAC440BD5F1}" type="datetimeFigureOut">
              <a:rPr lang="fr-CA" smtClean="0"/>
              <a:t>2025-11-18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36488CD-9009-BFA9-EBAD-B39F8D662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F35567-E481-2CE6-D04D-8F4F0061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FA4F-02FC-415C-A567-11ACB17DC7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89913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E96329-5F05-51A5-E5F1-B3703F3B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3A248F-6EE0-068A-3715-E3AED1672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D8DC57-C279-AB31-4D09-371E0AA16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02D665-4C9A-FA4E-9274-C0E715C0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B78-29E6-474C-865B-5DAC440BD5F1}" type="datetimeFigureOut">
              <a:rPr lang="fr-CA" smtClean="0"/>
              <a:t>2025-11-18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157076-8460-FA13-75DD-840A07B6A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323A45-EE94-38DD-8BD4-C80993C9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FA4F-02FC-415C-A567-11ACB17DC7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18225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08B603-6D81-8CC7-D56D-1DEFD23E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06FF5B5-9739-C127-B606-1DA8C55A4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60CCD2-DF30-2289-56D5-C7FA962B4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C58CF4-5F60-5F6E-6BE9-49A147069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B78-29E6-474C-865B-5DAC440BD5F1}" type="datetimeFigureOut">
              <a:rPr lang="fr-CA" smtClean="0"/>
              <a:t>2025-11-18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50567A-CFFD-F06E-9E6D-25637E205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2449C7-9229-81CD-013C-026C12550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FA4F-02FC-415C-A567-11ACB17DC7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31150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887D40-8736-95FB-0A4E-AF602B59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BB1224-8183-5FF5-DF60-477078708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77886C-E4F5-4CD2-4455-75DF6B92F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B78-29E6-474C-865B-5DAC440BD5F1}" type="datetimeFigureOut">
              <a:rPr lang="fr-CA" smtClean="0"/>
              <a:t>2025-11-18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2FE26D-17CD-CD4C-C49D-DD8A6F11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40CC45-C634-BC00-3416-DEB5C92C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FA4F-02FC-415C-A567-11ACB17DC7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04022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13A97E2-8637-F37D-6495-3C08E87C9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842898-A8CE-024F-D4AE-976AA191D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B1DD74-5360-213F-7B84-ECB6986E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B78-29E6-474C-865B-5DAC440BD5F1}" type="datetimeFigureOut">
              <a:rPr lang="fr-CA" smtClean="0"/>
              <a:t>2025-11-18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D6FCF2-099A-C175-A830-DC6599E1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19E6E8-06C5-598B-6FAF-51B87981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FA4F-02FC-415C-A567-11ACB17DC7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1790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08CE36-5851-E8FF-352D-80A36EB1B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AC2829-4EB6-A963-78CE-8499A7105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8BDD40-C031-DD17-96B3-E9A49708E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83B78-29E6-474C-865B-5DAC440BD5F1}" type="datetimeFigureOut">
              <a:rPr lang="fr-CA" smtClean="0"/>
              <a:t>2025-11-18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C9ACE3-4E10-B439-E5AB-DB8BA31F3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765BDD-34F5-C2E3-9123-D460477DA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DFA4F-02FC-415C-A567-11ACB17DC7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8650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science.gc.ca/MIG/pa-test/-/issues/6" TargetMode="External"/><Relationship Id="rId2" Type="http://schemas.openxmlformats.org/officeDocument/2006/relationships/hyperlink" Target="https://gitlab.science.gc.ca/MIG/pa-test/-/issues/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lab.science.gc.ca/MIG/pa-test/-/issues/4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science.gc.ca/MIG/pa-test/-/issues/5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science.gc.ca/MIG/pa-test/-/issues/6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science.gc.ca/MIG/pa-test/-/issues/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hpfx.science.gc.ca/~dpr001/HRDPS_TDIAG_profiles.html" TargetMode="External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c-dx.science.gc.ca/~dpr001/ARCAD/HRDPS/nat/2022070100.2022083112_530a14_G123af0p0_530a14_PA3aAGG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oc-dx.science.gc.ca/~frc001/ARCAD/HRDPS/nat/2022070112.2022092912_530a15_Mo6CoA_530a15_Mo6.html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hpfx.science.gc.ca/~dpr001/HRDPS_TDIAG_profiles.html" TargetMode="External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c-dx.science.gc.ca/~dpr001/ARCAD/HRDPS/nat/2022070100.2022083112_530a14_G123af0p0_530a14_PA3aAGG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oc-dx.science.gc.ca/~frc001/ARCAD/HRDPS/nat/2022070112.2022092912_530a15_Mo6CoA_530a15_Mo6.html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.cmc.ec.gc.ca/wiki/PPS/HRDPS-PA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C4F282-A817-A4C1-6A2E-657865478E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RPN-A changes to P3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F21E547-1954-D188-0856-2B0D832F33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P3-v5.3.6</a:t>
            </a:r>
          </a:p>
          <a:p>
            <a:r>
              <a:rPr lang="fr-CA" dirty="0"/>
              <a:t>To </a:t>
            </a:r>
            <a:r>
              <a:rPr lang="fr-CA" dirty="0" err="1"/>
              <a:t>be</a:t>
            </a:r>
            <a:r>
              <a:rPr lang="fr-CA" dirty="0"/>
              <a:t> </a:t>
            </a:r>
            <a:r>
              <a:rPr lang="fr-CA" dirty="0" err="1"/>
              <a:t>implemented</a:t>
            </a:r>
            <a:r>
              <a:rPr lang="fr-CA" dirty="0"/>
              <a:t> in 5.5.0-rc8_mods-RPNA</a:t>
            </a:r>
          </a:p>
        </p:txBody>
      </p:sp>
    </p:spTree>
    <p:extLst>
      <p:ext uri="{BB962C8B-B14F-4D97-AF65-F5344CB8AC3E}">
        <p14:creationId xmlns:p14="http://schemas.microsoft.com/office/powerpoint/2010/main" val="100871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7B1EBE-E8BE-F2BF-CA56-4D7CA1FD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17" y="0"/>
            <a:ext cx="10515600" cy="1325563"/>
          </a:xfrm>
        </p:spPr>
        <p:txBody>
          <a:bodyPr/>
          <a:lstStyle/>
          <a:p>
            <a:r>
              <a:rPr lang="fr-CA" dirty="0"/>
              <a:t>List of changes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71445F5E-BAE1-F9AC-BBF4-51D6E62C4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012947"/>
              </p:ext>
            </p:extLst>
          </p:nvPr>
        </p:nvGraphicFramePr>
        <p:xfrm>
          <a:off x="242694" y="1194997"/>
          <a:ext cx="11675661" cy="5349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8768">
                  <a:extLst>
                    <a:ext uri="{9D8B030D-6E8A-4147-A177-3AD203B41FA5}">
                      <a16:colId xmlns:a16="http://schemas.microsoft.com/office/drawing/2014/main" val="1445844786"/>
                    </a:ext>
                  </a:extLst>
                </a:gridCol>
                <a:gridCol w="2319130">
                  <a:extLst>
                    <a:ext uri="{9D8B030D-6E8A-4147-A177-3AD203B41FA5}">
                      <a16:colId xmlns:a16="http://schemas.microsoft.com/office/drawing/2014/main" val="4263044312"/>
                    </a:ext>
                  </a:extLst>
                </a:gridCol>
                <a:gridCol w="2217763">
                  <a:extLst>
                    <a:ext uri="{9D8B030D-6E8A-4147-A177-3AD203B41FA5}">
                      <a16:colId xmlns:a16="http://schemas.microsoft.com/office/drawing/2014/main" val="529417015"/>
                    </a:ext>
                  </a:extLst>
                </a:gridCol>
              </a:tblGrid>
              <a:tr h="555789">
                <a:tc>
                  <a:txBody>
                    <a:bodyPr/>
                    <a:lstStyle/>
                    <a:p>
                      <a:r>
                        <a:rPr lang="fr-CA" dirty="0"/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GEM </a:t>
                      </a:r>
                      <a:r>
                        <a:rPr lang="fr-CA" dirty="0" err="1"/>
                        <a:t>only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Impacts of HRDPS </a:t>
                      </a:r>
                      <a:r>
                        <a:rPr lang="fr-CA" dirty="0" err="1"/>
                        <a:t>series</a:t>
                      </a:r>
                      <a:r>
                        <a:rPr lang="fr-CA" dirty="0"/>
                        <a:t> of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590993"/>
                  </a:ext>
                </a:extLst>
              </a:tr>
              <a:tr h="317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1. Switch to use a </a:t>
                      </a:r>
                      <a:r>
                        <a:rPr lang="fr-CA" dirty="0" err="1"/>
                        <a:t>different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autoAccr_param</a:t>
                      </a:r>
                      <a:r>
                        <a:rPr lang="fr-CA" dirty="0"/>
                        <a:t> (i.e., </a:t>
                      </a:r>
                      <a:r>
                        <a:rPr lang="fr-CA" dirty="0" err="1"/>
                        <a:t>iparam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Not neutral but </a:t>
                      </a:r>
                      <a:r>
                        <a:rPr lang="fr-CA" dirty="0" err="1"/>
                        <a:t>improves</a:t>
                      </a:r>
                      <a:r>
                        <a:rPr lang="fr-CA" dirty="0"/>
                        <a:t>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553148"/>
                  </a:ext>
                </a:extLst>
              </a:tr>
              <a:tr h="5557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2. Switch to use a </a:t>
                      </a:r>
                      <a:r>
                        <a:rPr lang="fr-CA" dirty="0" err="1"/>
                        <a:t>different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ice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supersaturation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threshold</a:t>
                      </a:r>
                      <a:r>
                        <a:rPr lang="fr-CA" dirty="0"/>
                        <a:t> for </a:t>
                      </a:r>
                      <a:r>
                        <a:rPr lang="fr-CA" dirty="0" err="1"/>
                        <a:t>ice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nucelation</a:t>
                      </a:r>
                      <a:r>
                        <a:rPr lang="fr-CA" dirty="0"/>
                        <a:t> (0.15 </a:t>
                      </a:r>
                      <a:r>
                        <a:rPr lang="fr-CA" dirty="0" err="1"/>
                        <a:t>instead</a:t>
                      </a:r>
                      <a:r>
                        <a:rPr lang="fr-CA" dirty="0"/>
                        <a:t> of 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Yes (not </a:t>
                      </a:r>
                      <a:r>
                        <a:rPr lang="fr-CA" dirty="0" err="1"/>
                        <a:t>done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with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testing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Not neutral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050106"/>
                  </a:ext>
                </a:extLst>
              </a:tr>
              <a:tr h="317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3. Changes to </a:t>
                      </a:r>
                      <a:r>
                        <a:rPr lang="fr-CA" dirty="0" err="1"/>
                        <a:t>rc_eff</a:t>
                      </a:r>
                      <a:r>
                        <a:rPr lang="fr-CA" dirty="0"/>
                        <a:t> = 0 </a:t>
                      </a:r>
                      <a:r>
                        <a:rPr lang="fr-CA" dirty="0" err="1"/>
                        <a:t>when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there</a:t>
                      </a:r>
                      <a:r>
                        <a:rPr lang="fr-CA" dirty="0"/>
                        <a:t> no </a:t>
                      </a:r>
                      <a:r>
                        <a:rPr lang="fr-CA" dirty="0" err="1"/>
                        <a:t>condensate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577397"/>
                  </a:ext>
                </a:extLst>
              </a:tr>
              <a:tr h="493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4. Use of </a:t>
                      </a:r>
                      <a:r>
                        <a:rPr lang="fr-CA" dirty="0" err="1"/>
                        <a:t>qevp_satadj</a:t>
                      </a:r>
                      <a:r>
                        <a:rPr lang="fr-CA" dirty="0"/>
                        <a:t> to </a:t>
                      </a:r>
                      <a:r>
                        <a:rPr lang="fr-CA" dirty="0" err="1"/>
                        <a:t>add</a:t>
                      </a:r>
                      <a:r>
                        <a:rPr lang="fr-CA" dirty="0"/>
                        <a:t> the </a:t>
                      </a:r>
                      <a:r>
                        <a:rPr lang="fr-CA" dirty="0" err="1"/>
                        <a:t>adjustment</a:t>
                      </a:r>
                      <a:r>
                        <a:rPr lang="fr-CA" dirty="0"/>
                        <a:t> to the 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07419"/>
                  </a:ext>
                </a:extLst>
              </a:tr>
              <a:tr h="317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5. Changes to </a:t>
                      </a:r>
                      <a:r>
                        <a:rPr lang="fr-CA" dirty="0" err="1"/>
                        <a:t>compute_scpf</a:t>
                      </a:r>
                      <a:r>
                        <a:rPr lang="fr-CA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300579"/>
                  </a:ext>
                </a:extLst>
              </a:tr>
              <a:tr h="793984">
                <a:tc>
                  <a:txBody>
                    <a:bodyPr/>
                    <a:lstStyle/>
                    <a:p>
                      <a:pPr marL="36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a. Correction of </a:t>
                      </a:r>
                      <a:r>
                        <a:rPr lang="fr-CA" dirty="0" err="1"/>
                        <a:t>inconsistency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between</a:t>
                      </a:r>
                      <a:r>
                        <a:rPr lang="fr-CA" dirty="0"/>
                        <a:t> the use of </a:t>
                      </a:r>
                      <a:r>
                        <a:rPr lang="fr-CA" dirty="0" err="1"/>
                        <a:t>qv_old</a:t>
                      </a:r>
                      <a:r>
                        <a:rPr lang="fr-CA" dirty="0"/>
                        <a:t> and </a:t>
                      </a:r>
                      <a:r>
                        <a:rPr lang="fr-CA" dirty="0" err="1"/>
                        <a:t>qv</a:t>
                      </a:r>
                      <a:r>
                        <a:rPr lang="fr-CA" dirty="0"/>
                        <a:t> for the call to </a:t>
                      </a:r>
                      <a:r>
                        <a:rPr lang="fr-CA" dirty="0" err="1"/>
                        <a:t>compute_scpf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741569"/>
                  </a:ext>
                </a:extLst>
              </a:tr>
              <a:tr h="705005">
                <a:tc>
                  <a:txBody>
                    <a:bodyPr/>
                    <a:lstStyle/>
                    <a:p>
                      <a:pPr marL="36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b. This </a:t>
                      </a:r>
                      <a:r>
                        <a:rPr lang="fr-CA" dirty="0" err="1"/>
                        <a:t>remove</a:t>
                      </a:r>
                      <a:r>
                        <a:rPr lang="fr-CA" dirty="0"/>
                        <a:t> the </a:t>
                      </a:r>
                      <a:r>
                        <a:rPr lang="fr-CA" dirty="0" err="1"/>
                        <a:t>need</a:t>
                      </a:r>
                      <a:r>
                        <a:rPr lang="fr-CA" dirty="0"/>
                        <a:t> to </a:t>
                      </a:r>
                      <a:r>
                        <a:rPr lang="fr-CA" dirty="0" err="1"/>
                        <a:t>some</a:t>
                      </a:r>
                      <a:r>
                        <a:rPr lang="fr-CA" dirty="0"/>
                        <a:t> calls to </a:t>
                      </a:r>
                      <a:r>
                        <a:rPr lang="fr-CA" dirty="0" err="1"/>
                        <a:t>compute_SCPF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763038"/>
                  </a:ext>
                </a:extLst>
              </a:tr>
              <a:tr h="705005">
                <a:tc>
                  <a:txBody>
                    <a:bodyPr/>
                    <a:lstStyle/>
                    <a:p>
                      <a:pPr marL="36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c. </a:t>
                      </a:r>
                      <a:r>
                        <a:rPr lang="fr-CA" dirty="0" err="1"/>
                        <a:t>Coherence</a:t>
                      </a:r>
                      <a:r>
                        <a:rPr lang="fr-CA" dirty="0"/>
                        <a:t> in </a:t>
                      </a:r>
                      <a:r>
                        <a:rPr lang="fr-CA" dirty="0" err="1"/>
                        <a:t>using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qc</a:t>
                      </a:r>
                      <a:r>
                        <a:rPr lang="fr-CA" dirty="0"/>
                        <a:t>*</a:t>
                      </a:r>
                      <a:r>
                        <a:rPr lang="fr-CA" dirty="0" err="1"/>
                        <a:t>iSCF</a:t>
                      </a:r>
                      <a:r>
                        <a:rPr lang="fr-CA" dirty="0"/>
                        <a:t> &gt;=</a:t>
                      </a:r>
                      <a:r>
                        <a:rPr lang="fr-CA" dirty="0" err="1"/>
                        <a:t>qsmall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instead</a:t>
                      </a:r>
                      <a:r>
                        <a:rPr lang="fr-CA" dirty="0"/>
                        <a:t> of </a:t>
                      </a:r>
                      <a:r>
                        <a:rPr lang="fr-CA" dirty="0" err="1"/>
                        <a:t>qc</a:t>
                      </a:r>
                      <a:r>
                        <a:rPr lang="fr-CA" dirty="0"/>
                        <a:t>&gt;=</a:t>
                      </a:r>
                      <a:r>
                        <a:rPr lang="fr-CA" dirty="0" err="1"/>
                        <a:t>qsmall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813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41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1D741E-348D-36D1-B3A6-7E18D4118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991D07F-C763-A96B-B47B-F6761FB65875}"/>
              </a:ext>
            </a:extLst>
          </p:cNvPr>
          <p:cNvSpPr txBox="1"/>
          <p:nvPr/>
        </p:nvSpPr>
        <p:spPr>
          <a:xfrm>
            <a:off x="1317811" y="2106119"/>
            <a:ext cx="8582585" cy="360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Links to </a:t>
            </a:r>
            <a:r>
              <a:rPr lang="fr-CA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results</a:t>
            </a: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</a:t>
            </a:r>
            <a:b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Change #1 : </a:t>
            </a:r>
            <a:r>
              <a:rPr lang="fr-CA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Tests des options de l'</a:t>
            </a:r>
            <a:r>
              <a:rPr lang="fr-CA" sz="1800" u="sng" dirty="0" err="1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autoconversion</a:t>
            </a:r>
            <a:r>
              <a:rPr lang="fr-CA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 dans P3 afin de réduire la </a:t>
            </a:r>
            <a:r>
              <a:rPr lang="fr-CA" sz="1800" u="sng" dirty="0" err="1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sur-estimation</a:t>
            </a:r>
            <a:r>
              <a:rPr lang="fr-CA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 de </a:t>
            </a:r>
            <a:r>
              <a:rPr lang="fr-CA" sz="1800" u="sng" dirty="0" err="1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précip</a:t>
            </a:r>
            <a:r>
              <a:rPr lang="fr-CA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 en été (#5) · Issues · MIG / gem-</a:t>
            </a:r>
            <a:r>
              <a:rPr lang="fr-CA" sz="1800" u="sng" dirty="0" err="1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pa</a:t>
            </a:r>
            <a:r>
              <a:rPr lang="fr-CA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-test · GitLab</a:t>
            </a:r>
            <a:endParaRPr lang="fr-CA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Change #2 combined with others: 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Séries</a:t>
            </a:r>
            <a:r>
              <a:rPr lang="en-US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 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combinant</a:t>
            </a:r>
            <a:r>
              <a:rPr lang="en-US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 P3_supid=0.15, 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pbl_supid</a:t>
            </a:r>
            <a:r>
              <a:rPr lang="en-US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=p3_supid=0.15 et </a:t>
            </a:r>
            <a:r>
              <a:rPr lang="en-US" sz="1800" u="sng" dirty="0" err="1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pbl_dxref</a:t>
            </a:r>
            <a:r>
              <a:rPr lang="en-US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=50m(AP057-58) (#6) · Issues · MIG / gem-pa-test · GitLab</a:t>
            </a:r>
            <a:endParaRPr lang="en-US" sz="1800" u="sng" dirty="0">
              <a:solidFill>
                <a:srgbClr val="0563C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fr-CA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Change #5 : </a:t>
            </a:r>
            <a:r>
              <a:rPr lang="fr-CA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P3: correction bug </a:t>
            </a:r>
            <a:r>
              <a:rPr lang="fr-CA" sz="1800" u="sng" dirty="0" err="1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qv_old</a:t>
            </a:r>
            <a:r>
              <a:rPr lang="fr-CA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 et </a:t>
            </a:r>
            <a:r>
              <a:rPr lang="fr-CA" sz="1800" u="sng" dirty="0" err="1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T_old</a:t>
            </a:r>
            <a:r>
              <a:rPr lang="fr-CA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 dans la microphysique (</a:t>
            </a:r>
            <a:r>
              <a:rPr lang="fr-CA" sz="1800" u="sng" dirty="0" err="1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codeA</a:t>
            </a:r>
            <a:r>
              <a:rPr lang="fr-CA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) (#4) · Issues · MIG / gem-</a:t>
            </a:r>
            <a:r>
              <a:rPr lang="fr-CA" sz="1800" u="sng" dirty="0" err="1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pa</a:t>
            </a:r>
            <a:r>
              <a:rPr lang="fr-CA" sz="1800" u="sng" dirty="0">
                <a:solidFill>
                  <a:srgbClr val="0563C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-test · GitLab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9387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52F78F-F2D3-5275-A31C-2EA94FAA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1. </a:t>
            </a:r>
            <a:r>
              <a:rPr lang="fr-CA" dirty="0" err="1"/>
              <a:t>autoAcc_param</a:t>
            </a:r>
            <a:r>
              <a:rPr lang="fr-CA" dirty="0"/>
              <a:t> = 1 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7EE7D509-2467-31B7-8717-E446B5509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277127"/>
              </p:ext>
            </p:extLst>
          </p:nvPr>
        </p:nvGraphicFramePr>
        <p:xfrm>
          <a:off x="242694" y="1194997"/>
          <a:ext cx="11675661" cy="5349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8768">
                  <a:extLst>
                    <a:ext uri="{9D8B030D-6E8A-4147-A177-3AD203B41FA5}">
                      <a16:colId xmlns:a16="http://schemas.microsoft.com/office/drawing/2014/main" val="1445844786"/>
                    </a:ext>
                  </a:extLst>
                </a:gridCol>
                <a:gridCol w="2319130">
                  <a:extLst>
                    <a:ext uri="{9D8B030D-6E8A-4147-A177-3AD203B41FA5}">
                      <a16:colId xmlns:a16="http://schemas.microsoft.com/office/drawing/2014/main" val="4263044312"/>
                    </a:ext>
                  </a:extLst>
                </a:gridCol>
                <a:gridCol w="2217763">
                  <a:extLst>
                    <a:ext uri="{9D8B030D-6E8A-4147-A177-3AD203B41FA5}">
                      <a16:colId xmlns:a16="http://schemas.microsoft.com/office/drawing/2014/main" val="529417015"/>
                    </a:ext>
                  </a:extLst>
                </a:gridCol>
              </a:tblGrid>
              <a:tr h="555789">
                <a:tc>
                  <a:txBody>
                    <a:bodyPr/>
                    <a:lstStyle/>
                    <a:p>
                      <a:r>
                        <a:rPr lang="fr-CA" dirty="0"/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GEM </a:t>
                      </a:r>
                      <a:r>
                        <a:rPr lang="fr-CA" dirty="0" err="1"/>
                        <a:t>only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Impacts of HRDPS </a:t>
                      </a:r>
                      <a:r>
                        <a:rPr lang="fr-CA" dirty="0" err="1"/>
                        <a:t>series</a:t>
                      </a:r>
                      <a:r>
                        <a:rPr lang="fr-CA" dirty="0"/>
                        <a:t> of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590993"/>
                  </a:ext>
                </a:extLst>
              </a:tr>
              <a:tr h="317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1. Switch to use a </a:t>
                      </a:r>
                      <a:r>
                        <a:rPr lang="fr-CA" dirty="0" err="1"/>
                        <a:t>different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autoAccr_param</a:t>
                      </a:r>
                      <a:r>
                        <a:rPr lang="fr-CA" dirty="0"/>
                        <a:t> (i.e., </a:t>
                      </a:r>
                      <a:r>
                        <a:rPr lang="fr-CA" dirty="0" err="1"/>
                        <a:t>iparam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Not neutral but </a:t>
                      </a:r>
                      <a:r>
                        <a:rPr lang="fr-CA" dirty="0" err="1"/>
                        <a:t>improves</a:t>
                      </a:r>
                      <a:r>
                        <a:rPr lang="fr-CA" dirty="0"/>
                        <a:t>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553148"/>
                  </a:ext>
                </a:extLst>
              </a:tr>
              <a:tr h="5557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2. Switch to use a </a:t>
                      </a:r>
                      <a:r>
                        <a:rPr lang="fr-CA" dirty="0" err="1"/>
                        <a:t>different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ice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supersaturation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threshold</a:t>
                      </a:r>
                      <a:r>
                        <a:rPr lang="fr-CA" dirty="0"/>
                        <a:t> for </a:t>
                      </a:r>
                      <a:r>
                        <a:rPr lang="fr-CA" dirty="0" err="1"/>
                        <a:t>ice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nucelation</a:t>
                      </a:r>
                      <a:r>
                        <a:rPr lang="fr-CA" dirty="0"/>
                        <a:t> (0.15 </a:t>
                      </a:r>
                      <a:r>
                        <a:rPr lang="fr-CA" dirty="0" err="1"/>
                        <a:t>instead</a:t>
                      </a:r>
                      <a:r>
                        <a:rPr lang="fr-CA" dirty="0"/>
                        <a:t> of 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Yes (not </a:t>
                      </a:r>
                      <a:r>
                        <a:rPr lang="fr-CA" dirty="0" err="1"/>
                        <a:t>done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with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testing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Not neutral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050106"/>
                  </a:ext>
                </a:extLst>
              </a:tr>
              <a:tr h="317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3. Changes to </a:t>
                      </a:r>
                      <a:r>
                        <a:rPr lang="fr-CA" dirty="0" err="1"/>
                        <a:t>rc_eff</a:t>
                      </a:r>
                      <a:r>
                        <a:rPr lang="fr-CA" dirty="0"/>
                        <a:t> = 0 </a:t>
                      </a:r>
                      <a:r>
                        <a:rPr lang="fr-CA" dirty="0" err="1"/>
                        <a:t>when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there</a:t>
                      </a:r>
                      <a:r>
                        <a:rPr lang="fr-CA" dirty="0"/>
                        <a:t> no </a:t>
                      </a:r>
                      <a:r>
                        <a:rPr lang="fr-CA" dirty="0" err="1"/>
                        <a:t>condensate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577397"/>
                  </a:ext>
                </a:extLst>
              </a:tr>
              <a:tr h="493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4. Use of </a:t>
                      </a:r>
                      <a:r>
                        <a:rPr lang="fr-CA" dirty="0" err="1"/>
                        <a:t>qevp_satadj</a:t>
                      </a:r>
                      <a:r>
                        <a:rPr lang="fr-CA" dirty="0"/>
                        <a:t> to </a:t>
                      </a:r>
                      <a:r>
                        <a:rPr lang="fr-CA" dirty="0" err="1"/>
                        <a:t>add</a:t>
                      </a:r>
                      <a:r>
                        <a:rPr lang="fr-CA" dirty="0"/>
                        <a:t> the </a:t>
                      </a:r>
                      <a:r>
                        <a:rPr lang="fr-CA" dirty="0" err="1"/>
                        <a:t>adjustment</a:t>
                      </a:r>
                      <a:r>
                        <a:rPr lang="fr-CA" dirty="0"/>
                        <a:t> to the 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07419"/>
                  </a:ext>
                </a:extLst>
              </a:tr>
              <a:tr h="317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5. Changes to </a:t>
                      </a:r>
                      <a:r>
                        <a:rPr lang="fr-CA" dirty="0" err="1"/>
                        <a:t>compute_scpf</a:t>
                      </a:r>
                      <a:r>
                        <a:rPr lang="fr-CA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300579"/>
                  </a:ext>
                </a:extLst>
              </a:tr>
              <a:tr h="793984">
                <a:tc>
                  <a:txBody>
                    <a:bodyPr/>
                    <a:lstStyle/>
                    <a:p>
                      <a:pPr marL="36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a. Correction of </a:t>
                      </a:r>
                      <a:r>
                        <a:rPr lang="fr-CA" dirty="0" err="1"/>
                        <a:t>inconsistency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between</a:t>
                      </a:r>
                      <a:r>
                        <a:rPr lang="fr-CA" dirty="0"/>
                        <a:t> the use of </a:t>
                      </a:r>
                      <a:r>
                        <a:rPr lang="fr-CA" dirty="0" err="1"/>
                        <a:t>qv_old</a:t>
                      </a:r>
                      <a:r>
                        <a:rPr lang="fr-CA" dirty="0"/>
                        <a:t> and </a:t>
                      </a:r>
                      <a:r>
                        <a:rPr lang="fr-CA" dirty="0" err="1"/>
                        <a:t>qv</a:t>
                      </a:r>
                      <a:r>
                        <a:rPr lang="fr-CA" dirty="0"/>
                        <a:t> for the call to </a:t>
                      </a:r>
                      <a:r>
                        <a:rPr lang="fr-CA" dirty="0" err="1"/>
                        <a:t>compute_scpf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741569"/>
                  </a:ext>
                </a:extLst>
              </a:tr>
              <a:tr h="705005">
                <a:tc>
                  <a:txBody>
                    <a:bodyPr/>
                    <a:lstStyle/>
                    <a:p>
                      <a:pPr marL="36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b. This </a:t>
                      </a:r>
                      <a:r>
                        <a:rPr lang="fr-CA" dirty="0" err="1"/>
                        <a:t>remove</a:t>
                      </a:r>
                      <a:r>
                        <a:rPr lang="fr-CA" dirty="0"/>
                        <a:t> the </a:t>
                      </a:r>
                      <a:r>
                        <a:rPr lang="fr-CA" dirty="0" err="1"/>
                        <a:t>need</a:t>
                      </a:r>
                      <a:r>
                        <a:rPr lang="fr-CA" dirty="0"/>
                        <a:t> to </a:t>
                      </a:r>
                      <a:r>
                        <a:rPr lang="fr-CA" dirty="0" err="1"/>
                        <a:t>some</a:t>
                      </a:r>
                      <a:r>
                        <a:rPr lang="fr-CA" dirty="0"/>
                        <a:t> calls to </a:t>
                      </a:r>
                      <a:r>
                        <a:rPr lang="fr-CA" dirty="0" err="1"/>
                        <a:t>compute_SCPF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763038"/>
                  </a:ext>
                </a:extLst>
              </a:tr>
              <a:tr h="705005">
                <a:tc>
                  <a:txBody>
                    <a:bodyPr/>
                    <a:lstStyle/>
                    <a:p>
                      <a:pPr marL="36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c. </a:t>
                      </a:r>
                      <a:r>
                        <a:rPr lang="fr-CA" dirty="0" err="1"/>
                        <a:t>Coherence</a:t>
                      </a:r>
                      <a:r>
                        <a:rPr lang="fr-CA" dirty="0"/>
                        <a:t> in </a:t>
                      </a:r>
                      <a:r>
                        <a:rPr lang="fr-CA" dirty="0" err="1"/>
                        <a:t>using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qc</a:t>
                      </a:r>
                      <a:r>
                        <a:rPr lang="fr-CA" dirty="0"/>
                        <a:t>*</a:t>
                      </a:r>
                      <a:r>
                        <a:rPr lang="fr-CA" dirty="0" err="1"/>
                        <a:t>iSCF</a:t>
                      </a:r>
                      <a:r>
                        <a:rPr lang="fr-CA" dirty="0"/>
                        <a:t> &gt;=</a:t>
                      </a:r>
                      <a:r>
                        <a:rPr lang="fr-CA" dirty="0" err="1"/>
                        <a:t>qsmall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instead</a:t>
                      </a:r>
                      <a:r>
                        <a:rPr lang="fr-CA" dirty="0"/>
                        <a:t> of </a:t>
                      </a:r>
                      <a:r>
                        <a:rPr lang="fr-CA" dirty="0" err="1"/>
                        <a:t>qc</a:t>
                      </a:r>
                      <a:r>
                        <a:rPr lang="fr-CA" dirty="0"/>
                        <a:t>&gt;=</a:t>
                      </a:r>
                      <a:r>
                        <a:rPr lang="fr-CA" dirty="0" err="1"/>
                        <a:t>qsmall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81339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8C2EB10-C8E2-D6DB-6821-ADA0F57B9501}"/>
              </a:ext>
            </a:extLst>
          </p:cNvPr>
          <p:cNvSpPr/>
          <p:nvPr/>
        </p:nvSpPr>
        <p:spPr>
          <a:xfrm>
            <a:off x="251791" y="1855305"/>
            <a:ext cx="11661913" cy="5963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3CB3AF-60BA-40C1-4F4A-0C1E8B2640DE}"/>
              </a:ext>
            </a:extLst>
          </p:cNvPr>
          <p:cNvSpPr txBox="1"/>
          <p:nvPr/>
        </p:nvSpPr>
        <p:spPr>
          <a:xfrm>
            <a:off x="6096000" y="1578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>
                <a:hlinkClick r:id="rId2"/>
              </a:rPr>
              <a:t>Tests des options de l'</a:t>
            </a:r>
            <a:r>
              <a:rPr lang="fr-CA" dirty="0" err="1">
                <a:hlinkClick r:id="rId2"/>
              </a:rPr>
              <a:t>autoconversion</a:t>
            </a:r>
            <a:r>
              <a:rPr lang="fr-CA" dirty="0">
                <a:hlinkClick r:id="rId2"/>
              </a:rPr>
              <a:t> dans P3 afin de réduire la </a:t>
            </a:r>
            <a:r>
              <a:rPr lang="fr-CA" dirty="0" err="1">
                <a:hlinkClick r:id="rId2"/>
              </a:rPr>
              <a:t>sur-estimation</a:t>
            </a:r>
            <a:r>
              <a:rPr lang="fr-CA" dirty="0">
                <a:hlinkClick r:id="rId2"/>
              </a:rPr>
              <a:t> de </a:t>
            </a:r>
            <a:r>
              <a:rPr lang="fr-CA" dirty="0" err="1">
                <a:hlinkClick r:id="rId2"/>
              </a:rPr>
              <a:t>précip</a:t>
            </a:r>
            <a:r>
              <a:rPr lang="fr-CA" dirty="0">
                <a:hlinkClick r:id="rId2"/>
              </a:rPr>
              <a:t> en été (#5) · Issues · MIG / gem-</a:t>
            </a:r>
            <a:r>
              <a:rPr lang="fr-CA" dirty="0" err="1">
                <a:hlinkClick r:id="rId2"/>
              </a:rPr>
              <a:t>pa</a:t>
            </a:r>
            <a:r>
              <a:rPr lang="fr-CA" dirty="0">
                <a:hlinkClick r:id="rId2"/>
              </a:rPr>
              <a:t>-test · GitLab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57688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7908CC75-3AF0-C838-439C-DF032F807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43" y="1441937"/>
            <a:ext cx="4678680" cy="3828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35118D8-2B1D-9D79-76E7-E7439D0CC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123" y="0"/>
            <a:ext cx="2677877" cy="379821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B296B3F-BD64-4021-3F97-6024B7692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699" y="3664633"/>
            <a:ext cx="2347344" cy="3096879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0CD7883-7468-1A5F-0D3D-51CCF129A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945" y="1481263"/>
            <a:ext cx="4594274" cy="375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939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C144F86-D9D3-F892-5E6D-AB4BC6A1D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17" y="3064820"/>
            <a:ext cx="2834262" cy="368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0B2F500-2923-3F34-2999-A967262B4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857" y="171217"/>
            <a:ext cx="4334022" cy="354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AE8CF384-BFB2-E885-BB43-013F2B42D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742" y="119576"/>
            <a:ext cx="4556369" cy="372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FFA91C1-0C67-040C-EDE5-64AE9965A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264" y="3293164"/>
            <a:ext cx="2671819" cy="343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37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78F28DA-0438-7260-5ABD-0A68AE98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1C35A8-70B7-3336-D64C-BE560C82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2. </a:t>
            </a:r>
            <a:r>
              <a:rPr lang="fr-CA" dirty="0" err="1"/>
              <a:t>supi</a:t>
            </a:r>
            <a:endParaRPr lang="fr-CA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E4CE5E05-960C-B6C6-3135-91C72A0A3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41842"/>
              </p:ext>
            </p:extLst>
          </p:nvPr>
        </p:nvGraphicFramePr>
        <p:xfrm>
          <a:off x="242694" y="1194997"/>
          <a:ext cx="11675661" cy="5349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8768">
                  <a:extLst>
                    <a:ext uri="{9D8B030D-6E8A-4147-A177-3AD203B41FA5}">
                      <a16:colId xmlns:a16="http://schemas.microsoft.com/office/drawing/2014/main" val="1445844786"/>
                    </a:ext>
                  </a:extLst>
                </a:gridCol>
                <a:gridCol w="2319130">
                  <a:extLst>
                    <a:ext uri="{9D8B030D-6E8A-4147-A177-3AD203B41FA5}">
                      <a16:colId xmlns:a16="http://schemas.microsoft.com/office/drawing/2014/main" val="4263044312"/>
                    </a:ext>
                  </a:extLst>
                </a:gridCol>
                <a:gridCol w="2217763">
                  <a:extLst>
                    <a:ext uri="{9D8B030D-6E8A-4147-A177-3AD203B41FA5}">
                      <a16:colId xmlns:a16="http://schemas.microsoft.com/office/drawing/2014/main" val="529417015"/>
                    </a:ext>
                  </a:extLst>
                </a:gridCol>
              </a:tblGrid>
              <a:tr h="555789">
                <a:tc>
                  <a:txBody>
                    <a:bodyPr/>
                    <a:lstStyle/>
                    <a:p>
                      <a:r>
                        <a:rPr lang="fr-CA" dirty="0"/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GEM </a:t>
                      </a:r>
                      <a:r>
                        <a:rPr lang="fr-CA" dirty="0" err="1"/>
                        <a:t>only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Impacts of HRDPS </a:t>
                      </a:r>
                      <a:r>
                        <a:rPr lang="fr-CA" dirty="0" err="1"/>
                        <a:t>series</a:t>
                      </a:r>
                      <a:r>
                        <a:rPr lang="fr-CA" dirty="0"/>
                        <a:t> of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590993"/>
                  </a:ext>
                </a:extLst>
              </a:tr>
              <a:tr h="317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1. Switch to use a </a:t>
                      </a:r>
                      <a:r>
                        <a:rPr lang="fr-CA" dirty="0" err="1"/>
                        <a:t>different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autoAccr_param</a:t>
                      </a:r>
                      <a:r>
                        <a:rPr lang="fr-CA" dirty="0"/>
                        <a:t> (i.e., </a:t>
                      </a:r>
                      <a:r>
                        <a:rPr lang="fr-CA" dirty="0" err="1"/>
                        <a:t>iparam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Not neutral but </a:t>
                      </a:r>
                      <a:r>
                        <a:rPr lang="fr-CA" dirty="0" err="1"/>
                        <a:t>improves</a:t>
                      </a:r>
                      <a:r>
                        <a:rPr lang="fr-CA" dirty="0"/>
                        <a:t>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553148"/>
                  </a:ext>
                </a:extLst>
              </a:tr>
              <a:tr h="5557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2. Switch to use a </a:t>
                      </a:r>
                      <a:r>
                        <a:rPr lang="fr-CA" dirty="0" err="1"/>
                        <a:t>different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ice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supersaturation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threshold</a:t>
                      </a:r>
                      <a:r>
                        <a:rPr lang="fr-CA" dirty="0"/>
                        <a:t> for </a:t>
                      </a:r>
                      <a:r>
                        <a:rPr lang="fr-CA" dirty="0" err="1"/>
                        <a:t>ice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nucelation</a:t>
                      </a:r>
                      <a:r>
                        <a:rPr lang="fr-CA" dirty="0"/>
                        <a:t> (0.15 </a:t>
                      </a:r>
                      <a:r>
                        <a:rPr lang="fr-CA" dirty="0" err="1"/>
                        <a:t>instead</a:t>
                      </a:r>
                      <a:r>
                        <a:rPr lang="fr-CA" dirty="0"/>
                        <a:t> of 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Yes (not </a:t>
                      </a:r>
                      <a:r>
                        <a:rPr lang="fr-CA" dirty="0" err="1"/>
                        <a:t>done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with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testing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Not neutral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050106"/>
                  </a:ext>
                </a:extLst>
              </a:tr>
              <a:tr h="317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3. Changes to </a:t>
                      </a:r>
                      <a:r>
                        <a:rPr lang="fr-CA" dirty="0" err="1"/>
                        <a:t>rc_eff</a:t>
                      </a:r>
                      <a:r>
                        <a:rPr lang="fr-CA" dirty="0"/>
                        <a:t> = 0 </a:t>
                      </a:r>
                      <a:r>
                        <a:rPr lang="fr-CA" dirty="0" err="1"/>
                        <a:t>when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there</a:t>
                      </a:r>
                      <a:r>
                        <a:rPr lang="fr-CA" dirty="0"/>
                        <a:t> no </a:t>
                      </a:r>
                      <a:r>
                        <a:rPr lang="fr-CA" dirty="0" err="1"/>
                        <a:t>condensate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577397"/>
                  </a:ext>
                </a:extLst>
              </a:tr>
              <a:tr h="493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4. Use of </a:t>
                      </a:r>
                      <a:r>
                        <a:rPr lang="fr-CA" dirty="0" err="1"/>
                        <a:t>qevp_satadj</a:t>
                      </a:r>
                      <a:r>
                        <a:rPr lang="fr-CA" dirty="0"/>
                        <a:t> to </a:t>
                      </a:r>
                      <a:r>
                        <a:rPr lang="fr-CA" dirty="0" err="1"/>
                        <a:t>add</a:t>
                      </a:r>
                      <a:r>
                        <a:rPr lang="fr-CA" dirty="0"/>
                        <a:t> the </a:t>
                      </a:r>
                      <a:r>
                        <a:rPr lang="fr-CA" dirty="0" err="1"/>
                        <a:t>adjustment</a:t>
                      </a:r>
                      <a:r>
                        <a:rPr lang="fr-CA" dirty="0"/>
                        <a:t> to the 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07419"/>
                  </a:ext>
                </a:extLst>
              </a:tr>
              <a:tr h="317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5. Changes to </a:t>
                      </a:r>
                      <a:r>
                        <a:rPr lang="fr-CA" dirty="0" err="1"/>
                        <a:t>compute_scpf</a:t>
                      </a:r>
                      <a:r>
                        <a:rPr lang="fr-CA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300579"/>
                  </a:ext>
                </a:extLst>
              </a:tr>
              <a:tr h="793984">
                <a:tc>
                  <a:txBody>
                    <a:bodyPr/>
                    <a:lstStyle/>
                    <a:p>
                      <a:pPr marL="36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a. Correction of </a:t>
                      </a:r>
                      <a:r>
                        <a:rPr lang="fr-CA" dirty="0" err="1"/>
                        <a:t>inconsistency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between</a:t>
                      </a:r>
                      <a:r>
                        <a:rPr lang="fr-CA" dirty="0"/>
                        <a:t> the use of </a:t>
                      </a:r>
                      <a:r>
                        <a:rPr lang="fr-CA" dirty="0" err="1"/>
                        <a:t>qv_old</a:t>
                      </a:r>
                      <a:r>
                        <a:rPr lang="fr-CA" dirty="0"/>
                        <a:t> and </a:t>
                      </a:r>
                      <a:r>
                        <a:rPr lang="fr-CA" dirty="0" err="1"/>
                        <a:t>qv</a:t>
                      </a:r>
                      <a:r>
                        <a:rPr lang="fr-CA" dirty="0"/>
                        <a:t> for the call to </a:t>
                      </a:r>
                      <a:r>
                        <a:rPr lang="fr-CA" dirty="0" err="1"/>
                        <a:t>compute_scpf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741569"/>
                  </a:ext>
                </a:extLst>
              </a:tr>
              <a:tr h="705005">
                <a:tc>
                  <a:txBody>
                    <a:bodyPr/>
                    <a:lstStyle/>
                    <a:p>
                      <a:pPr marL="36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b. This </a:t>
                      </a:r>
                      <a:r>
                        <a:rPr lang="fr-CA" dirty="0" err="1"/>
                        <a:t>remove</a:t>
                      </a:r>
                      <a:r>
                        <a:rPr lang="fr-CA" dirty="0"/>
                        <a:t> the </a:t>
                      </a:r>
                      <a:r>
                        <a:rPr lang="fr-CA" dirty="0" err="1"/>
                        <a:t>need</a:t>
                      </a:r>
                      <a:r>
                        <a:rPr lang="fr-CA" dirty="0"/>
                        <a:t> to </a:t>
                      </a:r>
                      <a:r>
                        <a:rPr lang="fr-CA" dirty="0" err="1"/>
                        <a:t>some</a:t>
                      </a:r>
                      <a:r>
                        <a:rPr lang="fr-CA" dirty="0"/>
                        <a:t> calls to </a:t>
                      </a:r>
                      <a:r>
                        <a:rPr lang="fr-CA" dirty="0" err="1"/>
                        <a:t>compute_SCPF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763038"/>
                  </a:ext>
                </a:extLst>
              </a:tr>
              <a:tr h="705005">
                <a:tc>
                  <a:txBody>
                    <a:bodyPr/>
                    <a:lstStyle/>
                    <a:p>
                      <a:pPr marL="36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c. </a:t>
                      </a:r>
                      <a:r>
                        <a:rPr lang="fr-CA" dirty="0" err="1"/>
                        <a:t>Coherence</a:t>
                      </a:r>
                      <a:r>
                        <a:rPr lang="fr-CA" dirty="0"/>
                        <a:t> in </a:t>
                      </a:r>
                      <a:r>
                        <a:rPr lang="fr-CA" dirty="0" err="1"/>
                        <a:t>using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qc</a:t>
                      </a:r>
                      <a:r>
                        <a:rPr lang="fr-CA" dirty="0"/>
                        <a:t>*</a:t>
                      </a:r>
                      <a:r>
                        <a:rPr lang="fr-CA" dirty="0" err="1"/>
                        <a:t>iSCF</a:t>
                      </a:r>
                      <a:r>
                        <a:rPr lang="fr-CA" dirty="0"/>
                        <a:t> &gt;=</a:t>
                      </a:r>
                      <a:r>
                        <a:rPr lang="fr-CA" dirty="0" err="1"/>
                        <a:t>qsmall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instead</a:t>
                      </a:r>
                      <a:r>
                        <a:rPr lang="fr-CA" dirty="0"/>
                        <a:t> of </a:t>
                      </a:r>
                      <a:r>
                        <a:rPr lang="fr-CA" dirty="0" err="1"/>
                        <a:t>qc</a:t>
                      </a:r>
                      <a:r>
                        <a:rPr lang="fr-CA" dirty="0"/>
                        <a:t>&gt;=</a:t>
                      </a:r>
                      <a:r>
                        <a:rPr lang="fr-CA" dirty="0" err="1"/>
                        <a:t>qsmall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81339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858408C-F352-1910-1553-8D519C71FF89}"/>
              </a:ext>
            </a:extLst>
          </p:cNvPr>
          <p:cNvSpPr/>
          <p:nvPr/>
        </p:nvSpPr>
        <p:spPr>
          <a:xfrm>
            <a:off x="251791" y="2458279"/>
            <a:ext cx="11661913" cy="6626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B7773ED-D764-591D-FE96-F83F3DDF574B}"/>
              </a:ext>
            </a:extLst>
          </p:cNvPr>
          <p:cNvSpPr txBox="1"/>
          <p:nvPr/>
        </p:nvSpPr>
        <p:spPr>
          <a:xfrm>
            <a:off x="3366052" y="717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>
                <a:hlinkClick r:id="rId2"/>
              </a:rPr>
              <a:t>Séries combinant P3_supid=0.15, </a:t>
            </a:r>
            <a:r>
              <a:rPr lang="fr-CA" dirty="0" err="1">
                <a:hlinkClick r:id="rId2"/>
              </a:rPr>
              <a:t>pbl_supid</a:t>
            </a:r>
            <a:r>
              <a:rPr lang="fr-CA" dirty="0">
                <a:hlinkClick r:id="rId2"/>
              </a:rPr>
              <a:t>=p3_supid=0.15 et </a:t>
            </a:r>
            <a:r>
              <a:rPr lang="fr-CA" dirty="0" err="1">
                <a:hlinkClick r:id="rId2"/>
              </a:rPr>
              <a:t>pbl_dxref</a:t>
            </a:r>
            <a:r>
              <a:rPr lang="fr-CA" dirty="0">
                <a:hlinkClick r:id="rId2"/>
              </a:rPr>
              <a:t>=50m(AP057-58) (#6) · Issues · MIG / gem-</a:t>
            </a:r>
            <a:r>
              <a:rPr lang="fr-CA" dirty="0" err="1">
                <a:hlinkClick r:id="rId2"/>
              </a:rPr>
              <a:t>pa</a:t>
            </a:r>
            <a:r>
              <a:rPr lang="fr-CA" dirty="0">
                <a:hlinkClick r:id="rId2"/>
              </a:rPr>
              <a:t>-test · GitLab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37807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F9B508-1DCB-8819-E7D0-B2FE34B8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7B99CD-0175-50B6-DAFC-313BCB10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3-5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7634562E-AFCE-D693-6024-52AF0DA4B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779209"/>
              </p:ext>
            </p:extLst>
          </p:nvPr>
        </p:nvGraphicFramePr>
        <p:xfrm>
          <a:off x="242694" y="1194997"/>
          <a:ext cx="11675661" cy="5349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8768">
                  <a:extLst>
                    <a:ext uri="{9D8B030D-6E8A-4147-A177-3AD203B41FA5}">
                      <a16:colId xmlns:a16="http://schemas.microsoft.com/office/drawing/2014/main" val="1445844786"/>
                    </a:ext>
                  </a:extLst>
                </a:gridCol>
                <a:gridCol w="2319130">
                  <a:extLst>
                    <a:ext uri="{9D8B030D-6E8A-4147-A177-3AD203B41FA5}">
                      <a16:colId xmlns:a16="http://schemas.microsoft.com/office/drawing/2014/main" val="4263044312"/>
                    </a:ext>
                  </a:extLst>
                </a:gridCol>
                <a:gridCol w="2217763">
                  <a:extLst>
                    <a:ext uri="{9D8B030D-6E8A-4147-A177-3AD203B41FA5}">
                      <a16:colId xmlns:a16="http://schemas.microsoft.com/office/drawing/2014/main" val="529417015"/>
                    </a:ext>
                  </a:extLst>
                </a:gridCol>
              </a:tblGrid>
              <a:tr h="555789">
                <a:tc>
                  <a:txBody>
                    <a:bodyPr/>
                    <a:lstStyle/>
                    <a:p>
                      <a:r>
                        <a:rPr lang="fr-CA" dirty="0"/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GEM </a:t>
                      </a:r>
                      <a:r>
                        <a:rPr lang="fr-CA" dirty="0" err="1"/>
                        <a:t>only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Impacts of HRDPS </a:t>
                      </a:r>
                      <a:r>
                        <a:rPr lang="fr-CA" dirty="0" err="1"/>
                        <a:t>series</a:t>
                      </a:r>
                      <a:r>
                        <a:rPr lang="fr-CA" dirty="0"/>
                        <a:t> of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590993"/>
                  </a:ext>
                </a:extLst>
              </a:tr>
              <a:tr h="317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1. Switch to use a </a:t>
                      </a:r>
                      <a:r>
                        <a:rPr lang="fr-CA" dirty="0" err="1"/>
                        <a:t>different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autoAccr_param</a:t>
                      </a:r>
                      <a:r>
                        <a:rPr lang="fr-CA" dirty="0"/>
                        <a:t> (i.e., </a:t>
                      </a:r>
                      <a:r>
                        <a:rPr lang="fr-CA" dirty="0" err="1"/>
                        <a:t>iparam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Not neutral but </a:t>
                      </a:r>
                      <a:r>
                        <a:rPr lang="fr-CA" dirty="0" err="1"/>
                        <a:t>improves</a:t>
                      </a:r>
                      <a:r>
                        <a:rPr lang="fr-CA" dirty="0"/>
                        <a:t>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553148"/>
                  </a:ext>
                </a:extLst>
              </a:tr>
              <a:tr h="5557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2. Switch to use a </a:t>
                      </a:r>
                      <a:r>
                        <a:rPr lang="fr-CA" dirty="0" err="1"/>
                        <a:t>different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ice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supersaturation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threshold</a:t>
                      </a:r>
                      <a:r>
                        <a:rPr lang="fr-CA" dirty="0"/>
                        <a:t> for </a:t>
                      </a:r>
                      <a:r>
                        <a:rPr lang="fr-CA" dirty="0" err="1"/>
                        <a:t>ice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nucelation</a:t>
                      </a:r>
                      <a:r>
                        <a:rPr lang="fr-CA" dirty="0"/>
                        <a:t> (0.15 </a:t>
                      </a:r>
                      <a:r>
                        <a:rPr lang="fr-CA" dirty="0" err="1"/>
                        <a:t>instead</a:t>
                      </a:r>
                      <a:r>
                        <a:rPr lang="fr-CA" dirty="0"/>
                        <a:t> of 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Yes (not </a:t>
                      </a:r>
                      <a:r>
                        <a:rPr lang="fr-CA" dirty="0" err="1"/>
                        <a:t>done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with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testing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Not neutral &amp; </a:t>
                      </a:r>
                      <a:r>
                        <a:rPr lang="fr-CA" dirty="0" err="1"/>
                        <a:t>very</a:t>
                      </a:r>
                      <a:r>
                        <a:rPr lang="fr-CA" dirty="0"/>
                        <a:t> big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050106"/>
                  </a:ext>
                </a:extLst>
              </a:tr>
              <a:tr h="317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3. Changes to </a:t>
                      </a:r>
                      <a:r>
                        <a:rPr lang="fr-CA" dirty="0" err="1"/>
                        <a:t>rc_eff</a:t>
                      </a:r>
                      <a:r>
                        <a:rPr lang="fr-CA" dirty="0"/>
                        <a:t> = 0 </a:t>
                      </a:r>
                      <a:r>
                        <a:rPr lang="fr-CA" dirty="0" err="1"/>
                        <a:t>when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there</a:t>
                      </a:r>
                      <a:r>
                        <a:rPr lang="fr-CA" dirty="0"/>
                        <a:t> no </a:t>
                      </a:r>
                      <a:r>
                        <a:rPr lang="fr-CA" dirty="0" err="1"/>
                        <a:t>condensate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577397"/>
                  </a:ext>
                </a:extLst>
              </a:tr>
              <a:tr h="493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4. Use of </a:t>
                      </a:r>
                      <a:r>
                        <a:rPr lang="fr-CA" dirty="0" err="1"/>
                        <a:t>qevp_satadj</a:t>
                      </a:r>
                      <a:r>
                        <a:rPr lang="fr-CA" dirty="0"/>
                        <a:t> to </a:t>
                      </a:r>
                      <a:r>
                        <a:rPr lang="fr-CA" dirty="0" err="1"/>
                        <a:t>add</a:t>
                      </a:r>
                      <a:r>
                        <a:rPr lang="fr-CA" dirty="0"/>
                        <a:t> the </a:t>
                      </a:r>
                      <a:r>
                        <a:rPr lang="fr-CA" dirty="0" err="1"/>
                        <a:t>adjustment</a:t>
                      </a:r>
                      <a:r>
                        <a:rPr lang="fr-CA" dirty="0"/>
                        <a:t> to the 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07419"/>
                  </a:ext>
                </a:extLst>
              </a:tr>
              <a:tr h="317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5. Changes to </a:t>
                      </a:r>
                      <a:r>
                        <a:rPr lang="fr-CA" dirty="0" err="1"/>
                        <a:t>compute_scpf</a:t>
                      </a:r>
                      <a:r>
                        <a:rPr lang="fr-CA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300579"/>
                  </a:ext>
                </a:extLst>
              </a:tr>
              <a:tr h="793984">
                <a:tc>
                  <a:txBody>
                    <a:bodyPr/>
                    <a:lstStyle/>
                    <a:p>
                      <a:pPr marL="36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a. Correction of </a:t>
                      </a:r>
                      <a:r>
                        <a:rPr lang="fr-CA" dirty="0" err="1"/>
                        <a:t>inconsistency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between</a:t>
                      </a:r>
                      <a:r>
                        <a:rPr lang="fr-CA" dirty="0"/>
                        <a:t> the use of </a:t>
                      </a:r>
                      <a:r>
                        <a:rPr lang="fr-CA" dirty="0" err="1"/>
                        <a:t>qv_old</a:t>
                      </a:r>
                      <a:r>
                        <a:rPr lang="fr-CA" dirty="0"/>
                        <a:t> and </a:t>
                      </a:r>
                      <a:r>
                        <a:rPr lang="fr-CA" dirty="0" err="1"/>
                        <a:t>qv</a:t>
                      </a:r>
                      <a:r>
                        <a:rPr lang="fr-CA" dirty="0"/>
                        <a:t> for the call to </a:t>
                      </a:r>
                      <a:r>
                        <a:rPr lang="fr-CA" dirty="0" err="1"/>
                        <a:t>compute_scpf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741569"/>
                  </a:ext>
                </a:extLst>
              </a:tr>
              <a:tr h="705005">
                <a:tc>
                  <a:txBody>
                    <a:bodyPr/>
                    <a:lstStyle/>
                    <a:p>
                      <a:pPr marL="36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b. This </a:t>
                      </a:r>
                      <a:r>
                        <a:rPr lang="fr-CA" dirty="0" err="1"/>
                        <a:t>remove</a:t>
                      </a:r>
                      <a:r>
                        <a:rPr lang="fr-CA" dirty="0"/>
                        <a:t> the </a:t>
                      </a:r>
                      <a:r>
                        <a:rPr lang="fr-CA" dirty="0" err="1"/>
                        <a:t>need</a:t>
                      </a:r>
                      <a:r>
                        <a:rPr lang="fr-CA" dirty="0"/>
                        <a:t> to </a:t>
                      </a:r>
                      <a:r>
                        <a:rPr lang="fr-CA" dirty="0" err="1"/>
                        <a:t>some</a:t>
                      </a:r>
                      <a:r>
                        <a:rPr lang="fr-CA" dirty="0"/>
                        <a:t> calls to </a:t>
                      </a:r>
                      <a:r>
                        <a:rPr lang="fr-CA" dirty="0" err="1"/>
                        <a:t>compute_SCPF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763038"/>
                  </a:ext>
                </a:extLst>
              </a:tr>
              <a:tr h="705005">
                <a:tc>
                  <a:txBody>
                    <a:bodyPr/>
                    <a:lstStyle/>
                    <a:p>
                      <a:pPr marL="36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c. </a:t>
                      </a:r>
                      <a:r>
                        <a:rPr lang="fr-CA" dirty="0" err="1"/>
                        <a:t>Coherence</a:t>
                      </a:r>
                      <a:r>
                        <a:rPr lang="fr-CA" dirty="0"/>
                        <a:t> in </a:t>
                      </a:r>
                      <a:r>
                        <a:rPr lang="fr-CA" dirty="0" err="1"/>
                        <a:t>using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qc</a:t>
                      </a:r>
                      <a:r>
                        <a:rPr lang="fr-CA" dirty="0"/>
                        <a:t>*</a:t>
                      </a:r>
                      <a:r>
                        <a:rPr lang="fr-CA" dirty="0" err="1"/>
                        <a:t>iSCF</a:t>
                      </a:r>
                      <a:r>
                        <a:rPr lang="fr-CA" dirty="0"/>
                        <a:t> &gt;=</a:t>
                      </a:r>
                      <a:r>
                        <a:rPr lang="fr-CA" dirty="0" err="1"/>
                        <a:t>qsmall</a:t>
                      </a:r>
                      <a:r>
                        <a:rPr lang="fr-CA" dirty="0"/>
                        <a:t> </a:t>
                      </a:r>
                      <a:r>
                        <a:rPr lang="fr-CA" dirty="0" err="1"/>
                        <a:t>instead</a:t>
                      </a:r>
                      <a:r>
                        <a:rPr lang="fr-CA" dirty="0"/>
                        <a:t> of </a:t>
                      </a:r>
                      <a:r>
                        <a:rPr lang="fr-CA" dirty="0" err="1"/>
                        <a:t>qc</a:t>
                      </a:r>
                      <a:r>
                        <a:rPr lang="fr-CA" dirty="0"/>
                        <a:t>&gt;=</a:t>
                      </a:r>
                      <a:r>
                        <a:rPr lang="fr-CA" dirty="0" err="1"/>
                        <a:t>qsmall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81339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431232A-3DA6-CF66-1D35-0ADC52D5D698}"/>
              </a:ext>
            </a:extLst>
          </p:cNvPr>
          <p:cNvSpPr/>
          <p:nvPr/>
        </p:nvSpPr>
        <p:spPr>
          <a:xfrm>
            <a:off x="251791" y="3114261"/>
            <a:ext cx="11661913" cy="34256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DCC460-A916-C6C6-A907-5C67862F992D}"/>
              </a:ext>
            </a:extLst>
          </p:cNvPr>
          <p:cNvSpPr txBox="1"/>
          <p:nvPr/>
        </p:nvSpPr>
        <p:spPr>
          <a:xfrm>
            <a:off x="3001617" y="3228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>
                <a:hlinkClick r:id="rId2"/>
              </a:rPr>
              <a:t>correction bug </a:t>
            </a:r>
            <a:r>
              <a:rPr lang="fr-CA" dirty="0" err="1">
                <a:hlinkClick r:id="rId2"/>
              </a:rPr>
              <a:t>qv_old</a:t>
            </a:r>
            <a:r>
              <a:rPr lang="fr-CA" dirty="0">
                <a:hlinkClick r:id="rId2"/>
              </a:rPr>
              <a:t> et </a:t>
            </a:r>
            <a:r>
              <a:rPr lang="fr-CA" dirty="0" err="1">
                <a:hlinkClick r:id="rId2"/>
              </a:rPr>
              <a:t>T_old</a:t>
            </a:r>
            <a:r>
              <a:rPr lang="fr-CA" dirty="0">
                <a:hlinkClick r:id="rId2"/>
              </a:rPr>
              <a:t> dans la microphysique (</a:t>
            </a:r>
            <a:r>
              <a:rPr lang="fr-CA" dirty="0" err="1">
                <a:hlinkClick r:id="rId2"/>
              </a:rPr>
              <a:t>codeA</a:t>
            </a:r>
            <a:r>
              <a:rPr lang="fr-CA" dirty="0">
                <a:hlinkClick r:id="rId2"/>
              </a:rPr>
              <a:t>) (#4) · Issues · MIG / gem-</a:t>
            </a:r>
            <a:r>
              <a:rPr lang="fr-CA" dirty="0" err="1">
                <a:hlinkClick r:id="rId2"/>
              </a:rPr>
              <a:t>pa</a:t>
            </a:r>
            <a:r>
              <a:rPr lang="fr-CA" dirty="0">
                <a:hlinkClick r:id="rId2"/>
              </a:rPr>
              <a:t>-test · GitLab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16566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C88ECD-C3C3-E267-9A84-E864028D8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Code: </a:t>
            </a:r>
            <a:r>
              <a:rPr lang="en-US"/>
              <a:t>5.3.0-a15/CodeA</a:t>
            </a:r>
            <a:r>
              <a:rPr lang="fr-CA"/>
              <a:t> 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423504-9C69-B4C6-4B8C-95E76C955F4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2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Qv_old</a:t>
            </a:r>
            <a:r>
              <a:rPr lang="en-US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t_old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Forks </a:t>
            </a:r>
            <a:r>
              <a:rPr lang="en-US" sz="12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SPCF_on</a:t>
            </a:r>
            <a:r>
              <a:rPr lang="en-US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/off avoided.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Default 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diag_effc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!Limit total condensation (incl. activation) and 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evaporation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saturation 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adjustment</a:t>
            </a: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buNone/>
            </a:pP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ajoute </a:t>
            </a:r>
            <a:r>
              <a:rPr lang="fr-CA" sz="1200" b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qevp_satadj</a:t>
            </a: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pour l’ajustement à la saturation. Elle se fait maintenant en deux parties : 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ajustement w.r.t </a:t>
            </a:r>
            <a:r>
              <a:rPr lang="fr-CA" sz="12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qcon_satdj</a:t>
            </a: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dans </a:t>
            </a:r>
            <a:r>
              <a:rPr lang="en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CF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ajustement w.r.t. </a:t>
            </a:r>
            <a:r>
              <a:rPr lang="fr-CA" sz="1200" b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qevp_satadj</a:t>
            </a: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dans </a:t>
            </a:r>
            <a:r>
              <a:rPr lang="fr-CA" sz="12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clear_sky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Fix : 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(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qc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iSCF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&gt; 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qsmall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partout ou c est important; pas de 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qc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&gt; 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qsmall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Cohérence.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5590D50-226F-D4A5-0B55-D626473015F8}"/>
              </a:ext>
            </a:extLst>
          </p:cNvPr>
          <p:cNvSpPr txBox="1"/>
          <p:nvPr/>
        </p:nvSpPr>
        <p:spPr>
          <a:xfrm>
            <a:off x="8428979" y="681037"/>
            <a:ext cx="3594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/fs/site5/</a:t>
            </a:r>
            <a:r>
              <a:rPr lang="en-US" err="1"/>
              <a:t>eccc</a:t>
            </a:r>
            <a:r>
              <a:rPr lang="en-US"/>
              <a:t>/</a:t>
            </a:r>
            <a:r>
              <a:rPr lang="en-US" err="1"/>
              <a:t>cmd</a:t>
            </a:r>
            <a:r>
              <a:rPr lang="en-US"/>
              <a:t>/x/frc001/SCM/home/gem/5.3.0-a15/CodeA</a:t>
            </a:r>
          </a:p>
        </p:txBody>
      </p:sp>
    </p:spTree>
    <p:extLst>
      <p:ext uri="{BB962C8B-B14F-4D97-AF65-F5344CB8AC3E}">
        <p14:creationId xmlns:p14="http://schemas.microsoft.com/office/powerpoint/2010/main" val="2606150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09BE98-9B94-14D6-2CAA-1B66227E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Explications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892CB5-E1E8-242B-1DBB-9A66DF00D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P3_main : First call to </a:t>
            </a:r>
            <a:r>
              <a:rPr lang="en-US" err="1"/>
              <a:t>compute_SCFP</a:t>
            </a:r>
            <a:r>
              <a:rPr lang="en-US"/>
              <a:t> : input </a:t>
            </a:r>
            <a:r>
              <a:rPr lang="en-US" err="1"/>
              <a:t>Qv_old</a:t>
            </a:r>
            <a:r>
              <a:rPr lang="en-US"/>
              <a:t>, </a:t>
            </a:r>
            <a:r>
              <a:rPr lang="en-US" err="1"/>
              <a:t>t_old</a:t>
            </a:r>
            <a:r>
              <a:rPr lang="en-US"/>
              <a:t> (temps </a:t>
            </a:r>
            <a:r>
              <a:rPr lang="en-US" err="1"/>
              <a:t>moins</a:t>
            </a:r>
            <a:r>
              <a:rPr lang="en-US"/>
              <a:t>) instead of Qv, T (temps plus)</a:t>
            </a:r>
          </a:p>
          <a:p>
            <a:pPr lvl="0"/>
            <a:r>
              <a:rPr lang="fr-CA"/>
              <a:t>P3_main : commente lignes 3467-3473 (qui étaient : if not </a:t>
            </a:r>
            <a:r>
              <a:rPr lang="fr-CA" err="1"/>
              <a:t>SCPF_on</a:t>
            </a:r>
            <a:r>
              <a:rPr lang="fr-CA"/>
              <a:t>, sursaturations non calcules via </a:t>
            </a:r>
            <a:r>
              <a:rPr lang="fr-CA" err="1"/>
              <a:t>Qv_cld</a:t>
            </a:r>
            <a:r>
              <a:rPr lang="fr-CA"/>
              <a:t>/</a:t>
            </a:r>
            <a:r>
              <a:rPr lang="fr-CA" err="1"/>
              <a:t>Qv_clr</a:t>
            </a:r>
            <a:r>
              <a:rPr lang="fr-CA"/>
              <a:t>). </a:t>
            </a:r>
            <a:r>
              <a:rPr lang="en-US"/>
              <a:t>Fork </a:t>
            </a:r>
            <a:r>
              <a:rPr lang="en-US" err="1"/>
              <a:t>SPCF_on</a:t>
            </a:r>
            <a:r>
              <a:rPr lang="en-US"/>
              <a:t>/off avoided.</a:t>
            </a:r>
          </a:p>
          <a:p>
            <a:pPr lvl="0"/>
            <a:r>
              <a:rPr lang="fr-CA"/>
              <a:t>P3_main : commente lignes 2425-2427 (</a:t>
            </a:r>
            <a:r>
              <a:rPr lang="fr-CA" err="1"/>
              <a:t>log_nucleationPossible</a:t>
            </a:r>
            <a:r>
              <a:rPr lang="fr-CA"/>
              <a:t> dans le cas </a:t>
            </a:r>
            <a:r>
              <a:rPr lang="fr-CA" err="1"/>
              <a:t>SCPF_on</a:t>
            </a:r>
            <a:r>
              <a:rPr lang="fr-CA"/>
              <a:t>=false)</a:t>
            </a:r>
            <a:endParaRPr lang="en-US"/>
          </a:p>
          <a:p>
            <a:pPr lvl="0"/>
            <a:r>
              <a:rPr lang="en-US"/>
              <a:t>P3_main : </a:t>
            </a:r>
            <a:r>
              <a:rPr lang="en-US" err="1"/>
              <a:t>commente</a:t>
            </a:r>
            <a:r>
              <a:rPr lang="en-US"/>
              <a:t> </a:t>
            </a:r>
            <a:r>
              <a:rPr lang="en-US" err="1"/>
              <a:t>lignes</a:t>
            </a:r>
            <a:r>
              <a:rPr lang="en-US"/>
              <a:t> 2544-2546 skip all process in case of </a:t>
            </a:r>
            <a:r>
              <a:rPr lang="en-US" err="1"/>
              <a:t>SCPF_on</a:t>
            </a:r>
            <a:r>
              <a:rPr lang="en-US"/>
              <a:t> = false</a:t>
            </a:r>
          </a:p>
          <a:p>
            <a:pPr lvl="0"/>
            <a:r>
              <a:rPr lang="en-US"/>
              <a:t>P3_main : </a:t>
            </a:r>
            <a:r>
              <a:rPr lang="en-US" err="1"/>
              <a:t>lignes</a:t>
            </a:r>
            <a:r>
              <a:rPr lang="en-US"/>
              <a:t> 3618-3621 remove Fork </a:t>
            </a:r>
            <a:r>
              <a:rPr lang="en-US" err="1"/>
              <a:t>scpf_ON</a:t>
            </a:r>
            <a:r>
              <a:rPr lang="en-US"/>
              <a:t>/OFF </a:t>
            </a:r>
            <a:r>
              <a:rPr lang="en-US" err="1"/>
              <a:t>sup_cld</a:t>
            </a:r>
            <a:r>
              <a:rPr lang="en-US"/>
              <a:t> et </a:t>
            </a:r>
            <a:r>
              <a:rPr lang="en-US" err="1"/>
              <a:t>supi_cld</a:t>
            </a:r>
            <a:r>
              <a:rPr lang="en-US"/>
              <a:t> passe par </a:t>
            </a:r>
            <a:r>
              <a:rPr lang="en-US" err="1"/>
              <a:t>Qv_cld</a:t>
            </a:r>
            <a:endParaRPr lang="en-US"/>
          </a:p>
          <a:p>
            <a:pPr lvl="0"/>
            <a:r>
              <a:rPr lang="fr-CA"/>
              <a:t>Default </a:t>
            </a:r>
            <a:r>
              <a:rPr lang="fr-CA" i="1" err="1"/>
              <a:t>diag_effc</a:t>
            </a:r>
            <a:r>
              <a:rPr lang="fr-CA" i="1"/>
              <a:t> = 0.</a:t>
            </a:r>
            <a:r>
              <a:rPr lang="fr-CA"/>
              <a:t>  au lieu de 10microns pour ne pas compter dans les moyennes.</a:t>
            </a:r>
            <a:endParaRPr lang="en-US"/>
          </a:p>
          <a:p>
            <a:pPr lvl="0"/>
            <a:r>
              <a:rPr lang="fr-CA"/>
              <a:t>P3_main : </a:t>
            </a:r>
            <a:r>
              <a:rPr lang="fr-CA" i="1"/>
              <a:t>!Limit total condensation (incl. activation) and </a:t>
            </a:r>
            <a:r>
              <a:rPr lang="fr-CA" i="1" err="1"/>
              <a:t>evaporation</a:t>
            </a:r>
            <a:r>
              <a:rPr lang="fr-CA" i="1"/>
              <a:t> to saturation </a:t>
            </a:r>
            <a:r>
              <a:rPr lang="fr-CA" i="1" err="1"/>
              <a:t>adjustment</a:t>
            </a:r>
            <a:r>
              <a:rPr lang="fr-CA"/>
              <a:t> ajoute </a:t>
            </a:r>
            <a:r>
              <a:rPr lang="fr-CA" b="1" err="1"/>
              <a:t>qevp_satadj</a:t>
            </a:r>
            <a:r>
              <a:rPr lang="fr-CA"/>
              <a:t> pour l’ajustement a la saturation. Elle se fait maintenant en deux parties : ajustement w.r.t </a:t>
            </a:r>
            <a:r>
              <a:rPr lang="fr-CA" err="1"/>
              <a:t>qcon_satdj</a:t>
            </a:r>
            <a:r>
              <a:rPr lang="fr-CA"/>
              <a:t> dans la partie </a:t>
            </a:r>
            <a:r>
              <a:rPr lang="fr-CA" err="1"/>
              <a:t>cloudy</a:t>
            </a:r>
            <a:r>
              <a:rPr lang="fr-CA"/>
              <a:t> et ajustement w.r.t. </a:t>
            </a:r>
            <a:r>
              <a:rPr lang="fr-CA" b="1" err="1"/>
              <a:t>qevp_satadj</a:t>
            </a:r>
            <a:r>
              <a:rPr lang="fr-CA"/>
              <a:t> pour la partie </a:t>
            </a:r>
            <a:r>
              <a:rPr lang="fr-CA" err="1"/>
              <a:t>clear</a:t>
            </a:r>
            <a:r>
              <a:rPr lang="fr-CA"/>
              <a:t> sky.  </a:t>
            </a:r>
            <a:endParaRPr lang="en-US"/>
          </a:p>
          <a:p>
            <a:pPr lvl="0"/>
            <a:r>
              <a:rPr lang="fr-CA"/>
              <a:t>P3_main : </a:t>
            </a:r>
            <a:r>
              <a:rPr lang="fr-CA" i="1"/>
              <a:t>!Limit total </a:t>
            </a:r>
            <a:r>
              <a:rPr lang="fr-CA" i="1" err="1"/>
              <a:t>deposition</a:t>
            </a:r>
            <a:r>
              <a:rPr lang="fr-CA" i="1"/>
              <a:t> (incl. </a:t>
            </a:r>
            <a:r>
              <a:rPr lang="fr-CA" i="1" err="1"/>
              <a:t>nucleation</a:t>
            </a:r>
            <a:r>
              <a:rPr lang="fr-CA" i="1"/>
              <a:t>) and sublimation to saturation </a:t>
            </a:r>
            <a:r>
              <a:rPr lang="fr-CA" i="1" err="1"/>
              <a:t>adjustment</a:t>
            </a:r>
            <a:r>
              <a:rPr lang="fr-CA"/>
              <a:t> mieux prendre en compte </a:t>
            </a:r>
            <a:r>
              <a:rPr lang="fr-CA" err="1"/>
              <a:t>cond</a:t>
            </a:r>
            <a:r>
              <a:rPr lang="fr-CA"/>
              <a:t>/</a:t>
            </a:r>
            <a:r>
              <a:rPr lang="fr-CA" err="1"/>
              <a:t>evap</a:t>
            </a:r>
            <a:r>
              <a:rPr lang="fr-CA"/>
              <a:t> de la pluie. Seulement dans la partie nuageuse pour la nouvelle estimation de </a:t>
            </a:r>
            <a:r>
              <a:rPr lang="fr-CA" err="1"/>
              <a:t>Qv</a:t>
            </a:r>
            <a:r>
              <a:rPr lang="fr-CA"/>
              <a:t> in-cloud.</a:t>
            </a:r>
            <a:endParaRPr lang="en-US"/>
          </a:p>
          <a:p>
            <a:pPr lvl="0"/>
            <a:r>
              <a:rPr lang="en-US" err="1"/>
              <a:t>Compute_SCPF</a:t>
            </a:r>
            <a:r>
              <a:rPr lang="en-US"/>
              <a:t> : </a:t>
            </a:r>
            <a:r>
              <a:rPr lang="en-US" err="1"/>
              <a:t>Qv_clr</a:t>
            </a:r>
            <a:r>
              <a:rPr lang="en-US"/>
              <a:t>=Qv (instead of 0) if SCPF is OFF (</a:t>
            </a:r>
            <a:r>
              <a:rPr lang="en-US" err="1"/>
              <a:t>ligne</a:t>
            </a:r>
            <a:r>
              <a:rPr lang="en-US"/>
              <a:t> 1893)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8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34AC45-7E30-8B30-292B-4EACAE8F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747" y="5832317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/>
              <a:t>“Mass conservation”</a:t>
            </a: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Nouvelle variable: </a:t>
            </a:r>
            <a:r>
              <a:rPr lang="en-US" sz="2700" b="1" kern="120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qevap_satadj</a:t>
            </a:r>
            <a:endParaRPr lang="en-US" sz="3600" b="1" kern="12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DDD5A86-7C57-5839-9071-21386779B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87" y="87549"/>
            <a:ext cx="11664368" cy="56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83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504EF5E-274D-C171-A314-91F7551C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B94A69-240B-29CD-13A1-A0A2F4D19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3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“Mass conservation”	 suite du code (</a:t>
            </a:r>
            <a:r>
              <a:rPr lang="en-US" sz="3300" kern="120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inchangé</a:t>
            </a:r>
            <a:r>
              <a:rPr lang="en-US" sz="33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)</a:t>
            </a:r>
            <a:endParaRPr lang="en-US" sz="3300" b="1" kern="12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Espace réservé du contenu 4">
            <a:extLst>
              <a:ext uri="{FF2B5EF4-FFF2-40B4-BE49-F238E27FC236}">
                <a16:creationId xmlns:a16="http://schemas.microsoft.com/office/drawing/2014/main" id="{FB06E8A7-BC45-12D9-3B8C-1EA07C591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600" y="579473"/>
            <a:ext cx="9998798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86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2D2B483C-8910-5926-1574-9A4267045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1407" y="-1"/>
            <a:ext cx="3520594" cy="476206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7402A3E-03B9-2421-2C0E-425219064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6" y="0"/>
            <a:ext cx="1714257" cy="3478845"/>
          </a:xfrm>
        </p:spPr>
        <p:txBody>
          <a:bodyPr/>
          <a:lstStyle/>
          <a:p>
            <a:r>
              <a:rPr lang="fr-CA" err="1"/>
              <a:t>Tdiag</a:t>
            </a:r>
            <a:r>
              <a:rPr lang="fr-CA"/>
              <a:t> </a:t>
            </a:r>
            <a:br>
              <a:rPr lang="fr-CA"/>
            </a:br>
            <a:r>
              <a:rPr lang="fr-CA" sz="1600"/>
              <a:t>( en mode PA3a)</a:t>
            </a:r>
            <a:br>
              <a:rPr lang="fr-CA" sz="1600"/>
            </a:br>
            <a:br>
              <a:rPr lang="fr-CA" sz="1600"/>
            </a:br>
            <a:r>
              <a:rPr lang="fr-CA" sz="1600"/>
              <a:t>- </a:t>
            </a:r>
            <a:r>
              <a:rPr lang="fr-CA" sz="1600" b="1">
                <a:solidFill>
                  <a:srgbClr val="7030A0"/>
                </a:solidFill>
              </a:rPr>
              <a:t>légère diminution de PR</a:t>
            </a:r>
            <a:br>
              <a:rPr lang="fr-CA" sz="1600"/>
            </a:br>
            <a:br>
              <a:rPr lang="fr-CA" sz="1600"/>
            </a:br>
            <a:r>
              <a:rPr lang="fr-CA" sz="1600" b="1">
                <a:solidFill>
                  <a:schemeClr val="bg2">
                    <a:lumMod val="50000"/>
                  </a:schemeClr>
                </a:solidFill>
              </a:rPr>
              <a:t>- légère augmentation de AP</a:t>
            </a:r>
            <a:br>
              <a:rPr lang="fr-CA" sz="1600" b="1">
                <a:solidFill>
                  <a:schemeClr val="bg2">
                    <a:lumMod val="50000"/>
                  </a:schemeClr>
                </a:solidFill>
              </a:rPr>
            </a:br>
            <a:br>
              <a:rPr lang="fr-CA" sz="1600" b="1">
                <a:solidFill>
                  <a:schemeClr val="bg2">
                    <a:lumMod val="50000"/>
                  </a:schemeClr>
                </a:solidFill>
              </a:rPr>
            </a:br>
            <a:r>
              <a:rPr lang="fr-CA" sz="1600" b="1">
                <a:solidFill>
                  <a:srgbClr val="0070C0"/>
                </a:solidFill>
              </a:rPr>
              <a:t>- Plus de liquide</a:t>
            </a:r>
            <a:endParaRPr lang="en-US" sz="1600" b="1">
              <a:solidFill>
                <a:srgbClr val="0070C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742F933-0F05-B962-3083-11CC3AD590EE}"/>
              </a:ext>
            </a:extLst>
          </p:cNvPr>
          <p:cNvSpPr txBox="1"/>
          <p:nvPr/>
        </p:nvSpPr>
        <p:spPr>
          <a:xfrm>
            <a:off x="0" y="4724768"/>
            <a:ext cx="14635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hlinkClick r:id="rId3"/>
              </a:rPr>
              <a:t>https://hpfx.science.gc.ca/~dpr001/HRDPS_TDIAG_profiles.html</a:t>
            </a:r>
            <a:endParaRPr lang="en-US" sz="1200"/>
          </a:p>
          <a:p>
            <a:r>
              <a:rPr lang="en-US" sz="1200" err="1"/>
              <a:t>Expérience</a:t>
            </a:r>
            <a:r>
              <a:rPr lang="en-US" sz="1200"/>
              <a:t>: 530a14_PA3aAGG_530a14_grA0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2EBDFB4-4D9F-88C0-FA44-C5630A9A0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543" y="20378"/>
            <a:ext cx="3520595" cy="481595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DE142AA-4DF1-4F7C-6EE0-95C0C5AEAE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277"/>
          <a:stretch>
            <a:fillRect/>
          </a:stretch>
        </p:blipFill>
        <p:spPr>
          <a:xfrm>
            <a:off x="1682250" y="4669216"/>
            <a:ext cx="3576469" cy="20676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1E5E682-8C44-7F15-883C-F686E54FD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7760" y="0"/>
            <a:ext cx="3520595" cy="472476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E570256-6767-ECFE-1B38-993713A20C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2175" y="4669216"/>
            <a:ext cx="3545120" cy="20676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2DCF7D1-8616-5907-4F48-490FC808901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027" b="45966"/>
          <a:stretch>
            <a:fillRect/>
          </a:stretch>
        </p:blipFill>
        <p:spPr>
          <a:xfrm>
            <a:off x="8708890" y="4724768"/>
            <a:ext cx="3422153" cy="1984272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AD580F7B-49EF-F660-B90C-B006C6E76BEC}"/>
              </a:ext>
            </a:extLst>
          </p:cNvPr>
          <p:cNvSpPr txBox="1"/>
          <p:nvPr/>
        </p:nvSpPr>
        <p:spPr>
          <a:xfrm>
            <a:off x="3375992" y="3630099"/>
            <a:ext cx="758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ÉTÉ                                                                    AUT                                                                   HIV</a:t>
            </a:r>
            <a:endParaRPr lang="en-US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F4238B8-79EA-41BB-04DE-EC07A3165BF1}"/>
              </a:ext>
            </a:extLst>
          </p:cNvPr>
          <p:cNvSpPr/>
          <p:nvPr/>
        </p:nvSpPr>
        <p:spPr>
          <a:xfrm>
            <a:off x="1682250" y="20378"/>
            <a:ext cx="3504888" cy="6817244"/>
          </a:xfrm>
          <a:prstGeom prst="roundRect">
            <a:avLst>
              <a:gd name="adj" fmla="val 6268"/>
            </a:avLst>
          </a:prstGeom>
          <a:solidFill>
            <a:srgbClr val="FFFF00">
              <a:alpha val="2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6A68483-99FD-20F9-8CE3-DF3C2AD6D630}"/>
              </a:ext>
            </a:extLst>
          </p:cNvPr>
          <p:cNvSpPr/>
          <p:nvPr/>
        </p:nvSpPr>
        <p:spPr>
          <a:xfrm>
            <a:off x="5207828" y="17330"/>
            <a:ext cx="3500123" cy="6817244"/>
          </a:xfrm>
          <a:prstGeom prst="roundRect">
            <a:avLst>
              <a:gd name="adj" fmla="val 6268"/>
            </a:avLst>
          </a:prstGeom>
          <a:solidFill>
            <a:schemeClr val="accent2">
              <a:lumMod val="75000"/>
              <a:alpha val="2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1E84C99-59A2-8507-9BBA-AD19E9CAFB76}"/>
              </a:ext>
            </a:extLst>
          </p:cNvPr>
          <p:cNvSpPr/>
          <p:nvPr/>
        </p:nvSpPr>
        <p:spPr>
          <a:xfrm>
            <a:off x="8728422" y="17330"/>
            <a:ext cx="3451561" cy="6817244"/>
          </a:xfrm>
          <a:prstGeom prst="roundRect">
            <a:avLst>
              <a:gd name="adj" fmla="val 6268"/>
            </a:avLst>
          </a:prstGeom>
          <a:solidFill>
            <a:srgbClr val="00B0F0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24D3F-FF75-CC27-2EB0-11510423BB51}"/>
              </a:ext>
            </a:extLst>
          </p:cNvPr>
          <p:cNvSpPr/>
          <p:nvPr/>
        </p:nvSpPr>
        <p:spPr>
          <a:xfrm>
            <a:off x="4187952" y="274320"/>
            <a:ext cx="210312" cy="29260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F0353E-94AB-D277-47D4-59B750EE423B}"/>
              </a:ext>
            </a:extLst>
          </p:cNvPr>
          <p:cNvSpPr/>
          <p:nvPr/>
        </p:nvSpPr>
        <p:spPr>
          <a:xfrm>
            <a:off x="7698221" y="280416"/>
            <a:ext cx="210312" cy="29260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363067-EFD6-8D32-69F6-973AC2D73194}"/>
              </a:ext>
            </a:extLst>
          </p:cNvPr>
          <p:cNvSpPr/>
          <p:nvPr/>
        </p:nvSpPr>
        <p:spPr>
          <a:xfrm>
            <a:off x="11151629" y="274320"/>
            <a:ext cx="210312" cy="29260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21E12A-F002-0C6B-154B-BDC38AA4738B}"/>
              </a:ext>
            </a:extLst>
          </p:cNvPr>
          <p:cNvSpPr/>
          <p:nvPr/>
        </p:nvSpPr>
        <p:spPr>
          <a:xfrm>
            <a:off x="2954274" y="34047"/>
            <a:ext cx="282653" cy="29260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4B1DA8-629B-5C0E-335C-1024E500CB0A}"/>
              </a:ext>
            </a:extLst>
          </p:cNvPr>
          <p:cNvSpPr/>
          <p:nvPr/>
        </p:nvSpPr>
        <p:spPr>
          <a:xfrm>
            <a:off x="6479688" y="34047"/>
            <a:ext cx="282653" cy="29260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FD94AC-FEF7-22EA-1AF5-62D5CF71E654}"/>
              </a:ext>
            </a:extLst>
          </p:cNvPr>
          <p:cNvSpPr/>
          <p:nvPr/>
        </p:nvSpPr>
        <p:spPr>
          <a:xfrm>
            <a:off x="9953335" y="34047"/>
            <a:ext cx="282653" cy="29260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3F666E-9398-9471-36BE-A78EB3EE10A7}"/>
              </a:ext>
            </a:extLst>
          </p:cNvPr>
          <p:cNvSpPr/>
          <p:nvPr/>
        </p:nvSpPr>
        <p:spPr>
          <a:xfrm>
            <a:off x="3614855" y="274320"/>
            <a:ext cx="282653" cy="29260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6D79CE-EBFD-834A-0E45-171BBBBB6BD7}"/>
              </a:ext>
            </a:extLst>
          </p:cNvPr>
          <p:cNvSpPr/>
          <p:nvPr/>
        </p:nvSpPr>
        <p:spPr>
          <a:xfrm>
            <a:off x="7096204" y="279607"/>
            <a:ext cx="282653" cy="29260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1955A7-0D0C-877A-99B6-EDB6DE1F9EE9}"/>
              </a:ext>
            </a:extLst>
          </p:cNvPr>
          <p:cNvSpPr/>
          <p:nvPr/>
        </p:nvSpPr>
        <p:spPr>
          <a:xfrm>
            <a:off x="10569851" y="274320"/>
            <a:ext cx="282653" cy="29260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14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40833-1314-9570-FCA3-50C236F3A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fr-CA"/>
              <a:t>Vues 2D cas d’automne @024h</a:t>
            </a:r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4E7E5E-18BB-54EE-0E1A-58B443678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490" y="1920889"/>
            <a:ext cx="3517119" cy="233888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7FEF70F-707B-BF89-B89C-571DC1742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489" y="4444850"/>
            <a:ext cx="3517120" cy="233888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C06A43F-036A-5A2D-FF86-6DDF176AD44E}"/>
              </a:ext>
            </a:extLst>
          </p:cNvPr>
          <p:cNvSpPr txBox="1"/>
          <p:nvPr/>
        </p:nvSpPr>
        <p:spPr>
          <a:xfrm>
            <a:off x="123150" y="2861869"/>
            <a:ext cx="1173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CTRL= </a:t>
            </a:r>
          </a:p>
          <a:p>
            <a:r>
              <a:rPr lang="en-CA" b="1"/>
              <a:t>PA3aAGG</a:t>
            </a:r>
            <a:endParaRPr lang="en-US" b="1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DC3CA3D-8368-6E78-6250-ED36EB74F1F4}"/>
              </a:ext>
            </a:extLst>
          </p:cNvPr>
          <p:cNvSpPr txBox="1"/>
          <p:nvPr/>
        </p:nvSpPr>
        <p:spPr>
          <a:xfrm>
            <a:off x="34829" y="5622570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CodeA</a:t>
            </a:r>
            <a:endParaRPr lang="en-US" b="1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B6A890E-99BF-B204-E541-2A4653DFBC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277"/>
          <a:stretch>
            <a:fillRect/>
          </a:stretch>
        </p:blipFill>
        <p:spPr>
          <a:xfrm>
            <a:off x="4674448" y="4444850"/>
            <a:ext cx="3661906" cy="234716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761FB66-8E5C-79EB-A408-0024AD8DF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2449" y="1925234"/>
            <a:ext cx="3517119" cy="233888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DFE3A1D-2D01-E43E-9DD5-4C6B802DE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2448" y="4453128"/>
            <a:ext cx="3517120" cy="233888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BA8E297-D9A2-CB73-ED7D-A96D9D20CF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56" t="-427" r="51316" b="427"/>
          <a:stretch>
            <a:fillRect/>
          </a:stretch>
        </p:blipFill>
        <p:spPr>
          <a:xfrm>
            <a:off x="4810846" y="1898326"/>
            <a:ext cx="3611602" cy="234716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534D022-0FA2-8FFF-D896-77D7C42ABA6F}"/>
              </a:ext>
            </a:extLst>
          </p:cNvPr>
          <p:cNvSpPr txBox="1"/>
          <p:nvPr/>
        </p:nvSpPr>
        <p:spPr>
          <a:xfrm>
            <a:off x="4810846" y="1027906"/>
            <a:ext cx="3126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/>
              <a:t>MPNC</a:t>
            </a:r>
          </a:p>
          <a:p>
            <a:pPr algn="ctr"/>
            <a:r>
              <a:rPr lang="en-CA" sz="2000" b="1" err="1"/>
              <a:t>hyb</a:t>
            </a:r>
            <a:r>
              <a:rPr lang="en-CA" sz="2000" b="1"/>
              <a:t>=0.87 20221024_024</a:t>
            </a:r>
            <a:endParaRPr lang="en-US" sz="1400" b="1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282A2E3-957F-7276-F630-2AD0383E6B24}"/>
              </a:ext>
            </a:extLst>
          </p:cNvPr>
          <p:cNvSpPr txBox="1"/>
          <p:nvPr/>
        </p:nvSpPr>
        <p:spPr>
          <a:xfrm>
            <a:off x="1417961" y="1089892"/>
            <a:ext cx="3126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/>
              <a:t>MPQC</a:t>
            </a:r>
          </a:p>
          <a:p>
            <a:pPr algn="ctr"/>
            <a:r>
              <a:rPr lang="en-CA" sz="2000" b="1" err="1"/>
              <a:t>hyb</a:t>
            </a:r>
            <a:r>
              <a:rPr lang="en-CA" sz="2000" b="1"/>
              <a:t>=0.87 20221024_024</a:t>
            </a:r>
            <a:endParaRPr lang="en-US" sz="1400" b="1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9A468AF-8791-4057-C08D-51AF8D9D0A97}"/>
              </a:ext>
            </a:extLst>
          </p:cNvPr>
          <p:cNvSpPr txBox="1"/>
          <p:nvPr/>
        </p:nvSpPr>
        <p:spPr>
          <a:xfrm>
            <a:off x="8617920" y="1027905"/>
            <a:ext cx="3126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/>
              <a:t>REC</a:t>
            </a:r>
          </a:p>
          <a:p>
            <a:pPr algn="ctr"/>
            <a:r>
              <a:rPr lang="en-CA" sz="2000" b="1" err="1"/>
              <a:t>hyb</a:t>
            </a:r>
            <a:r>
              <a:rPr lang="en-CA" sz="2000" b="1"/>
              <a:t>=0.87 20221024_024</a:t>
            </a: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3908798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B4DEFC-4F2E-2608-BC29-046A24307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fr-CA"/>
              <a:t>Scores ÉTÉ-HIV ARCAD (contre PA3aAGG)</a:t>
            </a:r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3BFC2B6-80B5-DADB-0BB9-EB1897D9B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772" y="1189407"/>
            <a:ext cx="3978156" cy="530420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E9282A2-2023-C6ED-55D6-211B13B80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1189407"/>
            <a:ext cx="3978156" cy="530420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9D865F4-20AD-5C8F-0751-11FE289D1EFB}"/>
              </a:ext>
            </a:extLst>
          </p:cNvPr>
          <p:cNvSpPr txBox="1"/>
          <p:nvPr/>
        </p:nvSpPr>
        <p:spPr>
          <a:xfrm>
            <a:off x="10046941" y="5623904"/>
            <a:ext cx="1868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4"/>
              </a:rPr>
              <a:t>Scores </a:t>
            </a:r>
            <a:r>
              <a:rPr lang="en-US" err="1">
                <a:hlinkClick r:id="rId4"/>
              </a:rPr>
              <a:t>arcad</a:t>
            </a:r>
            <a:r>
              <a:rPr lang="en-US">
                <a:hlinkClick r:id="rId4"/>
              </a:rPr>
              <a:t> en altitude et en surface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82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D2E78F1-520F-3F43-95AC-2DE5592D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244337-810D-6238-7F8E-2988E42F2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fr-CA"/>
              <a:t>Scores ÉTÉ-HIV ARCAD (contre MOSA6 ms50a)</a:t>
            </a:r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DD767D0-B68E-96A4-8159-43B15A530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283" y="1010653"/>
            <a:ext cx="4371819" cy="582909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57DCFE2-4097-7920-9AD4-BF4A8C889384}"/>
              </a:ext>
            </a:extLst>
          </p:cNvPr>
          <p:cNvSpPr txBox="1"/>
          <p:nvPr/>
        </p:nvSpPr>
        <p:spPr>
          <a:xfrm>
            <a:off x="9828656" y="6065647"/>
            <a:ext cx="2363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hlinkClick r:id="rId3"/>
              </a:rPr>
              <a:t>Scores </a:t>
            </a:r>
            <a:r>
              <a:rPr lang="en-US" sz="1600" err="1">
                <a:hlinkClick r:id="rId3"/>
              </a:rPr>
              <a:t>arcad</a:t>
            </a:r>
            <a:r>
              <a:rPr lang="en-US" sz="1600">
                <a:hlinkClick r:id="rId3"/>
              </a:rPr>
              <a:t> en altitude et en surface</a:t>
            </a:r>
            <a:endParaRPr lang="en-US" sz="160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CBBD9B7-83D1-A8A3-35EF-E637795AF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092" y="992398"/>
            <a:ext cx="4371819" cy="582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1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3014A1-0755-9570-2936-79FC8B37F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AF2AF7-05FF-6107-3A31-999FB4057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fr-CA"/>
              <a:t>Scores ÉTÉ EMET (contre PA3aAGG)</a:t>
            </a:r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E8D5D72-3F07-44ED-9FD1-126007159991}"/>
              </a:ext>
            </a:extLst>
          </p:cNvPr>
          <p:cNvSpPr txBox="1"/>
          <p:nvPr/>
        </p:nvSpPr>
        <p:spPr>
          <a:xfrm>
            <a:off x="9725528" y="18255"/>
            <a:ext cx="24664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https://emet-usr.science.gc.ca/emet/dpr001/19-2-48625.disp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0A7CE21-0D3F-BF6F-17B4-3471985B4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73" y="950808"/>
            <a:ext cx="4106492" cy="335985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4B91522-0FC8-533A-CEB6-EDB931A83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3" y="3635646"/>
            <a:ext cx="4106492" cy="335985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0A28F33-1B5F-AB09-2109-B4742DC5C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410" y="950808"/>
            <a:ext cx="2772768" cy="516853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0DAB038-92F2-C769-7F95-5CBBE0C7C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395" y="985564"/>
            <a:ext cx="2697772" cy="508310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46379B8-5E0E-D02A-7189-4EB161292520}"/>
              </a:ext>
            </a:extLst>
          </p:cNvPr>
          <p:cNvSpPr/>
          <p:nvPr/>
        </p:nvSpPr>
        <p:spPr>
          <a:xfrm>
            <a:off x="5997270" y="825574"/>
            <a:ext cx="1003125" cy="539993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F1E8D9-CCE6-0034-73B2-CE503C6349CF}"/>
              </a:ext>
            </a:extLst>
          </p:cNvPr>
          <p:cNvSpPr/>
          <p:nvPr/>
        </p:nvSpPr>
        <p:spPr>
          <a:xfrm>
            <a:off x="8793259" y="835112"/>
            <a:ext cx="1003125" cy="539993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30F13B2-4A1D-EB66-F92C-14AB718B1F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8255" y="4097249"/>
            <a:ext cx="3374251" cy="276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96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CEC148-937F-1087-0570-734C18F68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3B80D0D-95C9-4944-56B1-DA93B6A7A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7" y="797835"/>
            <a:ext cx="4234544" cy="346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CE11971-7CDD-E0FB-1CDF-80F2D221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fr-CA"/>
              <a:t>Scores ÉTÉ EMET (contre ms50a)</a:t>
            </a:r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4177E4-87C3-ACBB-2899-56F8485A8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262" y="842607"/>
            <a:ext cx="2233353" cy="59436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ECBD52A-2585-6280-F5BE-EE80D7B8C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615" y="842607"/>
            <a:ext cx="2296731" cy="596185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295A392-9A28-4D90-8F8B-813187A87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687" y="3895819"/>
            <a:ext cx="3642754" cy="298043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75E1E80-F397-6363-28F4-2B10175347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11628"/>
            <a:ext cx="4234543" cy="346462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3EFEFF9-2FD7-1F81-829C-1A18229BBEC3}"/>
              </a:ext>
            </a:extLst>
          </p:cNvPr>
          <p:cNvSpPr txBox="1"/>
          <p:nvPr/>
        </p:nvSpPr>
        <p:spPr>
          <a:xfrm>
            <a:off x="10099604" y="143489"/>
            <a:ext cx="20356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https://emet-usr.science.gc.ca/emet/frc001/24-1-5546.disp</a:t>
            </a:r>
          </a:p>
        </p:txBody>
      </p:sp>
    </p:spTree>
    <p:extLst>
      <p:ext uri="{BB962C8B-B14F-4D97-AF65-F5344CB8AC3E}">
        <p14:creationId xmlns:p14="http://schemas.microsoft.com/office/powerpoint/2010/main" val="4048858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A0FD14-C86A-7E85-B2A8-D9122C9A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A34E14-35C6-C804-3F48-F5F42C7F4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fr-CA"/>
              <a:t>Scores HIV EMET (contre PA3aAGG)</a:t>
            </a:r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30E5CFB-AF57-FB1F-AC11-5F66F0F7D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26" y="1010651"/>
            <a:ext cx="4262044" cy="348712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CF00CE1-0252-2A27-1B87-D7491AFA1709}"/>
              </a:ext>
            </a:extLst>
          </p:cNvPr>
          <p:cNvSpPr txBox="1"/>
          <p:nvPr/>
        </p:nvSpPr>
        <p:spPr>
          <a:xfrm>
            <a:off x="9917460" y="143489"/>
            <a:ext cx="21502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https://emet-usr.science.gc.ca/emet/dpr001/19-2-48933.disp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69FD9C-D743-4065-20D0-2BC84738E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5" y="3811224"/>
            <a:ext cx="4262043" cy="348712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13B391E-C6F9-6D4F-F2E7-2D7342AE4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567" y="1214239"/>
            <a:ext cx="2758345" cy="519397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9EE2763-F40C-A907-5A61-9E0BAA6CC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776" y="1214239"/>
            <a:ext cx="2789241" cy="519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8063E1-10F9-648D-7977-97FF4807E270}"/>
              </a:ext>
            </a:extLst>
          </p:cNvPr>
          <p:cNvSpPr/>
          <p:nvPr/>
        </p:nvSpPr>
        <p:spPr>
          <a:xfrm>
            <a:off x="5314720" y="1111259"/>
            <a:ext cx="1003125" cy="539993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336D8B-DFCA-900F-F5DE-AA8A0EB0BF85}"/>
              </a:ext>
            </a:extLst>
          </p:cNvPr>
          <p:cNvSpPr/>
          <p:nvPr/>
        </p:nvSpPr>
        <p:spPr>
          <a:xfrm>
            <a:off x="8080268" y="1176049"/>
            <a:ext cx="1003125" cy="539993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FEB5F14-253D-5550-384A-C8A8DF82D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830" y="3811224"/>
            <a:ext cx="3646714" cy="298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17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BA4F83-DE3C-0337-0ECE-CD76D5EF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Slides from Danahé and Fred (RPN-A)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26162C-F155-E299-D62E-BBACFBB38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8368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599F5D-0CAD-936D-6A6D-EB04A108FE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/>
              <a:t>Code «groupe A »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0B1B08-D6A7-D388-DF2D-98CD16A3EA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/>
              <a:t>Frédérick Chosson et Danahé Paquin-Ricard</a:t>
            </a:r>
          </a:p>
          <a:p>
            <a:r>
              <a:rPr lang="fr-CA"/>
              <a:t>Update au 10 septembre 2025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42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C88ECD-C3C3-E267-9A84-E864028D8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Code: </a:t>
            </a:r>
            <a:r>
              <a:rPr lang="en-US"/>
              <a:t>5.3.0-a15/CodeA</a:t>
            </a:r>
            <a:r>
              <a:rPr lang="fr-CA"/>
              <a:t> 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423504-9C69-B4C6-4B8C-95E76C955F4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2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Qv_old</a:t>
            </a:r>
            <a:r>
              <a:rPr lang="en-US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t_old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Forks </a:t>
            </a:r>
            <a:r>
              <a:rPr lang="en-US" sz="12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SPCF_on</a:t>
            </a:r>
            <a:r>
              <a:rPr lang="en-US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/off avoided.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Default 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diag_effc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!Limit total condensation (incl. activation) and 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evaporation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saturation 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adjustment</a:t>
            </a: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buNone/>
            </a:pP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ajoute </a:t>
            </a:r>
            <a:r>
              <a:rPr lang="fr-CA" sz="1200" b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qevp_satadj</a:t>
            </a: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pour l’ajustement à la saturation. Elle se fait maintenant en deux parties : 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ajustement w.r.t </a:t>
            </a:r>
            <a:r>
              <a:rPr lang="fr-CA" sz="12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qcon_satdj</a:t>
            </a: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dans </a:t>
            </a:r>
            <a:r>
              <a:rPr lang="en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CF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ajustement w.r.t. </a:t>
            </a:r>
            <a:r>
              <a:rPr lang="fr-CA" sz="1200" b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qevp_satadj</a:t>
            </a: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dans </a:t>
            </a:r>
            <a:r>
              <a:rPr lang="fr-CA" sz="12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clear_sky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Fix : 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(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qc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iSCF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&gt; 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qsmall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partout ou c est important; pas de 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qc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&gt; </a:t>
            </a:r>
            <a:r>
              <a:rPr lang="fr-CA" sz="1200" i="1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qsmall</a:t>
            </a:r>
            <a:r>
              <a:rPr lang="fr-CA" sz="1200" i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fr-CA" sz="12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Cohérence.</a:t>
            </a:r>
            <a:endParaRPr lang="en-US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5590D50-226F-D4A5-0B55-D626473015F8}"/>
              </a:ext>
            </a:extLst>
          </p:cNvPr>
          <p:cNvSpPr txBox="1"/>
          <p:nvPr/>
        </p:nvSpPr>
        <p:spPr>
          <a:xfrm>
            <a:off x="8428979" y="681037"/>
            <a:ext cx="3594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/fs/site5/</a:t>
            </a:r>
            <a:r>
              <a:rPr lang="en-US" err="1"/>
              <a:t>eccc</a:t>
            </a:r>
            <a:r>
              <a:rPr lang="en-US"/>
              <a:t>/</a:t>
            </a:r>
            <a:r>
              <a:rPr lang="en-US" err="1"/>
              <a:t>cmd</a:t>
            </a:r>
            <a:r>
              <a:rPr lang="en-US"/>
              <a:t>/x/frc001/SCM/home/gem/5.3.0-a15/CodeA</a:t>
            </a:r>
          </a:p>
        </p:txBody>
      </p:sp>
    </p:spTree>
    <p:extLst>
      <p:ext uri="{BB962C8B-B14F-4D97-AF65-F5344CB8AC3E}">
        <p14:creationId xmlns:p14="http://schemas.microsoft.com/office/powerpoint/2010/main" val="1535838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09BE98-9B94-14D6-2CAA-1B66227E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Explications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892CB5-E1E8-242B-1DBB-9A66DF00D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P3_main : First call to </a:t>
            </a:r>
            <a:r>
              <a:rPr lang="en-US" err="1"/>
              <a:t>compute_SCFP</a:t>
            </a:r>
            <a:r>
              <a:rPr lang="en-US"/>
              <a:t> : input </a:t>
            </a:r>
            <a:r>
              <a:rPr lang="en-US" err="1"/>
              <a:t>Qv_old</a:t>
            </a:r>
            <a:r>
              <a:rPr lang="en-US"/>
              <a:t>, </a:t>
            </a:r>
            <a:r>
              <a:rPr lang="en-US" err="1"/>
              <a:t>t_old</a:t>
            </a:r>
            <a:r>
              <a:rPr lang="en-US"/>
              <a:t> (temps </a:t>
            </a:r>
            <a:r>
              <a:rPr lang="en-US" err="1"/>
              <a:t>moins</a:t>
            </a:r>
            <a:r>
              <a:rPr lang="en-US"/>
              <a:t>) instead of Qv, T (temps plus)</a:t>
            </a:r>
          </a:p>
          <a:p>
            <a:pPr lvl="0"/>
            <a:r>
              <a:rPr lang="fr-CA"/>
              <a:t>P3_main : commente lignes 3467-3473 (qui étaient : if not </a:t>
            </a:r>
            <a:r>
              <a:rPr lang="fr-CA" err="1"/>
              <a:t>SCPF_on</a:t>
            </a:r>
            <a:r>
              <a:rPr lang="fr-CA"/>
              <a:t>, sursaturations non calcules via </a:t>
            </a:r>
            <a:r>
              <a:rPr lang="fr-CA" err="1"/>
              <a:t>Qv_cld</a:t>
            </a:r>
            <a:r>
              <a:rPr lang="fr-CA"/>
              <a:t>/</a:t>
            </a:r>
            <a:r>
              <a:rPr lang="fr-CA" err="1"/>
              <a:t>Qv_clr</a:t>
            </a:r>
            <a:r>
              <a:rPr lang="fr-CA"/>
              <a:t>). </a:t>
            </a:r>
            <a:r>
              <a:rPr lang="en-US"/>
              <a:t>Fork </a:t>
            </a:r>
            <a:r>
              <a:rPr lang="en-US" err="1"/>
              <a:t>SPCF_on</a:t>
            </a:r>
            <a:r>
              <a:rPr lang="en-US"/>
              <a:t>/off avoided.</a:t>
            </a:r>
          </a:p>
          <a:p>
            <a:pPr lvl="0"/>
            <a:r>
              <a:rPr lang="fr-CA"/>
              <a:t>P3_main : commente lignes 2425-2427 (</a:t>
            </a:r>
            <a:r>
              <a:rPr lang="fr-CA" err="1"/>
              <a:t>log_nucleationPossible</a:t>
            </a:r>
            <a:r>
              <a:rPr lang="fr-CA"/>
              <a:t> dans le cas </a:t>
            </a:r>
            <a:r>
              <a:rPr lang="fr-CA" err="1"/>
              <a:t>SCPF_on</a:t>
            </a:r>
            <a:r>
              <a:rPr lang="fr-CA"/>
              <a:t>=false)</a:t>
            </a:r>
            <a:endParaRPr lang="en-US"/>
          </a:p>
          <a:p>
            <a:pPr lvl="0"/>
            <a:r>
              <a:rPr lang="en-US"/>
              <a:t>P3_main : </a:t>
            </a:r>
            <a:r>
              <a:rPr lang="en-US" err="1"/>
              <a:t>commente</a:t>
            </a:r>
            <a:r>
              <a:rPr lang="en-US"/>
              <a:t> </a:t>
            </a:r>
            <a:r>
              <a:rPr lang="en-US" err="1"/>
              <a:t>lignes</a:t>
            </a:r>
            <a:r>
              <a:rPr lang="en-US"/>
              <a:t> 2544-2546 skip all process in case of </a:t>
            </a:r>
            <a:r>
              <a:rPr lang="en-US" err="1"/>
              <a:t>SCPF_on</a:t>
            </a:r>
            <a:r>
              <a:rPr lang="en-US"/>
              <a:t> = false</a:t>
            </a:r>
          </a:p>
          <a:p>
            <a:pPr lvl="0"/>
            <a:r>
              <a:rPr lang="en-US"/>
              <a:t>P3_main : </a:t>
            </a:r>
            <a:r>
              <a:rPr lang="en-US" err="1"/>
              <a:t>lignes</a:t>
            </a:r>
            <a:r>
              <a:rPr lang="en-US"/>
              <a:t> 3618-3621 remove Fork </a:t>
            </a:r>
            <a:r>
              <a:rPr lang="en-US" err="1"/>
              <a:t>scpf_ON</a:t>
            </a:r>
            <a:r>
              <a:rPr lang="en-US"/>
              <a:t>/OFF </a:t>
            </a:r>
            <a:r>
              <a:rPr lang="en-US" err="1"/>
              <a:t>sup_cld</a:t>
            </a:r>
            <a:r>
              <a:rPr lang="en-US"/>
              <a:t> et </a:t>
            </a:r>
            <a:r>
              <a:rPr lang="en-US" err="1"/>
              <a:t>supi_cld</a:t>
            </a:r>
            <a:r>
              <a:rPr lang="en-US"/>
              <a:t> passe par </a:t>
            </a:r>
            <a:r>
              <a:rPr lang="en-US" err="1"/>
              <a:t>Qv_cld</a:t>
            </a:r>
            <a:endParaRPr lang="en-US"/>
          </a:p>
          <a:p>
            <a:pPr lvl="0"/>
            <a:r>
              <a:rPr lang="fr-CA"/>
              <a:t>Default </a:t>
            </a:r>
            <a:r>
              <a:rPr lang="fr-CA" i="1" err="1"/>
              <a:t>diag_effc</a:t>
            </a:r>
            <a:r>
              <a:rPr lang="fr-CA" i="1"/>
              <a:t> = 0.</a:t>
            </a:r>
            <a:r>
              <a:rPr lang="fr-CA"/>
              <a:t>  au lieu de 10microns pour ne pas compter dans les moyennes.</a:t>
            </a:r>
            <a:endParaRPr lang="en-US"/>
          </a:p>
          <a:p>
            <a:pPr lvl="0"/>
            <a:r>
              <a:rPr lang="fr-CA"/>
              <a:t>P3_main : </a:t>
            </a:r>
            <a:r>
              <a:rPr lang="fr-CA" i="1"/>
              <a:t>!Limit total condensation (incl. activation) and </a:t>
            </a:r>
            <a:r>
              <a:rPr lang="fr-CA" i="1" err="1"/>
              <a:t>evaporation</a:t>
            </a:r>
            <a:r>
              <a:rPr lang="fr-CA" i="1"/>
              <a:t> to saturation </a:t>
            </a:r>
            <a:r>
              <a:rPr lang="fr-CA" i="1" err="1"/>
              <a:t>adjustment</a:t>
            </a:r>
            <a:r>
              <a:rPr lang="fr-CA"/>
              <a:t> ajoute </a:t>
            </a:r>
            <a:r>
              <a:rPr lang="fr-CA" b="1" err="1"/>
              <a:t>qevp_satadj</a:t>
            </a:r>
            <a:r>
              <a:rPr lang="fr-CA"/>
              <a:t> pour l’ajustement a la saturation. Elle se fait maintenant en deux parties : ajustement w.r.t </a:t>
            </a:r>
            <a:r>
              <a:rPr lang="fr-CA" err="1"/>
              <a:t>qcon_satdj</a:t>
            </a:r>
            <a:r>
              <a:rPr lang="fr-CA"/>
              <a:t> dans la partie </a:t>
            </a:r>
            <a:r>
              <a:rPr lang="fr-CA" err="1"/>
              <a:t>cloudy</a:t>
            </a:r>
            <a:r>
              <a:rPr lang="fr-CA"/>
              <a:t> et ajustement w.r.t. </a:t>
            </a:r>
            <a:r>
              <a:rPr lang="fr-CA" b="1" err="1"/>
              <a:t>qevp_satadj</a:t>
            </a:r>
            <a:r>
              <a:rPr lang="fr-CA"/>
              <a:t> pour la partie </a:t>
            </a:r>
            <a:r>
              <a:rPr lang="fr-CA" err="1"/>
              <a:t>clear</a:t>
            </a:r>
            <a:r>
              <a:rPr lang="fr-CA"/>
              <a:t> sky.  </a:t>
            </a:r>
            <a:endParaRPr lang="en-US"/>
          </a:p>
          <a:p>
            <a:pPr lvl="0"/>
            <a:r>
              <a:rPr lang="fr-CA"/>
              <a:t>P3_main : </a:t>
            </a:r>
            <a:r>
              <a:rPr lang="fr-CA" i="1"/>
              <a:t>!Limit total </a:t>
            </a:r>
            <a:r>
              <a:rPr lang="fr-CA" i="1" err="1"/>
              <a:t>deposition</a:t>
            </a:r>
            <a:r>
              <a:rPr lang="fr-CA" i="1"/>
              <a:t> (incl. </a:t>
            </a:r>
            <a:r>
              <a:rPr lang="fr-CA" i="1" err="1"/>
              <a:t>nucleation</a:t>
            </a:r>
            <a:r>
              <a:rPr lang="fr-CA" i="1"/>
              <a:t>) and sublimation to saturation </a:t>
            </a:r>
            <a:r>
              <a:rPr lang="fr-CA" i="1" err="1"/>
              <a:t>adjustment</a:t>
            </a:r>
            <a:r>
              <a:rPr lang="fr-CA"/>
              <a:t> mieux prendre en compte </a:t>
            </a:r>
            <a:r>
              <a:rPr lang="fr-CA" err="1"/>
              <a:t>cond</a:t>
            </a:r>
            <a:r>
              <a:rPr lang="fr-CA"/>
              <a:t>/</a:t>
            </a:r>
            <a:r>
              <a:rPr lang="fr-CA" err="1"/>
              <a:t>evap</a:t>
            </a:r>
            <a:r>
              <a:rPr lang="fr-CA"/>
              <a:t> de la pluie. Seulement dans la partie nuageuse pour la nouvelle estimation de </a:t>
            </a:r>
            <a:r>
              <a:rPr lang="fr-CA" err="1"/>
              <a:t>Qv</a:t>
            </a:r>
            <a:r>
              <a:rPr lang="fr-CA"/>
              <a:t> in-cloud.</a:t>
            </a:r>
            <a:endParaRPr lang="en-US"/>
          </a:p>
          <a:p>
            <a:pPr lvl="0"/>
            <a:r>
              <a:rPr lang="en-US" err="1"/>
              <a:t>Compute_SCPF</a:t>
            </a:r>
            <a:r>
              <a:rPr lang="en-US"/>
              <a:t> : </a:t>
            </a:r>
            <a:r>
              <a:rPr lang="en-US" err="1"/>
              <a:t>Qv_clr</a:t>
            </a:r>
            <a:r>
              <a:rPr lang="en-US"/>
              <a:t>=Qv (instead of 0) if SCPF is OFF (</a:t>
            </a:r>
            <a:r>
              <a:rPr lang="en-US" err="1"/>
              <a:t>ligne</a:t>
            </a:r>
            <a:r>
              <a:rPr lang="en-US"/>
              <a:t> 1893)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22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34AC45-7E30-8B30-292B-4EACAE8F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747" y="5832317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/>
              <a:t>“Mass conservation”</a:t>
            </a: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Nouvelle variable: </a:t>
            </a:r>
            <a:r>
              <a:rPr lang="en-US" sz="2700" b="1" kern="120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qevap_satadj</a:t>
            </a:r>
            <a:endParaRPr lang="en-US" sz="3600" b="1" kern="12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DDD5A86-7C57-5839-9071-21386779B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87" y="87549"/>
            <a:ext cx="11664368" cy="56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23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4EF5E-274D-C171-A314-91F7551C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B94A69-240B-29CD-13A1-A0A2F4D19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3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“Mass conservation”	 suite du code (</a:t>
            </a:r>
            <a:r>
              <a:rPr lang="en-US" sz="3300" kern="120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inchangé</a:t>
            </a:r>
            <a:r>
              <a:rPr lang="en-US" sz="33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)</a:t>
            </a:r>
            <a:endParaRPr lang="en-US" sz="3300" b="1" kern="12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Espace réservé du contenu 4">
            <a:extLst>
              <a:ext uri="{FF2B5EF4-FFF2-40B4-BE49-F238E27FC236}">
                <a16:creationId xmlns:a16="http://schemas.microsoft.com/office/drawing/2014/main" id="{FB06E8A7-BC45-12D9-3B8C-1EA07C591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600" y="579473"/>
            <a:ext cx="9998798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0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0E2C86-00D7-7250-998A-5788EF11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SCM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620BE1-CFCA-97E9-2B1E-C82CBBDF5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67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2D2B483C-8910-5926-1574-9A4267045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1407" y="-1"/>
            <a:ext cx="3520594" cy="476206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7402A3E-03B9-2421-2C0E-425219064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6" y="0"/>
            <a:ext cx="1714257" cy="3478845"/>
          </a:xfrm>
        </p:spPr>
        <p:txBody>
          <a:bodyPr/>
          <a:lstStyle/>
          <a:p>
            <a:r>
              <a:rPr lang="fr-CA" err="1"/>
              <a:t>Tdiag</a:t>
            </a:r>
            <a:r>
              <a:rPr lang="fr-CA"/>
              <a:t> </a:t>
            </a:r>
            <a:br>
              <a:rPr lang="fr-CA"/>
            </a:br>
            <a:r>
              <a:rPr lang="fr-CA" sz="1600"/>
              <a:t>( en mode PA3a)</a:t>
            </a:r>
            <a:br>
              <a:rPr lang="fr-CA" sz="1600"/>
            </a:br>
            <a:br>
              <a:rPr lang="fr-CA" sz="1600"/>
            </a:br>
            <a:r>
              <a:rPr lang="fr-CA" sz="1600"/>
              <a:t>- </a:t>
            </a:r>
            <a:r>
              <a:rPr lang="fr-CA" sz="1600" b="1">
                <a:solidFill>
                  <a:srgbClr val="7030A0"/>
                </a:solidFill>
              </a:rPr>
              <a:t>légère diminution de PR</a:t>
            </a:r>
            <a:br>
              <a:rPr lang="fr-CA" sz="1600"/>
            </a:br>
            <a:br>
              <a:rPr lang="fr-CA" sz="1600"/>
            </a:br>
            <a:r>
              <a:rPr lang="fr-CA" sz="1600" b="1">
                <a:solidFill>
                  <a:schemeClr val="bg2">
                    <a:lumMod val="50000"/>
                  </a:schemeClr>
                </a:solidFill>
              </a:rPr>
              <a:t>- légère augmentation de AP</a:t>
            </a:r>
            <a:br>
              <a:rPr lang="fr-CA" sz="1600" b="1">
                <a:solidFill>
                  <a:schemeClr val="bg2">
                    <a:lumMod val="50000"/>
                  </a:schemeClr>
                </a:solidFill>
              </a:rPr>
            </a:br>
            <a:br>
              <a:rPr lang="fr-CA" sz="1600" b="1">
                <a:solidFill>
                  <a:schemeClr val="bg2">
                    <a:lumMod val="50000"/>
                  </a:schemeClr>
                </a:solidFill>
              </a:rPr>
            </a:br>
            <a:r>
              <a:rPr lang="fr-CA" sz="1600" b="1">
                <a:solidFill>
                  <a:srgbClr val="0070C0"/>
                </a:solidFill>
              </a:rPr>
              <a:t>- Plus de liquide</a:t>
            </a:r>
            <a:endParaRPr lang="en-US" sz="1600" b="1">
              <a:solidFill>
                <a:srgbClr val="0070C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742F933-0F05-B962-3083-11CC3AD590EE}"/>
              </a:ext>
            </a:extLst>
          </p:cNvPr>
          <p:cNvSpPr txBox="1"/>
          <p:nvPr/>
        </p:nvSpPr>
        <p:spPr>
          <a:xfrm>
            <a:off x="0" y="4724768"/>
            <a:ext cx="14635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hlinkClick r:id="rId3"/>
              </a:rPr>
              <a:t>https://hpfx.science.gc.ca/~dpr001/HRDPS_TDIAG_profiles.html</a:t>
            </a:r>
            <a:endParaRPr lang="en-US" sz="1200"/>
          </a:p>
          <a:p>
            <a:r>
              <a:rPr lang="en-US" sz="1200" err="1"/>
              <a:t>Expérience</a:t>
            </a:r>
            <a:r>
              <a:rPr lang="en-US" sz="1200"/>
              <a:t>: 530a14_PA3aAGG_530a14_grA0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2EBDFB4-4D9F-88C0-FA44-C5630A9A0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543" y="20378"/>
            <a:ext cx="3520595" cy="481595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DE142AA-4DF1-4F7C-6EE0-95C0C5AEAE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277"/>
          <a:stretch>
            <a:fillRect/>
          </a:stretch>
        </p:blipFill>
        <p:spPr>
          <a:xfrm>
            <a:off x="1682250" y="4669216"/>
            <a:ext cx="3576469" cy="20676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1E5E682-8C44-7F15-883C-F686E54FD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7760" y="0"/>
            <a:ext cx="3520595" cy="472476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E570256-6767-ECFE-1B38-993713A20C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2175" y="4669216"/>
            <a:ext cx="3545120" cy="20676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2DCF7D1-8616-5907-4F48-490FC808901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027" b="45966"/>
          <a:stretch>
            <a:fillRect/>
          </a:stretch>
        </p:blipFill>
        <p:spPr>
          <a:xfrm>
            <a:off x="8708890" y="4724768"/>
            <a:ext cx="3422153" cy="1984272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AD580F7B-49EF-F660-B90C-B006C6E76BEC}"/>
              </a:ext>
            </a:extLst>
          </p:cNvPr>
          <p:cNvSpPr txBox="1"/>
          <p:nvPr/>
        </p:nvSpPr>
        <p:spPr>
          <a:xfrm>
            <a:off x="3375992" y="3630099"/>
            <a:ext cx="758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ÉTÉ                                                                    AUT                                                                   HIV</a:t>
            </a:r>
            <a:endParaRPr lang="en-US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F4238B8-79EA-41BB-04DE-EC07A3165BF1}"/>
              </a:ext>
            </a:extLst>
          </p:cNvPr>
          <p:cNvSpPr/>
          <p:nvPr/>
        </p:nvSpPr>
        <p:spPr>
          <a:xfrm>
            <a:off x="1682250" y="20378"/>
            <a:ext cx="3504888" cy="6817244"/>
          </a:xfrm>
          <a:prstGeom prst="roundRect">
            <a:avLst>
              <a:gd name="adj" fmla="val 6268"/>
            </a:avLst>
          </a:prstGeom>
          <a:solidFill>
            <a:srgbClr val="FFFF00">
              <a:alpha val="2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6A68483-99FD-20F9-8CE3-DF3C2AD6D630}"/>
              </a:ext>
            </a:extLst>
          </p:cNvPr>
          <p:cNvSpPr/>
          <p:nvPr/>
        </p:nvSpPr>
        <p:spPr>
          <a:xfrm>
            <a:off x="5207828" y="17330"/>
            <a:ext cx="3500123" cy="6817244"/>
          </a:xfrm>
          <a:prstGeom prst="roundRect">
            <a:avLst>
              <a:gd name="adj" fmla="val 6268"/>
            </a:avLst>
          </a:prstGeom>
          <a:solidFill>
            <a:schemeClr val="accent2">
              <a:lumMod val="75000"/>
              <a:alpha val="2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1E84C99-59A2-8507-9BBA-AD19E9CAFB76}"/>
              </a:ext>
            </a:extLst>
          </p:cNvPr>
          <p:cNvSpPr/>
          <p:nvPr/>
        </p:nvSpPr>
        <p:spPr>
          <a:xfrm>
            <a:off x="8728422" y="17330"/>
            <a:ext cx="3451561" cy="6817244"/>
          </a:xfrm>
          <a:prstGeom prst="roundRect">
            <a:avLst>
              <a:gd name="adj" fmla="val 6268"/>
            </a:avLst>
          </a:prstGeom>
          <a:solidFill>
            <a:srgbClr val="00B0F0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24D3F-FF75-CC27-2EB0-11510423BB51}"/>
              </a:ext>
            </a:extLst>
          </p:cNvPr>
          <p:cNvSpPr/>
          <p:nvPr/>
        </p:nvSpPr>
        <p:spPr>
          <a:xfrm>
            <a:off x="4187952" y="274320"/>
            <a:ext cx="210312" cy="29260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F0353E-94AB-D277-47D4-59B750EE423B}"/>
              </a:ext>
            </a:extLst>
          </p:cNvPr>
          <p:cNvSpPr/>
          <p:nvPr/>
        </p:nvSpPr>
        <p:spPr>
          <a:xfrm>
            <a:off x="7698221" y="280416"/>
            <a:ext cx="210312" cy="29260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363067-EFD6-8D32-69F6-973AC2D73194}"/>
              </a:ext>
            </a:extLst>
          </p:cNvPr>
          <p:cNvSpPr/>
          <p:nvPr/>
        </p:nvSpPr>
        <p:spPr>
          <a:xfrm>
            <a:off x="11151629" y="274320"/>
            <a:ext cx="210312" cy="29260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21E12A-F002-0C6B-154B-BDC38AA4738B}"/>
              </a:ext>
            </a:extLst>
          </p:cNvPr>
          <p:cNvSpPr/>
          <p:nvPr/>
        </p:nvSpPr>
        <p:spPr>
          <a:xfrm>
            <a:off x="2954274" y="34047"/>
            <a:ext cx="282653" cy="29260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4B1DA8-629B-5C0E-335C-1024E500CB0A}"/>
              </a:ext>
            </a:extLst>
          </p:cNvPr>
          <p:cNvSpPr/>
          <p:nvPr/>
        </p:nvSpPr>
        <p:spPr>
          <a:xfrm>
            <a:off x="6479688" y="34047"/>
            <a:ext cx="282653" cy="29260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FD94AC-FEF7-22EA-1AF5-62D5CF71E654}"/>
              </a:ext>
            </a:extLst>
          </p:cNvPr>
          <p:cNvSpPr/>
          <p:nvPr/>
        </p:nvSpPr>
        <p:spPr>
          <a:xfrm>
            <a:off x="9953335" y="34047"/>
            <a:ext cx="282653" cy="29260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3F666E-9398-9471-36BE-A78EB3EE10A7}"/>
              </a:ext>
            </a:extLst>
          </p:cNvPr>
          <p:cNvSpPr/>
          <p:nvPr/>
        </p:nvSpPr>
        <p:spPr>
          <a:xfrm>
            <a:off x="3614855" y="274320"/>
            <a:ext cx="282653" cy="29260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6D79CE-EBFD-834A-0E45-171BBBBB6BD7}"/>
              </a:ext>
            </a:extLst>
          </p:cNvPr>
          <p:cNvSpPr/>
          <p:nvPr/>
        </p:nvSpPr>
        <p:spPr>
          <a:xfrm>
            <a:off x="7096204" y="279607"/>
            <a:ext cx="282653" cy="29260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1955A7-0D0C-877A-99B6-EDB6DE1F9EE9}"/>
              </a:ext>
            </a:extLst>
          </p:cNvPr>
          <p:cNvSpPr/>
          <p:nvPr/>
        </p:nvSpPr>
        <p:spPr>
          <a:xfrm>
            <a:off x="10569851" y="274320"/>
            <a:ext cx="282653" cy="29260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39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40833-1314-9570-FCA3-50C236F3A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fr-CA"/>
              <a:t>Vues 2D cas d’automne @024h</a:t>
            </a:r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4E7E5E-18BB-54EE-0E1A-58B443678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490" y="1920889"/>
            <a:ext cx="3517119" cy="233888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7FEF70F-707B-BF89-B89C-571DC1742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489" y="4444850"/>
            <a:ext cx="3517120" cy="233888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C06A43F-036A-5A2D-FF86-6DDF176AD44E}"/>
              </a:ext>
            </a:extLst>
          </p:cNvPr>
          <p:cNvSpPr txBox="1"/>
          <p:nvPr/>
        </p:nvSpPr>
        <p:spPr>
          <a:xfrm>
            <a:off x="123150" y="2861869"/>
            <a:ext cx="1173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CTRL= </a:t>
            </a:r>
          </a:p>
          <a:p>
            <a:r>
              <a:rPr lang="en-CA" b="1"/>
              <a:t>PA3aAGG</a:t>
            </a:r>
            <a:endParaRPr lang="en-US" b="1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DC3CA3D-8368-6E78-6250-ED36EB74F1F4}"/>
              </a:ext>
            </a:extLst>
          </p:cNvPr>
          <p:cNvSpPr txBox="1"/>
          <p:nvPr/>
        </p:nvSpPr>
        <p:spPr>
          <a:xfrm>
            <a:off x="34829" y="5622570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CodeA</a:t>
            </a:r>
            <a:endParaRPr lang="en-US" b="1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B6A890E-99BF-B204-E541-2A4653DFBC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277"/>
          <a:stretch>
            <a:fillRect/>
          </a:stretch>
        </p:blipFill>
        <p:spPr>
          <a:xfrm>
            <a:off x="4674448" y="4444850"/>
            <a:ext cx="3661906" cy="234716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761FB66-8E5C-79EB-A408-0024AD8DF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2449" y="1925234"/>
            <a:ext cx="3517119" cy="233888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DFE3A1D-2D01-E43E-9DD5-4C6B802DE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2448" y="4453128"/>
            <a:ext cx="3517120" cy="233888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BA8E297-D9A2-CB73-ED7D-A96D9D20CF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56" t="-427" r="51316" b="427"/>
          <a:stretch>
            <a:fillRect/>
          </a:stretch>
        </p:blipFill>
        <p:spPr>
          <a:xfrm>
            <a:off x="4810846" y="1898326"/>
            <a:ext cx="3611602" cy="234716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534D022-0FA2-8FFF-D896-77D7C42ABA6F}"/>
              </a:ext>
            </a:extLst>
          </p:cNvPr>
          <p:cNvSpPr txBox="1"/>
          <p:nvPr/>
        </p:nvSpPr>
        <p:spPr>
          <a:xfrm>
            <a:off x="4810846" y="1027906"/>
            <a:ext cx="3126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/>
              <a:t>MPNC</a:t>
            </a:r>
          </a:p>
          <a:p>
            <a:pPr algn="ctr"/>
            <a:r>
              <a:rPr lang="en-CA" sz="2000" b="1" err="1"/>
              <a:t>hyb</a:t>
            </a:r>
            <a:r>
              <a:rPr lang="en-CA" sz="2000" b="1"/>
              <a:t>=0.87 20221024_024</a:t>
            </a:r>
            <a:endParaRPr lang="en-US" sz="1400" b="1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282A2E3-957F-7276-F630-2AD0383E6B24}"/>
              </a:ext>
            </a:extLst>
          </p:cNvPr>
          <p:cNvSpPr txBox="1"/>
          <p:nvPr/>
        </p:nvSpPr>
        <p:spPr>
          <a:xfrm>
            <a:off x="1417961" y="1089892"/>
            <a:ext cx="3126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/>
              <a:t>MPQC</a:t>
            </a:r>
          </a:p>
          <a:p>
            <a:pPr algn="ctr"/>
            <a:r>
              <a:rPr lang="en-CA" sz="2000" b="1" err="1"/>
              <a:t>hyb</a:t>
            </a:r>
            <a:r>
              <a:rPr lang="en-CA" sz="2000" b="1"/>
              <a:t>=0.87 20221024_024</a:t>
            </a:r>
            <a:endParaRPr lang="en-US" sz="1400" b="1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9A468AF-8791-4057-C08D-51AF8D9D0A97}"/>
              </a:ext>
            </a:extLst>
          </p:cNvPr>
          <p:cNvSpPr txBox="1"/>
          <p:nvPr/>
        </p:nvSpPr>
        <p:spPr>
          <a:xfrm>
            <a:off x="8617920" y="1027905"/>
            <a:ext cx="3126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/>
              <a:t>REC</a:t>
            </a:r>
          </a:p>
          <a:p>
            <a:pPr algn="ctr"/>
            <a:r>
              <a:rPr lang="en-CA" sz="2000" b="1" err="1"/>
              <a:t>hyb</a:t>
            </a:r>
            <a:r>
              <a:rPr lang="en-CA" sz="2000" b="1"/>
              <a:t>=0.87 20221024_024</a:t>
            </a: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3462550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B4DEFC-4F2E-2608-BC29-046A24307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fr-CA"/>
              <a:t>Scores ÉTÉ-HIV ARCAD (contre PA3aAGG)</a:t>
            </a:r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3BFC2B6-80B5-DADB-0BB9-EB1897D9B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772" y="1189407"/>
            <a:ext cx="3978156" cy="530420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E9282A2-2023-C6ED-55D6-211B13B80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1189407"/>
            <a:ext cx="3978156" cy="530420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9D865F4-20AD-5C8F-0751-11FE289D1EFB}"/>
              </a:ext>
            </a:extLst>
          </p:cNvPr>
          <p:cNvSpPr txBox="1"/>
          <p:nvPr/>
        </p:nvSpPr>
        <p:spPr>
          <a:xfrm>
            <a:off x="10046941" y="5623904"/>
            <a:ext cx="1868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4"/>
              </a:rPr>
              <a:t>Scores </a:t>
            </a:r>
            <a:r>
              <a:rPr lang="en-US" err="1">
                <a:hlinkClick r:id="rId4"/>
              </a:rPr>
              <a:t>arcad</a:t>
            </a:r>
            <a:r>
              <a:rPr lang="en-US">
                <a:hlinkClick r:id="rId4"/>
              </a:rPr>
              <a:t> en altitude et en surface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043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E78F1-520F-3F43-95AC-2DE5592D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244337-810D-6238-7F8E-2988E42F2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fr-CA"/>
              <a:t>Scores ÉTÉ-HIV ARCAD (contre MOSA6 ms50a)</a:t>
            </a:r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DD767D0-B68E-96A4-8159-43B15A530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283" y="1010653"/>
            <a:ext cx="4371819" cy="582909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57DCFE2-4097-7920-9AD4-BF4A8C889384}"/>
              </a:ext>
            </a:extLst>
          </p:cNvPr>
          <p:cNvSpPr txBox="1"/>
          <p:nvPr/>
        </p:nvSpPr>
        <p:spPr>
          <a:xfrm>
            <a:off x="9828656" y="6065647"/>
            <a:ext cx="2363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hlinkClick r:id="rId3"/>
              </a:rPr>
              <a:t>Scores </a:t>
            </a:r>
            <a:r>
              <a:rPr lang="en-US" sz="1600" err="1">
                <a:hlinkClick r:id="rId3"/>
              </a:rPr>
              <a:t>arcad</a:t>
            </a:r>
            <a:r>
              <a:rPr lang="en-US" sz="1600">
                <a:hlinkClick r:id="rId3"/>
              </a:rPr>
              <a:t> en altitude et en surface</a:t>
            </a:r>
            <a:endParaRPr lang="en-US" sz="160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CBBD9B7-83D1-A8A3-35EF-E637795AF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092" y="992398"/>
            <a:ext cx="4371819" cy="582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96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014A1-0755-9570-2936-79FC8B37F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AF2AF7-05FF-6107-3A31-999FB4057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fr-CA"/>
              <a:t>Scores ÉTÉ EMET (contre PA3aAGG)</a:t>
            </a:r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E8D5D72-3F07-44ED-9FD1-126007159991}"/>
              </a:ext>
            </a:extLst>
          </p:cNvPr>
          <p:cNvSpPr txBox="1"/>
          <p:nvPr/>
        </p:nvSpPr>
        <p:spPr>
          <a:xfrm>
            <a:off x="9725528" y="18255"/>
            <a:ext cx="24664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https://emet-usr.science.gc.ca/emet/dpr001/19-2-48625.disp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0A7CE21-0D3F-BF6F-17B4-3471985B4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73" y="950808"/>
            <a:ext cx="4106492" cy="335985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4B91522-0FC8-533A-CEB6-EDB931A83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3" y="3635646"/>
            <a:ext cx="4106492" cy="335985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0A28F33-1B5F-AB09-2109-B4742DC5C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410" y="950808"/>
            <a:ext cx="2772768" cy="516853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0DAB038-92F2-C769-7F95-5CBBE0C7C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395" y="985564"/>
            <a:ext cx="2697772" cy="508310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46379B8-5E0E-D02A-7189-4EB161292520}"/>
              </a:ext>
            </a:extLst>
          </p:cNvPr>
          <p:cNvSpPr/>
          <p:nvPr/>
        </p:nvSpPr>
        <p:spPr>
          <a:xfrm>
            <a:off x="5997270" y="825574"/>
            <a:ext cx="1003125" cy="539993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F1E8D9-CCE6-0034-73B2-CE503C6349CF}"/>
              </a:ext>
            </a:extLst>
          </p:cNvPr>
          <p:cNvSpPr/>
          <p:nvPr/>
        </p:nvSpPr>
        <p:spPr>
          <a:xfrm>
            <a:off x="8793259" y="835112"/>
            <a:ext cx="1003125" cy="539993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30F13B2-4A1D-EB66-F92C-14AB718B1F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8255" y="4097249"/>
            <a:ext cx="3374251" cy="276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94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EC148-937F-1087-0570-734C18F68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3B80D0D-95C9-4944-56B1-DA93B6A7A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7" y="797835"/>
            <a:ext cx="4234544" cy="346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CE11971-7CDD-E0FB-1CDF-80F2D221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fr-CA"/>
              <a:t>Scores ÉTÉ EMET (contre ms50a)</a:t>
            </a:r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4177E4-87C3-ACBB-2899-56F8485A8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262" y="842607"/>
            <a:ext cx="2233353" cy="59436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ECBD52A-2585-6280-F5BE-EE80D7B8C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615" y="842607"/>
            <a:ext cx="2296731" cy="596185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295A392-9A28-4D90-8F8B-813187A87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687" y="3895819"/>
            <a:ext cx="3642754" cy="298043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75E1E80-F397-6363-28F4-2B10175347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11628"/>
            <a:ext cx="4234543" cy="346462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3EFEFF9-2FD7-1F81-829C-1A18229BBEC3}"/>
              </a:ext>
            </a:extLst>
          </p:cNvPr>
          <p:cNvSpPr txBox="1"/>
          <p:nvPr/>
        </p:nvSpPr>
        <p:spPr>
          <a:xfrm>
            <a:off x="10099604" y="143489"/>
            <a:ext cx="20356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https://emet-usr.science.gc.ca/emet/frc001/24-1-5546.disp</a:t>
            </a:r>
          </a:p>
        </p:txBody>
      </p:sp>
    </p:spTree>
    <p:extLst>
      <p:ext uri="{BB962C8B-B14F-4D97-AF65-F5344CB8AC3E}">
        <p14:creationId xmlns:p14="http://schemas.microsoft.com/office/powerpoint/2010/main" val="2007157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FD14-C86A-7E85-B2A8-D9122C9A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A34E14-35C6-C804-3F48-F5F42C7F4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fr-CA"/>
              <a:t>Scores HIV EMET (contre PA3aAGG)</a:t>
            </a:r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30E5CFB-AF57-FB1F-AC11-5F66F0F7D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26" y="1010651"/>
            <a:ext cx="4262044" cy="348712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CF00CE1-0252-2A27-1B87-D7491AFA1709}"/>
              </a:ext>
            </a:extLst>
          </p:cNvPr>
          <p:cNvSpPr txBox="1"/>
          <p:nvPr/>
        </p:nvSpPr>
        <p:spPr>
          <a:xfrm>
            <a:off x="9917460" y="143489"/>
            <a:ext cx="21502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https://emet-usr.science.gc.ca/emet/dpr001/19-2-48933.disp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69FD9C-D743-4065-20D0-2BC84738E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5" y="3811224"/>
            <a:ext cx="4262043" cy="348712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13B391E-C6F9-6D4F-F2E7-2D7342AE4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567" y="1214239"/>
            <a:ext cx="2758345" cy="519397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9EE2763-F40C-A907-5A61-9E0BAA6CC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776" y="1214239"/>
            <a:ext cx="2789241" cy="519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8063E1-10F9-648D-7977-97FF4807E270}"/>
              </a:ext>
            </a:extLst>
          </p:cNvPr>
          <p:cNvSpPr/>
          <p:nvPr/>
        </p:nvSpPr>
        <p:spPr>
          <a:xfrm>
            <a:off x="5314720" y="1111259"/>
            <a:ext cx="1003125" cy="539993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336D8B-DFCA-900F-F5DE-AA8A0EB0BF85}"/>
              </a:ext>
            </a:extLst>
          </p:cNvPr>
          <p:cNvSpPr/>
          <p:nvPr/>
        </p:nvSpPr>
        <p:spPr>
          <a:xfrm>
            <a:off x="8080268" y="1176049"/>
            <a:ext cx="1003125" cy="539993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FEB5F14-253D-5550-384A-C8A8DF82D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830" y="3811224"/>
            <a:ext cx="3646714" cy="298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55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DF031-0460-A4D5-2317-A78446BA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13DC4E5-2882-7484-B9AA-C9580332C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8350"/>
            <a:ext cx="4049486" cy="331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594ACF9-89BD-C852-C864-F28104EC8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fr-CA"/>
              <a:t>Scores HIV EMET (contre ms50a)</a:t>
            </a:r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F82A26C-DE5C-1ECC-0489-F23A393A4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1" y="3606687"/>
            <a:ext cx="3951515" cy="323305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A3921D3-98BE-2455-8889-7F242756B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469" y="1135631"/>
            <a:ext cx="1740531" cy="570411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3F21619-D8BD-EAA2-65E2-867A2EA58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35631"/>
            <a:ext cx="1740531" cy="563546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E6D742C-7336-3CE0-BB91-F96BFC563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3029" y="3410745"/>
            <a:ext cx="4191000" cy="342900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81CDB416-3974-B94E-2747-3F9D518720C9}"/>
              </a:ext>
            </a:extLst>
          </p:cNvPr>
          <p:cNvSpPr txBox="1"/>
          <p:nvPr/>
        </p:nvSpPr>
        <p:spPr>
          <a:xfrm>
            <a:off x="9783537" y="143489"/>
            <a:ext cx="23104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https://emet-usr.science.gc.ca/emet/frc001/24-1-5546.disp</a:t>
            </a:r>
          </a:p>
        </p:txBody>
      </p:sp>
    </p:spTree>
    <p:extLst>
      <p:ext uri="{BB962C8B-B14F-4D97-AF65-F5344CB8AC3E}">
        <p14:creationId xmlns:p14="http://schemas.microsoft.com/office/powerpoint/2010/main" val="2390345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4FD7A0-D851-60FD-7D3D-8FD007BF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Ce qu’il reste à faire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1AFC87-D80E-D4B1-3344-551B919A4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Coordonner les différents tests</a:t>
            </a:r>
          </a:p>
          <a:p>
            <a:r>
              <a:rPr lang="fr-CA"/>
              <a:t>Sortir des cas de convection importante pour l’été</a:t>
            </a:r>
          </a:p>
          <a:p>
            <a:r>
              <a:rPr lang="fr-CA"/>
              <a:t>Vérifier des cas de pluie verglaçante</a:t>
            </a:r>
          </a:p>
          <a:p>
            <a:r>
              <a:rPr lang="fr-CA"/>
              <a:t>Finaliser les scores</a:t>
            </a:r>
          </a:p>
          <a:p>
            <a:r>
              <a:rPr lang="fr-CA"/>
              <a:t>Garder la documentation à jour sur le wiki: </a:t>
            </a:r>
            <a:r>
              <a:rPr lang="en-US">
                <a:hlinkClick r:id="rId2"/>
              </a:rPr>
              <a:t>PPS/HRDPS-PA - CMC Wiki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532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8B37D7-51C0-D40E-75AF-9FA4F559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Extra: Mo6 vs PA3a: </a:t>
            </a:r>
            <a:r>
              <a:rPr lang="fr-CA" err="1"/>
              <a:t>ete</a:t>
            </a:r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BE7E1D6-9274-E719-156D-D2A57F68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6" y="1416133"/>
            <a:ext cx="3712344" cy="3037372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77CF079-E0E5-3991-345B-A01690A5B3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8228" y="3685289"/>
            <a:ext cx="3794302" cy="310442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6210424-82B5-44CC-1B66-67E70E832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48" y="1347108"/>
            <a:ext cx="1641942" cy="527023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91B39C9-72EE-B81A-964A-8CEFF7070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990" y="1331090"/>
            <a:ext cx="1657960" cy="528624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ED5E08D-852F-08FD-3D00-F2CAACD4C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7950" y="1331090"/>
            <a:ext cx="1708544" cy="551089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B87B432-203A-FB83-B107-6E4E8B415C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750" y="3191307"/>
            <a:ext cx="4035250" cy="330156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4A12D30A-8E17-BDE0-3E92-E48948CDF322}"/>
              </a:ext>
            </a:extLst>
          </p:cNvPr>
          <p:cNvSpPr txBox="1"/>
          <p:nvPr/>
        </p:nvSpPr>
        <p:spPr>
          <a:xfrm>
            <a:off x="10342101" y="16018"/>
            <a:ext cx="18498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https://emet-usr.science.gc.ca/emet/dpr001/21-1-1314.disp</a:t>
            </a:r>
          </a:p>
        </p:txBody>
      </p:sp>
    </p:spTree>
    <p:extLst>
      <p:ext uri="{BB962C8B-B14F-4D97-AF65-F5344CB8AC3E}">
        <p14:creationId xmlns:p14="http://schemas.microsoft.com/office/powerpoint/2010/main" val="1792916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E52F72-BD03-EB29-3BBD-FAF9FE65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err="1"/>
              <a:t>What’s</a:t>
            </a:r>
            <a:r>
              <a:rPr lang="fr-CA"/>
              <a:t> </a:t>
            </a:r>
            <a:r>
              <a:rPr lang="fr-CA" err="1"/>
              <a:t>next</a:t>
            </a:r>
            <a:r>
              <a:rPr lang="fr-CA"/>
              <a:t>?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BDFCC0-52E6-86ED-C943-2C4D24EBA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1825625"/>
            <a:ext cx="10515600" cy="3847420"/>
          </a:xfrm>
        </p:spPr>
        <p:txBody>
          <a:bodyPr/>
          <a:lstStyle/>
          <a:p>
            <a:r>
              <a:rPr lang="fr-CA"/>
              <a:t>Tests (</a:t>
            </a:r>
            <a:r>
              <a:rPr lang="fr-CA" err="1"/>
              <a:t>Tdiag</a:t>
            </a:r>
            <a:r>
              <a:rPr lang="fr-CA"/>
              <a:t>) avec les options d’</a:t>
            </a:r>
            <a:r>
              <a:rPr lang="fr-CA" err="1"/>
              <a:t>autoconversions</a:t>
            </a:r>
            <a:r>
              <a:rPr lang="fr-CA"/>
              <a:t> de P3:</a:t>
            </a:r>
          </a:p>
          <a:p>
            <a:pPr marL="0" indent="0">
              <a:buNone/>
            </a:pPr>
            <a:endParaRPr lang="fr-CA"/>
          </a:p>
          <a:p>
            <a:pPr lvl="1"/>
            <a:r>
              <a:rPr lang="fr-CA"/>
              <a:t>CodeAp1</a:t>
            </a:r>
          </a:p>
          <a:p>
            <a:pPr lvl="1"/>
            <a:r>
              <a:rPr lang="fr-CA"/>
              <a:t>CodeAp2 </a:t>
            </a:r>
          </a:p>
          <a:p>
            <a:pPr lvl="1"/>
            <a:r>
              <a:rPr lang="fr-CA" err="1"/>
              <a:t>CodeA</a:t>
            </a:r>
            <a:r>
              <a:rPr lang="fr-CA"/>
              <a:t> (défaut, 3):</a:t>
            </a:r>
          </a:p>
          <a:p>
            <a:pPr lvl="1"/>
            <a:r>
              <a:rPr lang="fr-CA"/>
              <a:t>CodeAp4</a:t>
            </a:r>
          </a:p>
          <a:p>
            <a:pPr lvl="1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C2D217A-8CF4-4C96-7C95-96A851896E40}"/>
              </a:ext>
            </a:extLst>
          </p:cNvPr>
          <p:cNvSpPr txBox="1"/>
          <p:nvPr/>
        </p:nvSpPr>
        <p:spPr>
          <a:xfrm>
            <a:off x="7899590" y="71299"/>
            <a:ext cx="41165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! switch for warm-rain parameterization</a:t>
            </a:r>
          </a:p>
          <a:p>
            <a:r>
              <a:rPr lang="en-US"/>
              <a:t>! = 1 Seifert and </a:t>
            </a:r>
            <a:r>
              <a:rPr lang="en-US" err="1"/>
              <a:t>Beheng</a:t>
            </a:r>
            <a:r>
              <a:rPr lang="en-US"/>
              <a:t> 2001</a:t>
            </a:r>
          </a:p>
          <a:p>
            <a:r>
              <a:rPr lang="en-US"/>
              <a:t>! = 2 </a:t>
            </a:r>
            <a:r>
              <a:rPr lang="en-US" err="1"/>
              <a:t>Beheng</a:t>
            </a:r>
            <a:r>
              <a:rPr lang="en-US"/>
              <a:t> 1994</a:t>
            </a:r>
          </a:p>
          <a:p>
            <a:r>
              <a:rPr lang="en-US"/>
              <a:t>! = 3 </a:t>
            </a:r>
            <a:r>
              <a:rPr lang="en-US" err="1"/>
              <a:t>Khairoutdinov</a:t>
            </a:r>
            <a:r>
              <a:rPr lang="en-US"/>
              <a:t> and Kogan 2000</a:t>
            </a:r>
          </a:p>
          <a:p>
            <a:r>
              <a:rPr lang="en-US"/>
              <a:t>! = 4 Kogan 2013</a:t>
            </a:r>
          </a:p>
          <a:p>
            <a:r>
              <a:rPr lang="en-US"/>
              <a:t> </a:t>
            </a:r>
            <a:r>
              <a:rPr lang="en-US" err="1"/>
              <a:t>iparam</a:t>
            </a:r>
            <a:r>
              <a:rPr lang="en-US"/>
              <a:t> = 3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4D4017E-9CB6-C473-7EE3-2EF23B5734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105"/>
          <a:stretch>
            <a:fillRect/>
          </a:stretch>
        </p:blipFill>
        <p:spPr>
          <a:xfrm>
            <a:off x="3331496" y="2198109"/>
            <a:ext cx="8414663" cy="22165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D73980-4B00-A118-BF62-A7AF9799EACD}"/>
              </a:ext>
            </a:extLst>
          </p:cNvPr>
          <p:cNvSpPr/>
          <p:nvPr/>
        </p:nvSpPr>
        <p:spPr>
          <a:xfrm>
            <a:off x="412955" y="3569765"/>
            <a:ext cx="11333204" cy="353961"/>
          </a:xfrm>
          <a:prstGeom prst="rect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C387C91-7E24-996C-E4A3-3942874D2E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52"/>
          <a:stretch>
            <a:fillRect/>
          </a:stretch>
        </p:blipFill>
        <p:spPr>
          <a:xfrm>
            <a:off x="3814582" y="4345858"/>
            <a:ext cx="6801799" cy="251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59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34FC-42B8-9A7E-F990-FB4081C03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F4B573-E68F-5FE9-14C1-56D4A3C47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err="1"/>
              <a:t>What’s</a:t>
            </a:r>
            <a:r>
              <a:rPr lang="fr-CA"/>
              <a:t> </a:t>
            </a:r>
            <a:r>
              <a:rPr lang="fr-CA" err="1"/>
              <a:t>next</a:t>
            </a:r>
            <a:r>
              <a:rPr lang="fr-CA"/>
              <a:t>?</a:t>
            </a:r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2453F20-C36F-2359-E1CB-0B1F473A68D9}"/>
              </a:ext>
            </a:extLst>
          </p:cNvPr>
          <p:cNvSpPr txBox="1"/>
          <p:nvPr/>
        </p:nvSpPr>
        <p:spPr>
          <a:xfrm>
            <a:off x="7899590" y="71299"/>
            <a:ext cx="41165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! switch for warm-rain parameterization</a:t>
            </a:r>
          </a:p>
          <a:p>
            <a:r>
              <a:rPr lang="en-US"/>
              <a:t>! = 1 Seifert and </a:t>
            </a:r>
            <a:r>
              <a:rPr lang="en-US" err="1"/>
              <a:t>Beheng</a:t>
            </a:r>
            <a:r>
              <a:rPr lang="en-US"/>
              <a:t> 2001</a:t>
            </a:r>
          </a:p>
          <a:p>
            <a:r>
              <a:rPr lang="en-US"/>
              <a:t>! = 2 </a:t>
            </a:r>
            <a:r>
              <a:rPr lang="en-US" err="1"/>
              <a:t>Beheng</a:t>
            </a:r>
            <a:r>
              <a:rPr lang="en-US"/>
              <a:t> 1994</a:t>
            </a:r>
          </a:p>
          <a:p>
            <a:r>
              <a:rPr lang="en-US"/>
              <a:t>! = 3 </a:t>
            </a:r>
            <a:r>
              <a:rPr lang="en-US" err="1"/>
              <a:t>Khairoutdinov</a:t>
            </a:r>
            <a:r>
              <a:rPr lang="en-US"/>
              <a:t> and Kogan 2000</a:t>
            </a:r>
          </a:p>
          <a:p>
            <a:r>
              <a:rPr lang="en-US"/>
              <a:t>! = 4 Kogan 2013</a:t>
            </a:r>
          </a:p>
          <a:p>
            <a:r>
              <a:rPr lang="en-US"/>
              <a:t> </a:t>
            </a:r>
            <a:r>
              <a:rPr lang="en-US" err="1"/>
              <a:t>iparam</a:t>
            </a:r>
            <a:r>
              <a:rPr lang="en-US"/>
              <a:t> = 3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86F213F3-7F45-30AC-E612-E7524D329FCB}"/>
              </a:ext>
            </a:extLst>
          </p:cNvPr>
          <p:cNvGraphicFramePr>
            <a:graphicFrameLocks noGrp="1"/>
          </p:cNvGraphicFramePr>
          <p:nvPr/>
        </p:nvGraphicFramePr>
        <p:xfrm>
          <a:off x="244928" y="2256621"/>
          <a:ext cx="11566072" cy="441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717">
                  <a:extLst>
                    <a:ext uri="{9D8B030D-6E8A-4147-A177-3AD203B41FA5}">
                      <a16:colId xmlns:a16="http://schemas.microsoft.com/office/drawing/2014/main" val="230098904"/>
                    </a:ext>
                  </a:extLst>
                </a:gridCol>
                <a:gridCol w="2664977">
                  <a:extLst>
                    <a:ext uri="{9D8B030D-6E8A-4147-A177-3AD203B41FA5}">
                      <a16:colId xmlns:a16="http://schemas.microsoft.com/office/drawing/2014/main" val="1829408088"/>
                    </a:ext>
                  </a:extLst>
                </a:gridCol>
                <a:gridCol w="2312126">
                  <a:extLst>
                    <a:ext uri="{9D8B030D-6E8A-4147-A177-3AD203B41FA5}">
                      <a16:colId xmlns:a16="http://schemas.microsoft.com/office/drawing/2014/main" val="375406820"/>
                    </a:ext>
                  </a:extLst>
                </a:gridCol>
                <a:gridCol w="2312126">
                  <a:extLst>
                    <a:ext uri="{9D8B030D-6E8A-4147-A177-3AD203B41FA5}">
                      <a16:colId xmlns:a16="http://schemas.microsoft.com/office/drawing/2014/main" val="102670011"/>
                    </a:ext>
                  </a:extLst>
                </a:gridCol>
                <a:gridCol w="2312126">
                  <a:extLst>
                    <a:ext uri="{9D8B030D-6E8A-4147-A177-3AD203B41FA5}">
                      <a16:colId xmlns:a16="http://schemas.microsoft.com/office/drawing/2014/main" val="918544336"/>
                    </a:ext>
                  </a:extLst>
                </a:gridCol>
              </a:tblGrid>
              <a:tr h="27640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err="1"/>
                        <a:t>Aut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/>
                        <a:t>Hiv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Été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619634"/>
                  </a:ext>
                </a:extLst>
              </a:tr>
              <a:tr h="681536">
                <a:tc>
                  <a:txBody>
                    <a:bodyPr/>
                    <a:lstStyle/>
                    <a:p>
                      <a:r>
                        <a:rPr lang="fr-CA"/>
                        <a:t>PA3aAGG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PR/PC</a:t>
                      </a:r>
                    </a:p>
                    <a:p>
                      <a:r>
                        <a:rPr lang="fr-CA"/>
                        <a:t>TCC/ICRM/IIRM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4.18 / 0.35</a:t>
                      </a:r>
                    </a:p>
                    <a:p>
                      <a:r>
                        <a:rPr lang="fr-CA"/>
                        <a:t>0.68 / 0.105 / 0.096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1.90 / 0.04</a:t>
                      </a:r>
                      <a:br>
                        <a:rPr lang="fr-CA"/>
                      </a:br>
                      <a:r>
                        <a:rPr lang="fr-CA"/>
                        <a:t>0.87 / 0.078  / 0.073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2.37 / 0.31</a:t>
                      </a:r>
                      <a:br>
                        <a:rPr lang="fr-CA"/>
                      </a:br>
                      <a:r>
                        <a:rPr lang="fr-CA"/>
                        <a:t>0.65 / 0.079 / 0.063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034189"/>
                  </a:ext>
                </a:extLst>
              </a:tr>
              <a:tr h="681536">
                <a:tc>
                  <a:txBody>
                    <a:bodyPr/>
                    <a:lstStyle/>
                    <a:p>
                      <a:r>
                        <a:rPr lang="fr-CA"/>
                        <a:t>Mo6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PR/PC</a:t>
                      </a:r>
                    </a:p>
                    <a:p>
                      <a:r>
                        <a:rPr lang="fr-CA"/>
                        <a:t>TCC/ICRM/IIRM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65785"/>
                  </a:ext>
                </a:extLst>
              </a:tr>
              <a:tr h="477075">
                <a:tc>
                  <a:txBody>
                    <a:bodyPr/>
                    <a:lstStyle/>
                    <a:p>
                      <a:r>
                        <a:rPr lang="fr-CA" err="1"/>
                        <a:t>CodeA</a:t>
                      </a:r>
                      <a:r>
                        <a:rPr lang="fr-CA"/>
                        <a:t> (p3)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PR/PC</a:t>
                      </a:r>
                    </a:p>
                    <a:p>
                      <a:r>
                        <a:rPr lang="fr-CA"/>
                        <a:t>TCC/ICRM/IIRM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4.17 / 0.36</a:t>
                      </a:r>
                    </a:p>
                    <a:p>
                      <a:r>
                        <a:rPr lang="fr-CA"/>
                        <a:t>0.68 /</a:t>
                      </a:r>
                      <a:r>
                        <a:rPr lang="fr-CA" b="1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lang="fr-CA" b="1">
                          <a:solidFill>
                            <a:srgbClr val="7030A0"/>
                          </a:solidFill>
                        </a:rPr>
                        <a:t>0.118 </a:t>
                      </a:r>
                      <a:r>
                        <a:rPr lang="fr-CA">
                          <a:solidFill>
                            <a:srgbClr val="7030A0"/>
                          </a:solidFill>
                        </a:rPr>
                        <a:t>/ </a:t>
                      </a:r>
                      <a:r>
                        <a:rPr lang="fr-CA" b="1">
                          <a:solidFill>
                            <a:srgbClr val="7030A0"/>
                          </a:solidFill>
                        </a:rPr>
                        <a:t>0.108</a:t>
                      </a:r>
                      <a:endParaRPr lang="en-US" b="1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1.86 / 0.04</a:t>
                      </a:r>
                    </a:p>
                    <a:p>
                      <a:r>
                        <a:rPr lang="fr-CA"/>
                        <a:t>0.85 / </a:t>
                      </a:r>
                      <a:r>
                        <a:rPr lang="fr-CA" b="1">
                          <a:solidFill>
                            <a:srgbClr val="7030A0"/>
                          </a:solidFill>
                        </a:rPr>
                        <a:t>0.086</a:t>
                      </a:r>
                      <a:r>
                        <a:rPr lang="fr-CA">
                          <a:solidFill>
                            <a:srgbClr val="7030A0"/>
                          </a:solidFill>
                        </a:rPr>
                        <a:t> </a:t>
                      </a:r>
                      <a:r>
                        <a:rPr lang="fr-CA"/>
                        <a:t>/ 0.079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b="1">
                          <a:solidFill>
                            <a:schemeClr val="accent3"/>
                          </a:solidFill>
                        </a:rPr>
                        <a:t>2.13</a:t>
                      </a:r>
                      <a:r>
                        <a:rPr lang="fr-CA"/>
                        <a:t> / 0.28</a:t>
                      </a:r>
                      <a:br>
                        <a:rPr lang="fr-CA"/>
                      </a:br>
                      <a:r>
                        <a:rPr lang="fr-CA"/>
                        <a:t>0.065 / </a:t>
                      </a:r>
                      <a:r>
                        <a:rPr lang="fr-CA" b="1">
                          <a:solidFill>
                            <a:srgbClr val="7030A0"/>
                          </a:solidFill>
                        </a:rPr>
                        <a:t>0.091</a:t>
                      </a:r>
                      <a:r>
                        <a:rPr lang="fr-CA"/>
                        <a:t> / </a:t>
                      </a:r>
                      <a:r>
                        <a:rPr lang="fr-CA" b="1">
                          <a:solidFill>
                            <a:schemeClr val="accent3"/>
                          </a:solidFill>
                        </a:rPr>
                        <a:t>0.049</a:t>
                      </a:r>
                      <a:endParaRPr lang="en-US" b="1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1251"/>
                  </a:ext>
                </a:extLst>
              </a:tr>
              <a:tr h="681536">
                <a:tc>
                  <a:txBody>
                    <a:bodyPr/>
                    <a:lstStyle/>
                    <a:p>
                      <a:r>
                        <a:rPr lang="fr-CA"/>
                        <a:t>CodeAp1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PR/PC</a:t>
                      </a:r>
                    </a:p>
                    <a:p>
                      <a:r>
                        <a:rPr lang="fr-CA"/>
                        <a:t>TCC/ICRM/IIRM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4.12</a:t>
                      </a:r>
                      <a:r>
                        <a:rPr lang="fr-CA"/>
                        <a:t> / 0.36</a:t>
                      </a:r>
                    </a:p>
                    <a:p>
                      <a:r>
                        <a:rPr lang="fr-CA"/>
                        <a:t>0.68 / 0.144 / 0.109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1.83 / 0.04</a:t>
                      </a:r>
                    </a:p>
                    <a:p>
                      <a:r>
                        <a:rPr lang="fr-CA"/>
                        <a:t>0.86 / </a:t>
                      </a:r>
                      <a:r>
                        <a:rPr lang="fr-CA" b="1">
                          <a:solidFill>
                            <a:srgbClr val="7030A0"/>
                          </a:solidFill>
                        </a:rPr>
                        <a:t>0.104 </a:t>
                      </a:r>
                      <a:r>
                        <a:rPr lang="fr-CA"/>
                        <a:t>/ 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b="1">
                          <a:solidFill>
                            <a:schemeClr val="accent3"/>
                          </a:solidFill>
                        </a:rPr>
                        <a:t>2.08</a:t>
                      </a:r>
                      <a:r>
                        <a:rPr lang="fr-CA"/>
                        <a:t> / 0.28</a:t>
                      </a:r>
                      <a:br>
                        <a:rPr lang="fr-CA"/>
                      </a:br>
                      <a:r>
                        <a:rPr lang="fr-CA"/>
                        <a:t>0.65 / </a:t>
                      </a:r>
                      <a:r>
                        <a:rPr lang="fr-CA" b="1">
                          <a:solidFill>
                            <a:srgbClr val="7030A0"/>
                          </a:solidFill>
                        </a:rPr>
                        <a:t>0.118</a:t>
                      </a:r>
                      <a:r>
                        <a:rPr lang="fr-CA"/>
                        <a:t> / </a:t>
                      </a:r>
                      <a:r>
                        <a:rPr lang="fr-CA" b="1">
                          <a:solidFill>
                            <a:schemeClr val="accent3"/>
                          </a:solidFill>
                        </a:rPr>
                        <a:t>0.050</a:t>
                      </a:r>
                      <a:endParaRPr lang="en-US" b="1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582612"/>
                  </a:ext>
                </a:extLst>
              </a:tr>
              <a:tr h="681536">
                <a:tc>
                  <a:txBody>
                    <a:bodyPr/>
                    <a:lstStyle/>
                    <a:p>
                      <a:r>
                        <a:rPr lang="fr-CA"/>
                        <a:t>CodeAp2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PR/PC</a:t>
                      </a:r>
                    </a:p>
                    <a:p>
                      <a:r>
                        <a:rPr lang="fr-CA"/>
                        <a:t>TCC/ICRM/IIRM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4.17 / 0.35</a:t>
                      </a:r>
                    </a:p>
                    <a:p>
                      <a:r>
                        <a:rPr lang="fr-CA"/>
                        <a:t>0.68 / </a:t>
                      </a:r>
                      <a:r>
                        <a:rPr lang="fr-CA" b="1">
                          <a:solidFill>
                            <a:srgbClr val="7030A0"/>
                          </a:solidFill>
                        </a:rPr>
                        <a:t>0.120 / 0.108</a:t>
                      </a:r>
                      <a:endParaRPr lang="en-US" b="1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1.86 / 0.04</a:t>
                      </a:r>
                    </a:p>
                    <a:p>
                      <a:r>
                        <a:rPr lang="fr-CA"/>
                        <a:t>0.85 / </a:t>
                      </a:r>
                      <a:r>
                        <a:rPr lang="fr-CA" b="1">
                          <a:solidFill>
                            <a:srgbClr val="7030A0"/>
                          </a:solidFill>
                        </a:rPr>
                        <a:t>0.087</a:t>
                      </a:r>
                      <a:r>
                        <a:rPr lang="fr-CA"/>
                        <a:t> / 0.079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b="1">
                          <a:solidFill>
                            <a:schemeClr val="accent3"/>
                          </a:solidFill>
                        </a:rPr>
                        <a:t>2.14</a:t>
                      </a:r>
                      <a:r>
                        <a:rPr lang="fr-CA"/>
                        <a:t> / 0.28</a:t>
                      </a:r>
                    </a:p>
                    <a:p>
                      <a:r>
                        <a:rPr lang="fr-CA"/>
                        <a:t>0.65 / </a:t>
                      </a:r>
                      <a:r>
                        <a:rPr lang="fr-CA" b="1">
                          <a:solidFill>
                            <a:srgbClr val="7030A0"/>
                          </a:solidFill>
                        </a:rPr>
                        <a:t>0.090</a:t>
                      </a:r>
                      <a:r>
                        <a:rPr lang="fr-CA"/>
                        <a:t> / </a:t>
                      </a:r>
                      <a:r>
                        <a:rPr lang="fr-CA" b="1">
                          <a:solidFill>
                            <a:schemeClr val="accent3"/>
                          </a:solidFill>
                        </a:rPr>
                        <a:t>0.050</a:t>
                      </a:r>
                      <a:endParaRPr lang="en-US" b="1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359035"/>
                  </a:ext>
                </a:extLst>
              </a:tr>
              <a:tr h="681536">
                <a:tc>
                  <a:txBody>
                    <a:bodyPr/>
                    <a:lstStyle/>
                    <a:p>
                      <a:r>
                        <a:rPr lang="fr-CA"/>
                        <a:t>CodeAp4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PR/PC</a:t>
                      </a:r>
                    </a:p>
                    <a:p>
                      <a:r>
                        <a:rPr lang="fr-CA"/>
                        <a:t>TCC/ICRM/IIRM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4.19 / </a:t>
                      </a:r>
                      <a:r>
                        <a:rPr lang="fr-CA" b="1">
                          <a:solidFill>
                            <a:srgbClr val="C00000"/>
                          </a:solidFill>
                        </a:rPr>
                        <a:t>-9.0!!! </a:t>
                      </a:r>
                    </a:p>
                    <a:p>
                      <a:r>
                        <a:rPr lang="fr-CA" b="0">
                          <a:solidFill>
                            <a:schemeClr val="tx1"/>
                          </a:solidFill>
                        </a:rPr>
                        <a:t>0.68 / </a:t>
                      </a:r>
                      <a:r>
                        <a:rPr lang="fr-CA" b="1">
                          <a:solidFill>
                            <a:srgbClr val="7030A0"/>
                          </a:solidFill>
                        </a:rPr>
                        <a:t>0.121</a:t>
                      </a:r>
                      <a:r>
                        <a:rPr lang="fr-CA" b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fr-CA" b="0">
                          <a:solidFill>
                            <a:schemeClr val="tx1"/>
                          </a:solidFill>
                        </a:rPr>
                        <a:t>/ 0.108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/>
                        <a:t>1.86 / 0.04</a:t>
                      </a:r>
                    </a:p>
                    <a:p>
                      <a:r>
                        <a:rPr lang="fr-CA"/>
                        <a:t>0.86 / </a:t>
                      </a:r>
                      <a:r>
                        <a:rPr lang="fr-CA" b="1">
                          <a:solidFill>
                            <a:srgbClr val="7030A0"/>
                          </a:solidFill>
                        </a:rPr>
                        <a:t>0.089</a:t>
                      </a:r>
                      <a:r>
                        <a:rPr lang="fr-CA"/>
                        <a:t> / 0.079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b="1">
                          <a:solidFill>
                            <a:schemeClr val="accent3"/>
                          </a:solidFill>
                        </a:rPr>
                        <a:t>2.13 </a:t>
                      </a:r>
                      <a:r>
                        <a:rPr lang="fr-CA"/>
                        <a:t>/ 0.28</a:t>
                      </a:r>
                    </a:p>
                    <a:p>
                      <a:r>
                        <a:rPr lang="fr-CA"/>
                        <a:t>0.65 / </a:t>
                      </a:r>
                      <a:r>
                        <a:rPr lang="fr-CA" b="1">
                          <a:solidFill>
                            <a:srgbClr val="7030A0"/>
                          </a:solidFill>
                        </a:rPr>
                        <a:t>0.094</a:t>
                      </a:r>
                      <a:r>
                        <a:rPr lang="fr-CA"/>
                        <a:t> / </a:t>
                      </a:r>
                      <a:r>
                        <a:rPr lang="fr-CA" b="1">
                          <a:solidFill>
                            <a:schemeClr val="accent3"/>
                          </a:solidFill>
                        </a:rPr>
                        <a:t>0.050</a:t>
                      </a:r>
                      <a:endParaRPr lang="en-US" b="1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893610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48A1EF15-A790-D9F2-3AD8-37100E950AC3}"/>
              </a:ext>
            </a:extLst>
          </p:cNvPr>
          <p:cNvSpPr txBox="1"/>
          <p:nvPr/>
        </p:nvSpPr>
        <p:spPr>
          <a:xfrm>
            <a:off x="4174671" y="1856457"/>
            <a:ext cx="442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>
                <a:solidFill>
                  <a:srgbClr val="7030A0"/>
                </a:solidFill>
              </a:rPr>
              <a:t>Augmentation</a:t>
            </a:r>
            <a:r>
              <a:rPr lang="fr-CA"/>
              <a:t> / </a:t>
            </a:r>
            <a:r>
              <a:rPr lang="fr-CA" b="1">
                <a:solidFill>
                  <a:schemeClr val="accent3"/>
                </a:solidFill>
              </a:rPr>
              <a:t>diminution</a:t>
            </a:r>
            <a:r>
              <a:rPr lang="fr-CA"/>
              <a:t> / </a:t>
            </a:r>
            <a:r>
              <a:rPr lang="fr-CA" b="1">
                <a:solidFill>
                  <a:srgbClr val="C00000"/>
                </a:solidFill>
              </a:rPr>
              <a:t>euh… </a:t>
            </a:r>
            <a:r>
              <a:rPr lang="fr-CA" b="1" err="1">
                <a:solidFill>
                  <a:srgbClr val="C00000"/>
                </a:solidFill>
              </a:rPr>
              <a:t>what</a:t>
            </a:r>
            <a:r>
              <a:rPr lang="fr-CA" b="1">
                <a:solidFill>
                  <a:srgbClr val="C00000"/>
                </a:solidFill>
              </a:rPr>
              <a:t>?</a:t>
            </a:r>
            <a:endParaRPr 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758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FA9E8-2E46-1BB1-1714-88CB07CE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89977849-B8DB-D928-2FCF-766597F3EDB1}"/>
              </a:ext>
            </a:extLst>
          </p:cNvPr>
          <p:cNvSpPr txBox="1"/>
          <p:nvPr/>
        </p:nvSpPr>
        <p:spPr>
          <a:xfrm>
            <a:off x="34829" y="1804634"/>
            <a:ext cx="1173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CTRL= </a:t>
            </a:r>
          </a:p>
          <a:p>
            <a:r>
              <a:rPr lang="en-CA" b="1"/>
              <a:t>PA3aAGG</a:t>
            </a:r>
            <a:endParaRPr lang="en-US" b="1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6DBEA00-BC85-CA49-0065-4E44D3033A68}"/>
              </a:ext>
            </a:extLst>
          </p:cNvPr>
          <p:cNvSpPr txBox="1"/>
          <p:nvPr/>
        </p:nvSpPr>
        <p:spPr>
          <a:xfrm>
            <a:off x="1812471" y="3538461"/>
            <a:ext cx="861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CodeAp1                                                         CodeAp2                                                                CodeAp4</a:t>
            </a:r>
            <a:endParaRPr lang="en-US" b="1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800B4C3-D4D0-0270-C881-0021517D2CA5}"/>
              </a:ext>
            </a:extLst>
          </p:cNvPr>
          <p:cNvSpPr txBox="1"/>
          <p:nvPr/>
        </p:nvSpPr>
        <p:spPr>
          <a:xfrm>
            <a:off x="1441048" y="32657"/>
            <a:ext cx="29033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/>
              <a:t>NT</a:t>
            </a:r>
          </a:p>
          <a:p>
            <a:pPr algn="ctr"/>
            <a:r>
              <a:rPr lang="en-CA" sz="2000" b="1" err="1"/>
              <a:t>hyb</a:t>
            </a:r>
            <a:r>
              <a:rPr lang="en-CA" sz="2000" b="1"/>
              <a:t>=0.87 20221024_024</a:t>
            </a:r>
            <a:endParaRPr lang="en-US" sz="1400" b="1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830C89C-20B7-B3AA-2610-A40C6BA2F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182" y="948462"/>
            <a:ext cx="3810039" cy="253004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C138C8B-DEEA-CBB9-DEBB-B30D5564B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1" y="3923768"/>
            <a:ext cx="3954196" cy="262577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0C32D3E-66B2-6438-007B-8E9BFE69A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497" y="3923768"/>
            <a:ext cx="3954196" cy="26257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216C8A8-3DB3-F4B3-20CA-4B8F8CB62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4201" y="3923768"/>
            <a:ext cx="3954196" cy="262577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39B76CE-B7D1-7DFA-F849-9154D5C3B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6461" y="948462"/>
            <a:ext cx="3743812" cy="248606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BCA0129-F7BE-C740-7137-2D9899D20D71}"/>
              </a:ext>
            </a:extLst>
          </p:cNvPr>
          <p:cNvSpPr txBox="1"/>
          <p:nvPr/>
        </p:nvSpPr>
        <p:spPr>
          <a:xfrm>
            <a:off x="7744398" y="579130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CodeA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2732561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6FD81-5242-C962-CD1A-A3DC2E61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FDED2077-0B86-11D1-6DA4-8E992AFFA5EB}"/>
              </a:ext>
            </a:extLst>
          </p:cNvPr>
          <p:cNvSpPr txBox="1"/>
          <p:nvPr/>
        </p:nvSpPr>
        <p:spPr>
          <a:xfrm>
            <a:off x="34829" y="1804634"/>
            <a:ext cx="1173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CTRL= </a:t>
            </a:r>
          </a:p>
          <a:p>
            <a:r>
              <a:rPr lang="en-CA" b="1"/>
              <a:t>PA3aAGG</a:t>
            </a:r>
            <a:endParaRPr lang="en-US" b="1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99DCA06-8E48-2E94-56A0-26FB3DBB4553}"/>
              </a:ext>
            </a:extLst>
          </p:cNvPr>
          <p:cNvSpPr txBox="1"/>
          <p:nvPr/>
        </p:nvSpPr>
        <p:spPr>
          <a:xfrm>
            <a:off x="2507046" y="32657"/>
            <a:ext cx="7713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/>
              <a:t>ICR</a:t>
            </a:r>
            <a:endParaRPr lang="en-US" sz="1400" b="1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F5BC0EC-C597-BBC8-2A3A-6B9EBC8C6651}"/>
              </a:ext>
            </a:extLst>
          </p:cNvPr>
          <p:cNvSpPr txBox="1"/>
          <p:nvPr/>
        </p:nvSpPr>
        <p:spPr>
          <a:xfrm>
            <a:off x="1812471" y="3538461"/>
            <a:ext cx="861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CodeAp1                                                         CodeAp2                                                                CodeAp4</a:t>
            </a:r>
            <a:endParaRPr lang="en-US" b="1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D3DB6BC-9C52-5D54-FAB4-926117B5E6D4}"/>
              </a:ext>
            </a:extLst>
          </p:cNvPr>
          <p:cNvSpPr txBox="1"/>
          <p:nvPr/>
        </p:nvSpPr>
        <p:spPr>
          <a:xfrm>
            <a:off x="8691455" y="202407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CodeA</a:t>
            </a:r>
            <a:endParaRPr lang="en-US" b="1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2F24749-9762-B10D-9727-BF4439D6E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148" y="571739"/>
            <a:ext cx="4499942" cy="298817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C9FD93F-EF36-668C-241F-6D2730F60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286" y="550288"/>
            <a:ext cx="4499942" cy="298817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85EA369-C0AC-3B86-A7D6-2D30FF0F2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9" y="3993965"/>
            <a:ext cx="4108367" cy="272815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CD880C7-D9AE-1CC9-6B84-1E14AB4AF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465" y="3993965"/>
            <a:ext cx="4108367" cy="272815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A36530ED-AD77-0FA1-165F-C888165AC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633" y="3993965"/>
            <a:ext cx="4108367" cy="272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717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D2E0E-49F8-8642-B146-E910F9877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D1C28A76-EC96-F1EE-55AE-AA4C6164099E}"/>
              </a:ext>
            </a:extLst>
          </p:cNvPr>
          <p:cNvSpPr txBox="1"/>
          <p:nvPr/>
        </p:nvSpPr>
        <p:spPr>
          <a:xfrm>
            <a:off x="34829" y="1804634"/>
            <a:ext cx="1173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CTRL= </a:t>
            </a:r>
          </a:p>
          <a:p>
            <a:r>
              <a:rPr lang="en-CA" b="1"/>
              <a:t>PA3aAGG</a:t>
            </a:r>
            <a:endParaRPr lang="en-US" b="1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D22FF5B-AE95-D1BA-2CE1-097640C6502A}"/>
              </a:ext>
            </a:extLst>
          </p:cNvPr>
          <p:cNvSpPr txBox="1"/>
          <p:nvPr/>
        </p:nvSpPr>
        <p:spPr>
          <a:xfrm>
            <a:off x="2580783" y="32657"/>
            <a:ext cx="623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/>
              <a:t>IIR</a:t>
            </a:r>
            <a:endParaRPr lang="en-US" sz="1400" b="1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6A9B8AE-E78C-4268-E677-1F8A4D8D7C0E}"/>
              </a:ext>
            </a:extLst>
          </p:cNvPr>
          <p:cNvSpPr txBox="1"/>
          <p:nvPr/>
        </p:nvSpPr>
        <p:spPr>
          <a:xfrm>
            <a:off x="1812471" y="3538461"/>
            <a:ext cx="861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CodeAp1                                                         CodeAp2                                                                CodeAp4</a:t>
            </a:r>
            <a:endParaRPr lang="en-US" b="1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B381554-55E1-4631-521D-AD94CC71986C}"/>
              </a:ext>
            </a:extLst>
          </p:cNvPr>
          <p:cNvSpPr txBox="1"/>
          <p:nvPr/>
        </p:nvSpPr>
        <p:spPr>
          <a:xfrm>
            <a:off x="7736233" y="354348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CodeA</a:t>
            </a:r>
            <a:endParaRPr lang="en-US" b="1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076CAEA-0FF6-610C-958A-3F59743DA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84" y="763796"/>
            <a:ext cx="4257675" cy="282729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FCF5A7E-D2F1-5E60-3196-1FE2EB745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177" y="763796"/>
            <a:ext cx="4257675" cy="282729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7A6D66B-3F80-1E5A-2146-37356FB84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8" y="3951411"/>
            <a:ext cx="4010053" cy="266286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73EE450A-972E-B1D6-FCDE-953722944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0973" y="3951411"/>
            <a:ext cx="4010053" cy="266286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1824CC9-70BD-4BEA-33AE-5DD6FE3F21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119" y="3951411"/>
            <a:ext cx="4010053" cy="266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0167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219F-3212-A792-0DC6-B6CFC75F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69B18B86-C020-8AAF-C88F-D458DD2700BD}"/>
              </a:ext>
            </a:extLst>
          </p:cNvPr>
          <p:cNvSpPr txBox="1"/>
          <p:nvPr/>
        </p:nvSpPr>
        <p:spPr>
          <a:xfrm>
            <a:off x="34829" y="1804634"/>
            <a:ext cx="1173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CTRL= </a:t>
            </a:r>
          </a:p>
          <a:p>
            <a:r>
              <a:rPr lang="en-CA" b="1"/>
              <a:t>PA3aAGG</a:t>
            </a:r>
            <a:endParaRPr lang="en-US" b="1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778A095-0397-363A-EEC5-71E8F278AA25}"/>
              </a:ext>
            </a:extLst>
          </p:cNvPr>
          <p:cNvSpPr txBox="1"/>
          <p:nvPr/>
        </p:nvSpPr>
        <p:spPr>
          <a:xfrm>
            <a:off x="2577577" y="32657"/>
            <a:ext cx="630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/>
              <a:t>PR</a:t>
            </a:r>
            <a:endParaRPr lang="en-US" sz="1400" b="1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4F29561-D12B-5BA2-71ED-287F392E6A1D}"/>
              </a:ext>
            </a:extLst>
          </p:cNvPr>
          <p:cNvSpPr txBox="1"/>
          <p:nvPr/>
        </p:nvSpPr>
        <p:spPr>
          <a:xfrm>
            <a:off x="1812471" y="3538461"/>
            <a:ext cx="861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CodeAp1                                                         CodeAp2                                                                CodeAp4</a:t>
            </a:r>
            <a:endParaRPr lang="en-US" b="1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31C5563-C579-EE63-1EDB-5312C1C014A1}"/>
              </a:ext>
            </a:extLst>
          </p:cNvPr>
          <p:cNvSpPr txBox="1"/>
          <p:nvPr/>
        </p:nvSpPr>
        <p:spPr>
          <a:xfrm>
            <a:off x="7899519" y="109601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CodeA</a:t>
            </a:r>
            <a:endParaRPr lang="en-US" b="1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8418D4F-984D-2E24-9AAE-75C2B8BF4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84" y="420213"/>
            <a:ext cx="4695824" cy="311824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B92F15C-86DE-E99C-A1E5-B2ED691C4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015" y="420213"/>
            <a:ext cx="4695824" cy="311824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4AABCAA-706E-BBA8-40C5-B3909E94D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" y="3896104"/>
            <a:ext cx="4085951" cy="271326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0CAE383-8719-EBA0-46C2-0857B4612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8049" y="3896104"/>
            <a:ext cx="4085951" cy="27132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33A7DE9-F212-88F5-CBD7-DC72327E9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049" y="3884414"/>
            <a:ext cx="4085951" cy="271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707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F4D5-3324-42A7-C0A1-9BA7A29CD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1EDCAD92-BC19-7386-848D-D4FE12B895C8}"/>
              </a:ext>
            </a:extLst>
          </p:cNvPr>
          <p:cNvSpPr txBox="1"/>
          <p:nvPr/>
        </p:nvSpPr>
        <p:spPr>
          <a:xfrm>
            <a:off x="34829" y="1804634"/>
            <a:ext cx="1173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CTRL= </a:t>
            </a:r>
          </a:p>
          <a:p>
            <a:r>
              <a:rPr lang="en-CA" b="1"/>
              <a:t>PA3aAGG</a:t>
            </a:r>
            <a:endParaRPr lang="en-US" b="1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BC4ACC2-1C0B-ADC7-6C61-4CFF7DCC89EF}"/>
              </a:ext>
            </a:extLst>
          </p:cNvPr>
          <p:cNvSpPr txBox="1"/>
          <p:nvPr/>
        </p:nvSpPr>
        <p:spPr>
          <a:xfrm>
            <a:off x="2564753" y="32657"/>
            <a:ext cx="655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b="1"/>
              <a:t>PC</a:t>
            </a:r>
            <a:endParaRPr lang="en-US" sz="1400" b="1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4CFB6EB-8860-C657-F738-B16FFE2C136A}"/>
              </a:ext>
            </a:extLst>
          </p:cNvPr>
          <p:cNvSpPr txBox="1"/>
          <p:nvPr/>
        </p:nvSpPr>
        <p:spPr>
          <a:xfrm>
            <a:off x="1812471" y="3538461"/>
            <a:ext cx="861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CodeAp1                                                         CodeAp2                                                                CodeAp4</a:t>
            </a:r>
            <a:endParaRPr lang="en-US" b="1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ABFDCD9-6AFC-7F12-3F2E-C89954A46C01}"/>
              </a:ext>
            </a:extLst>
          </p:cNvPr>
          <p:cNvSpPr txBox="1"/>
          <p:nvPr/>
        </p:nvSpPr>
        <p:spPr>
          <a:xfrm>
            <a:off x="7899519" y="109601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CodeA</a:t>
            </a:r>
            <a:endParaRPr lang="en-US" b="1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7AD3B25-6A15-495C-DDB3-FDCF96E47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614" y="445590"/>
            <a:ext cx="4561687" cy="302917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4D32E00-11E7-33FF-0F75-95CEB4F3D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456" y="499091"/>
            <a:ext cx="4561687" cy="302917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C08A2FF-16E7-E0C7-B9B7-A687727EA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98" y="4078676"/>
            <a:ext cx="4020379" cy="266972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4176266-81AF-2CB7-46CF-F1ABB9B52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553" y="4078676"/>
            <a:ext cx="4020379" cy="266972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C1A5D80-DBB6-D76C-477F-DC1E7928FB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008" y="4078677"/>
            <a:ext cx="4020379" cy="266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08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8B436A-5B6C-62E6-7BC4-1DBA1F6A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Tant de parametrisation de </a:t>
            </a:r>
            <a:r>
              <a:rPr lang="en-CA" err="1"/>
              <a:t>l’autoconversion</a:t>
            </a:r>
            <a:r>
              <a:rPr lang="en-CA"/>
              <a:t>! </a:t>
            </a:r>
            <a:r>
              <a:rPr lang="en-CA" sz="3200"/>
              <a:t>(</a:t>
            </a:r>
            <a:r>
              <a:rPr lang="en-CA" sz="3200" err="1"/>
              <a:t>ici</a:t>
            </a:r>
            <a:r>
              <a:rPr lang="en-CA" sz="3200"/>
              <a:t>, un petit </a:t>
            </a:r>
            <a:r>
              <a:rPr lang="en-CA" sz="3200" err="1"/>
              <a:t>echantillon</a:t>
            </a:r>
            <a:r>
              <a:rPr lang="en-CA" sz="3200"/>
              <a:t>)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B02EED-CC0D-6B54-769E-FD613A7D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769A47-A57D-DFCD-DE5E-2041BF9A7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1" y="1825625"/>
            <a:ext cx="6858957" cy="397247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98BA00E-17EC-5DB3-B9E8-6B4815A55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201" y="1249281"/>
            <a:ext cx="6801799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312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2530</Words>
  <Application>Microsoft Office PowerPoint</Application>
  <PresentationFormat>Grand écran</PresentationFormat>
  <Paragraphs>317</Paragraphs>
  <Slides>44</Slides>
  <Notes>0</Notes>
  <HiddenSlides>17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Courier New</vt:lpstr>
      <vt:lpstr>Symbol</vt:lpstr>
      <vt:lpstr>Thème Office</vt:lpstr>
      <vt:lpstr>RPN-A changes to P3</vt:lpstr>
      <vt:lpstr>List of changes</vt:lpstr>
      <vt:lpstr>Présentation PowerPoint</vt:lpstr>
      <vt:lpstr>1. autoAcc_param = 1 </vt:lpstr>
      <vt:lpstr>Présentation PowerPoint</vt:lpstr>
      <vt:lpstr>Présentation PowerPoint</vt:lpstr>
      <vt:lpstr>2. supi</vt:lpstr>
      <vt:lpstr>3-5</vt:lpstr>
      <vt:lpstr>Code: 5.3.0-a15/CodeA </vt:lpstr>
      <vt:lpstr>Explications</vt:lpstr>
      <vt:lpstr>“Mass conservation”  Nouvelle variable: qevap_satadj</vt:lpstr>
      <vt:lpstr>“Mass conservation”  suite du code (inchangé)</vt:lpstr>
      <vt:lpstr>Tdiag  ( en mode PA3a)  - légère diminution de PR  - légère augmentation de AP  - Plus de liquide</vt:lpstr>
      <vt:lpstr>Vues 2D cas d’automne @024h</vt:lpstr>
      <vt:lpstr>Scores ÉTÉ-HIV ARCAD (contre PA3aAGG)</vt:lpstr>
      <vt:lpstr>Scores ÉTÉ-HIV ARCAD (contre MOSA6 ms50a)</vt:lpstr>
      <vt:lpstr>Scores ÉTÉ EMET (contre PA3aAGG)</vt:lpstr>
      <vt:lpstr>Scores ÉTÉ EMET (contre ms50a)</vt:lpstr>
      <vt:lpstr>Scores HIV EMET (contre PA3aAGG)</vt:lpstr>
      <vt:lpstr>Slides from Danahé and Fred (RPN-A)</vt:lpstr>
      <vt:lpstr>Code «groupe A »</vt:lpstr>
      <vt:lpstr>Code: 5.3.0-a15/CodeA </vt:lpstr>
      <vt:lpstr>Explications</vt:lpstr>
      <vt:lpstr>“Mass conservation”  Nouvelle variable: qevap_satadj</vt:lpstr>
      <vt:lpstr>“Mass conservation”  suite du code (inchangé)</vt:lpstr>
      <vt:lpstr>SCM</vt:lpstr>
      <vt:lpstr>Tdiag  ( en mode PA3a)  - légère diminution de PR  - légère augmentation de AP  - Plus de liquide</vt:lpstr>
      <vt:lpstr>Vues 2D cas d’automne @024h</vt:lpstr>
      <vt:lpstr>Scores ÉTÉ-HIV ARCAD (contre PA3aAGG)</vt:lpstr>
      <vt:lpstr>Scores ÉTÉ-HIV ARCAD (contre MOSA6 ms50a)</vt:lpstr>
      <vt:lpstr>Scores ÉTÉ EMET (contre PA3aAGG)</vt:lpstr>
      <vt:lpstr>Scores ÉTÉ EMET (contre ms50a)</vt:lpstr>
      <vt:lpstr>Scores HIV EMET (contre PA3aAGG)</vt:lpstr>
      <vt:lpstr>Scores HIV EMET (contre ms50a)</vt:lpstr>
      <vt:lpstr>Ce qu’il reste à faire</vt:lpstr>
      <vt:lpstr>Extra: Mo6 vs PA3a: ete</vt:lpstr>
      <vt:lpstr>What’s next?</vt:lpstr>
      <vt:lpstr>What’s next?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Tant de parametrisation de l’autoconversion! (ici, un petit echantillon)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Auteur</dc:creator>
  <cp:lastModifiedBy>Auteur</cp:lastModifiedBy>
  <cp:revision>1</cp:revision>
  <dcterms:created xsi:type="dcterms:W3CDTF">2025-11-07T13:30:59Z</dcterms:created>
  <dcterms:modified xsi:type="dcterms:W3CDTF">2025-11-18T17:39:54Z</dcterms:modified>
</cp:coreProperties>
</file>