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 showGuides="1">
      <p:cViewPr varScale="1">
        <p:scale>
          <a:sx n="119" d="100"/>
          <a:sy n="119" d="100"/>
        </p:scale>
        <p:origin x="76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42C044C-876A-484C-89AB-46B6E41F46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7E99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71C5E9-D43F-4C63-B13B-63AF56B40A91}"/>
              </a:ext>
            </a:extLst>
          </p:cNvPr>
          <p:cNvSpPr>
            <a:spLocks noGrp="1"/>
          </p:cNvSpPr>
          <p:nvPr/>
        </p:nvSpPr>
        <p:spPr>
          <a:xfrm>
            <a:off x="609600" y="523875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8FC9DA"/>
                </a:solidFill>
              </a:defRPr>
            </a:pPr>
            <a:r>
              <a:rPr sz="1125" b="1">
                <a:solidFill>
                  <a:srgbClr val="8FC9DA"/>
                </a:solidFill>
              </a:rPr>
              <a:t>P3 MICROPHYSICS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7EB950-5F93-4D22-808A-51CD08FB2433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7810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Refactoring, Bug Fixes</a:t>
            </a:r>
          </a:p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&amp; Testing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BAE16F-2794-4FAA-9CEF-7BBDD5A17872}"/>
              </a:ext>
            </a:extLst>
          </p:cNvPr>
          <p:cNvSpPr>
            <a:spLocks noGrp="1"/>
          </p:cNvSpPr>
          <p:nvPr/>
        </p:nvSpPr>
        <p:spPr>
          <a:xfrm>
            <a:off x="647700" y="3276600"/>
            <a:ext cx="590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C9DDE4"/>
                </a:solidFill>
              </a:defRPr>
            </a:pPr>
            <a:r>
              <a:rPr lang="en-CA" sz="1800" b="0" dirty="0">
                <a:solidFill>
                  <a:srgbClr val="C9DDE4"/>
                </a:solidFill>
              </a:rPr>
              <a:t>C</a:t>
            </a:r>
            <a:r>
              <a:rPr sz="1800" b="0" dirty="0" err="1">
                <a:solidFill>
                  <a:srgbClr val="C9DDE4"/>
                </a:solidFill>
              </a:rPr>
              <a:t>hanges</a:t>
            </a:r>
            <a:r>
              <a:rPr sz="1800" b="0" dirty="0">
                <a:solidFill>
                  <a:srgbClr val="C9DDE4"/>
                </a:solidFill>
              </a:rPr>
              <a:t> since P3 v5.5.1</a:t>
            </a:r>
            <a:endParaRPr lang="en-CA" sz="1800" b="0" dirty="0">
              <a:solidFill>
                <a:srgbClr val="C9DDE4"/>
              </a:solidFill>
            </a:endParaRPr>
          </a:p>
          <a:p>
            <a:pPr algn="l">
              <a:defRPr sz="1800" b="0">
                <a:solidFill>
                  <a:srgbClr val="C9DDE4"/>
                </a:solidFill>
              </a:defRPr>
            </a:pPr>
            <a:r>
              <a:rPr lang="en-CA" dirty="0">
                <a:solidFill>
                  <a:srgbClr val="C9DDE4"/>
                </a:solidFill>
              </a:rPr>
              <a:t>  (Branch:  </a:t>
            </a:r>
            <a:r>
              <a:rPr lang="en-CA" dirty="0" err="1">
                <a:solidFill>
                  <a:srgbClr val="C9DDE4"/>
                </a:solidFill>
              </a:rPr>
              <a:t>jason</a:t>
            </a:r>
            <a:r>
              <a:rPr lang="en-CA" dirty="0">
                <a:solidFill>
                  <a:srgbClr val="C9DDE4"/>
                </a:solidFill>
              </a:rPr>
              <a:t>-cleanup-refactor)</a:t>
            </a:r>
            <a:endParaRPr sz="1800" b="0" dirty="0">
              <a:solidFill>
                <a:srgbClr val="C9DDE4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436B839-DEB1-4696-8CCA-97AE8C72AA61}"/>
              </a:ext>
            </a:extLst>
          </p:cNvPr>
          <p:cNvSpPr>
            <a:spLocks noGrp="1"/>
          </p:cNvSpPr>
          <p:nvPr/>
        </p:nvSpPr>
        <p:spPr>
          <a:xfrm>
            <a:off x="647700" y="4114800"/>
            <a:ext cx="1257300" cy="304800"/>
          </a:xfrm>
          <a:prstGeom prst="roundRect">
            <a:avLst>
              <a:gd name="adj" fmla="val 25000"/>
            </a:avLst>
          </a:prstGeom>
          <a:solidFill>
            <a:srgbClr val="29424D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8C5FF0-D427-40B3-863E-C72991F6CCF0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B8E3EF"/>
                </a:solidFill>
              </a:defRPr>
            </a:pPr>
            <a:r>
              <a:rPr sz="1050" b="1">
                <a:solidFill>
                  <a:srgbClr val="B8E3EF"/>
                </a:solidFill>
              </a:rPr>
              <a:t>LT1 v6.9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9E19053-74AC-4836-8D2D-5D4DF9C8440C}"/>
              </a:ext>
            </a:extLst>
          </p:cNvPr>
          <p:cNvSpPr>
            <a:spLocks noGrp="1"/>
          </p:cNvSpPr>
          <p:nvPr/>
        </p:nvSpPr>
        <p:spPr>
          <a:xfrm>
            <a:off x="2038350" y="4114800"/>
            <a:ext cx="1257300" cy="304800"/>
          </a:xfrm>
          <a:prstGeom prst="roundRect">
            <a:avLst>
              <a:gd name="adj" fmla="val 25000"/>
            </a:avLst>
          </a:prstGeom>
          <a:solidFill>
            <a:srgbClr val="29424D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1DB467-CE29-4D46-A9CA-B9387D8A78DC}"/>
              </a:ext>
            </a:extLst>
          </p:cNvPr>
          <p:cNvSpPr>
            <a:spLocks noGrp="1"/>
          </p:cNvSpPr>
          <p:nvPr/>
        </p:nvSpPr>
        <p:spPr>
          <a:xfrm>
            <a:off x="2133600" y="41338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B8E3EF"/>
                </a:solidFill>
              </a:defRPr>
            </a:pPr>
            <a:r>
              <a:rPr sz="1050" b="1">
                <a:solidFill>
                  <a:srgbClr val="B8E3EF"/>
                </a:solidFill>
              </a:rPr>
              <a:t>LT2 v6.2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AD5619B-03C3-4C67-829E-70636A6C19AD}"/>
              </a:ext>
            </a:extLst>
          </p:cNvPr>
          <p:cNvSpPr>
            <a:spLocks noGrp="1"/>
          </p:cNvSpPr>
          <p:nvPr/>
        </p:nvSpPr>
        <p:spPr>
          <a:xfrm>
            <a:off x="3429000" y="4114800"/>
            <a:ext cx="1257300" cy="304800"/>
          </a:xfrm>
          <a:prstGeom prst="roundRect">
            <a:avLst>
              <a:gd name="adj" fmla="val 25000"/>
            </a:avLst>
          </a:prstGeom>
          <a:solidFill>
            <a:srgbClr val="29424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4807C0-3AE3-4CBC-A3D9-4DA89C1E04C1}"/>
              </a:ext>
            </a:extLst>
          </p:cNvPr>
          <p:cNvSpPr>
            <a:spLocks noGrp="1"/>
          </p:cNvSpPr>
          <p:nvPr/>
        </p:nvSpPr>
        <p:spPr>
          <a:xfrm>
            <a:off x="3524250" y="41338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B8E3EF"/>
                </a:solidFill>
              </a:defRPr>
            </a:pPr>
            <a:r>
              <a:rPr sz="1050" b="1">
                <a:solidFill>
                  <a:srgbClr val="B8E3EF"/>
                </a:solidFill>
              </a:rPr>
              <a:t>LT3 v1.4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DD5554A-1A68-4C03-BAF2-CDFEEDB5AC91}"/>
              </a:ext>
            </a:extLst>
          </p:cNvPr>
          <p:cNvSpPr>
            <a:spLocks noGrp="1"/>
          </p:cNvSpPr>
          <p:nvPr/>
        </p:nvSpPr>
        <p:spPr>
          <a:xfrm>
            <a:off x="8572500" y="704850"/>
            <a:ext cx="2781300" cy="4819650"/>
          </a:xfrm>
          <a:prstGeom prst="roundRect">
            <a:avLst>
              <a:gd name="adj" fmla="val 2740"/>
            </a:avLst>
          </a:prstGeom>
          <a:solidFill>
            <a:srgbClr val="21343D"/>
          </a:solidFill>
          <a:ln w="9525">
            <a:solidFill>
              <a:srgbClr val="41616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91CE09-520F-4A99-88BE-DD55E38D07E6}"/>
              </a:ext>
            </a:extLst>
          </p:cNvPr>
          <p:cNvSpPr>
            <a:spLocks noGrp="1"/>
          </p:cNvSpPr>
          <p:nvPr/>
        </p:nvSpPr>
        <p:spPr>
          <a:xfrm>
            <a:off x="8858250" y="1352550"/>
            <a:ext cx="2190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900" b="1">
                <a:solidFill>
                  <a:srgbClr val="8FC9DA"/>
                </a:solidFill>
              </a:defRPr>
            </a:pPr>
            <a:r>
              <a:rPr sz="3900" b="1">
                <a:solidFill>
                  <a:srgbClr val="8FC9DA"/>
                </a:solidFill>
              </a:rPr>
              <a:t>4,451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71B002-3FBE-472F-A351-07D4A3D2EA9B}"/>
              </a:ext>
            </a:extLst>
          </p:cNvPr>
          <p:cNvSpPr>
            <a:spLocks noGrp="1"/>
          </p:cNvSpPr>
          <p:nvPr/>
        </p:nvSpPr>
        <p:spPr>
          <a:xfrm>
            <a:off x="8858250" y="20764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lines removed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9BB2F5-F9C5-48EB-9F5F-2D97652BCE93}"/>
              </a:ext>
            </a:extLst>
          </p:cNvPr>
          <p:cNvSpPr>
            <a:spLocks noGrp="1"/>
          </p:cNvSpPr>
          <p:nvPr/>
        </p:nvSpPr>
        <p:spPr>
          <a:xfrm>
            <a:off x="8858250" y="31623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BIT-IDENTICAL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A2DBAE-E42F-4304-B6A0-47D2C41B1C9F}"/>
              </a:ext>
            </a:extLst>
          </p:cNvPr>
          <p:cNvSpPr>
            <a:spLocks noGrp="1"/>
          </p:cNvSpPr>
          <p:nvPr/>
        </p:nvSpPr>
        <p:spPr>
          <a:xfrm>
            <a:off x="8858250" y="3524250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B7C9D0"/>
                </a:solidFill>
              </a:defRPr>
            </a:pPr>
            <a:r>
              <a:rPr sz="1275" b="0">
                <a:solidFill>
                  <a:srgbClr val="B7C9D0"/>
                </a:solidFill>
              </a:rPr>
              <a:t>regression results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A82AA3-5185-48B7-9229-0A3E4948B07E}"/>
              </a:ext>
            </a:extLst>
          </p:cNvPr>
          <p:cNvSpPr>
            <a:spLocks noGrp="1"/>
          </p:cNvSpPr>
          <p:nvPr/>
        </p:nvSpPr>
        <p:spPr>
          <a:xfrm>
            <a:off x="8858250" y="4438650"/>
            <a:ext cx="2190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3600" b="1">
                <a:solidFill>
                  <a:srgbClr val="8FC9DA"/>
                </a:solidFill>
              </a:defRPr>
            </a:pPr>
            <a:r>
              <a:rPr sz="3600" b="1">
                <a:solidFill>
                  <a:srgbClr val="8FC9DA"/>
                </a:solidFill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95DA1-E09D-43DA-8607-B7F7C7F3AB03}"/>
              </a:ext>
            </a:extLst>
          </p:cNvPr>
          <p:cNvSpPr>
            <a:spLocks noGrp="1"/>
          </p:cNvSpPr>
          <p:nvPr/>
        </p:nvSpPr>
        <p:spPr>
          <a:xfrm>
            <a:off x="8858250" y="50101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operational crash fixed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0BE4BF-57AA-41A8-A672-22D1442529EE}"/>
              </a:ext>
            </a:extLst>
          </p:cNvPr>
          <p:cNvSpPr>
            <a:spLocks noGrp="1"/>
          </p:cNvSpPr>
          <p:nvPr/>
        </p:nvSpPr>
        <p:spPr>
          <a:xfrm>
            <a:off x="647700" y="6191250"/>
            <a:ext cx="571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B7C9D0"/>
                </a:solidFill>
              </a:defRPr>
            </a:pPr>
            <a:r>
              <a:rPr sz="1200" b="0">
                <a:solidFill>
                  <a:srgbClr val="B7C9D0"/>
                </a:solidFill>
              </a:rPr>
              <a:t>Jason Milbrandt  •  July 3, 2026</a:t>
            </a:r>
          </a:p>
        </p:txBody>
      </p:sp>
    </p:spTree>
    <p:extLst>
      <p:ext uri="{BB962C8B-B14F-4D97-AF65-F5344CB8AC3E}">
        <p14:creationId xmlns:p14="http://schemas.microsoft.com/office/powerpoint/2010/main" val="281586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28E52F7-3699-4823-9DD8-3C2F3C9C241C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7E99"/>
                </a:solidFill>
              </a:defRPr>
            </a:pPr>
            <a:r>
              <a:rPr sz="975" b="1">
                <a:solidFill>
                  <a:srgbClr val="2F7E99"/>
                </a:solidFill>
              </a:rPr>
              <a:t>CONTEXT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43DB9F2E-9E57-4A5D-8921-08EEE778FDF2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7242B"/>
                </a:solidFill>
              </a:defRPr>
            </a:pPr>
            <a:r>
              <a:rPr sz="2625" b="1">
                <a:solidFill>
                  <a:srgbClr val="17242B"/>
                </a:solidFill>
              </a:rPr>
              <a:t>A disciplined refactor reduced risk without changing the science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D3F31E-B740-4315-B08B-2AE7DC9F6915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2636C"/>
                </a:solidFill>
              </a:defRPr>
            </a:pPr>
            <a:r>
              <a:rPr sz="900" b="0">
                <a:solidFill>
                  <a:srgbClr val="52636C"/>
                </a:solidFill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1990EB-0A69-4757-A865-F808CE79CC5A}"/>
              </a:ext>
            </a:extLst>
          </p:cNvPr>
          <p:cNvSpPr>
            <a:spLocks noGrp="1"/>
          </p:cNvSpPr>
          <p:nvPr/>
        </p:nvSpPr>
        <p:spPr>
          <a:xfrm>
            <a:off x="514350" y="1371600"/>
            <a:ext cx="111633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52636C"/>
                </a:solidFill>
              </a:defRPr>
            </a:pPr>
            <a:r>
              <a:rPr sz="1650" b="0">
                <a:solidFill>
                  <a:srgbClr val="52636C"/>
                </a:solidFill>
              </a:rPr>
              <a:t>P3 is mature operational science: an 8.4k-line Fortran module, three lookup-table systems, multiple model interfaces, and accumulated technical debt catalogued in CODE_REVIEW.md.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804F6F-022A-42DA-AAB6-F2AD8F12220A}"/>
              </a:ext>
            </a:extLst>
          </p:cNvPr>
          <p:cNvSpPr>
            <a:spLocks noGrp="1"/>
          </p:cNvSpPr>
          <p:nvPr/>
        </p:nvSpPr>
        <p:spPr>
          <a:xfrm>
            <a:off x="514350" y="2419350"/>
            <a:ext cx="3333750" cy="1257300"/>
          </a:xfrm>
          <a:prstGeom prst="roundRect">
            <a:avLst>
              <a:gd name="adj" fmla="val 6061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1BE2EF-EC8D-4D19-85EB-099C6E8247E4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990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2F7E99"/>
                </a:solidFill>
              </a:defRPr>
            </a:pPr>
            <a:r>
              <a:rPr sz="2775" b="1">
                <a:solidFill>
                  <a:srgbClr val="2F7E99"/>
                </a:solidFill>
              </a:rPr>
              <a:t>~4,400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15B4D3-B1E9-44DE-B33F-E56F96D92755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36C"/>
                </a:solidFill>
              </a:defRPr>
            </a:pPr>
            <a:r>
              <a:rPr sz="1275" b="0">
                <a:solidFill>
                  <a:srgbClr val="52636C"/>
                </a:solidFill>
              </a:rPr>
              <a:t>net lines removed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483DB3-1D1D-4A2A-893D-F8EEA714F4BC}"/>
              </a:ext>
            </a:extLst>
          </p:cNvPr>
          <p:cNvSpPr>
            <a:spLocks noGrp="1"/>
          </p:cNvSpPr>
          <p:nvPr/>
        </p:nvSpPr>
        <p:spPr>
          <a:xfrm>
            <a:off x="4429125" y="2419350"/>
            <a:ext cx="3333750" cy="1257300"/>
          </a:xfrm>
          <a:prstGeom prst="roundRect">
            <a:avLst>
              <a:gd name="adj" fmla="val 6061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ED285A-128B-40BF-990A-71E974215778}"/>
              </a:ext>
            </a:extLst>
          </p:cNvPr>
          <p:cNvSpPr>
            <a:spLocks noGrp="1"/>
          </p:cNvSpPr>
          <p:nvPr/>
        </p:nvSpPr>
        <p:spPr>
          <a:xfrm>
            <a:off x="4600575" y="2571750"/>
            <a:ext cx="2990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2D7C68"/>
                </a:solidFill>
              </a:defRPr>
            </a:pPr>
            <a:r>
              <a:rPr sz="2775" b="1">
                <a:solidFill>
                  <a:srgbClr val="2D7C68"/>
                </a:solidFill>
              </a:rPr>
              <a:t>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D3ACDC-82D5-444F-92CE-02B34FF60874}"/>
              </a:ext>
            </a:extLst>
          </p:cNvPr>
          <p:cNvSpPr>
            <a:spLocks noGrp="1"/>
          </p:cNvSpPr>
          <p:nvPr/>
        </p:nvSpPr>
        <p:spPr>
          <a:xfrm>
            <a:off x="4600575" y="3143250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36C"/>
                </a:solidFill>
              </a:defRPr>
            </a:pPr>
            <a:r>
              <a:rPr sz="1275" b="0">
                <a:solidFill>
                  <a:srgbClr val="52636C"/>
                </a:solidFill>
              </a:rPr>
              <a:t>expected physics changes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1C7F51B-1179-4D5D-AD18-DC38E564A638}"/>
              </a:ext>
            </a:extLst>
          </p:cNvPr>
          <p:cNvSpPr>
            <a:spLocks noGrp="1"/>
          </p:cNvSpPr>
          <p:nvPr/>
        </p:nvSpPr>
        <p:spPr>
          <a:xfrm>
            <a:off x="8343900" y="2419350"/>
            <a:ext cx="3333750" cy="1257300"/>
          </a:xfrm>
          <a:prstGeom prst="roundRect">
            <a:avLst>
              <a:gd name="adj" fmla="val 6061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63CF47-6088-4FBB-8394-AE4CFE0261F6}"/>
              </a:ext>
            </a:extLst>
          </p:cNvPr>
          <p:cNvSpPr>
            <a:spLocks noGrp="1"/>
          </p:cNvSpPr>
          <p:nvPr/>
        </p:nvSpPr>
        <p:spPr>
          <a:xfrm>
            <a:off x="8515350" y="2571750"/>
            <a:ext cx="29908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B54A4A"/>
                </a:solidFill>
              </a:defRPr>
            </a:pPr>
            <a:r>
              <a:rPr sz="2775" b="1">
                <a:solidFill>
                  <a:srgbClr val="B54A4A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A84749-4AB6-47A2-B06D-94CBA2802499}"/>
              </a:ext>
            </a:extLst>
          </p:cNvPr>
          <p:cNvSpPr>
            <a:spLocks noGrp="1"/>
          </p:cNvSpPr>
          <p:nvPr/>
        </p:nvSpPr>
        <p:spPr>
          <a:xfrm>
            <a:off x="8515350" y="3143250"/>
            <a:ext cx="2990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36C"/>
                </a:solidFill>
              </a:defRPr>
            </a:pPr>
            <a:r>
              <a:rPr sz="1275" b="0">
                <a:solidFill>
                  <a:srgbClr val="52636C"/>
                </a:solidFill>
              </a:rPr>
              <a:t>operational GEM crash fixed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2CDB675-3BF3-4AAC-A5A7-3F2921E28E8B}"/>
              </a:ext>
            </a:extLst>
          </p:cNvPr>
          <p:cNvSpPr>
            <a:spLocks noGrp="1"/>
          </p:cNvSpPr>
          <p:nvPr/>
        </p:nvSpPr>
        <p:spPr>
          <a:xfrm>
            <a:off x="514350" y="4248150"/>
            <a:ext cx="11163300" cy="1466850"/>
          </a:xfrm>
          <a:prstGeom prst="roundRect">
            <a:avLst>
              <a:gd name="adj" fmla="val 5195"/>
            </a:avLst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F0739-AE84-4309-AC60-4057CBD6F1BB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8FC9DA"/>
                </a:solidFill>
              </a:defRPr>
            </a:pPr>
            <a:r>
              <a:rPr sz="1050" b="1">
                <a:solidFill>
                  <a:srgbClr val="8FC9DA"/>
                </a:solidFill>
              </a:rPr>
              <a:t>METHOD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D42B76-F788-4BA2-93B7-40F1E5607DCD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10334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Baseline first  →  implement one bounded change  →  exact comparison  →  archive evidence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7210A2-2104-4E9B-943A-EAE291636C9A}"/>
              </a:ext>
            </a:extLst>
          </p:cNvPr>
          <p:cNvSpPr>
            <a:spLocks noGrp="1"/>
          </p:cNvSpPr>
          <p:nvPr/>
        </p:nvSpPr>
        <p:spPr>
          <a:xfrm>
            <a:off x="762000" y="5295900"/>
            <a:ext cx="1033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C9DDE4"/>
                </a:solidFill>
              </a:defRPr>
            </a:pPr>
            <a:r>
              <a:rPr sz="1350" b="0">
                <a:solidFill>
                  <a:srgbClr val="C9DDE4"/>
                </a:solidFill>
              </a:rPr>
              <a:t>Every change to microphy_p3.f90 was gated by kin1d regression tests; performance-sensitive work also passed an −O2 timing gate.</a:t>
            </a:r>
          </a:p>
        </p:txBody>
      </p:sp>
    </p:spTree>
    <p:extLst>
      <p:ext uri="{BB962C8B-B14F-4D97-AF65-F5344CB8AC3E}">
        <p14:creationId xmlns:p14="http://schemas.microsoft.com/office/powerpoint/2010/main" val="893577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61DAF25-EDD0-4A40-856F-0A9D494686FE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7E99"/>
                </a:solidFill>
              </a:defRPr>
            </a:pPr>
            <a:r>
              <a:rPr sz="975" b="1">
                <a:solidFill>
                  <a:srgbClr val="2F7E99"/>
                </a:solidFill>
              </a:rPr>
              <a:t>MAINTAINABILITY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7328ED62-BB53-4755-832F-81D050CB6BAA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7242B"/>
                </a:solidFill>
              </a:defRPr>
            </a:pPr>
            <a:r>
              <a:rPr sz="2625" b="1">
                <a:solidFill>
                  <a:srgbClr val="17242B"/>
                </a:solidFill>
              </a:rPr>
              <a:t>The interpolation engine became 4,451 lines smaller—and no slower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B252EE-C893-4E55-A8B7-EEE2B027D1B0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2636C"/>
                </a:solidFill>
              </a:defRPr>
            </a:pPr>
            <a:r>
              <a:rPr sz="900" b="0">
                <a:solidFill>
                  <a:srgbClr val="52636C"/>
                </a:solidFill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B2AE74-FC9E-4D1E-9CD4-70D43EE9D790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B54A4A"/>
                </a:solidFill>
              </a:defRPr>
            </a:pPr>
            <a:r>
              <a:rPr sz="1050" b="1">
                <a:solidFill>
                  <a:srgbClr val="B54A4A"/>
                </a:solidFill>
              </a:rPr>
              <a:t>BEFORE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7F267-698F-47C2-A66B-D02176BB43D7}"/>
              </a:ext>
            </a:extLst>
          </p:cNvPr>
          <p:cNvSpPr>
            <a:spLocks noGrp="1"/>
          </p:cNvSpPr>
          <p:nvPr/>
        </p:nvSpPr>
        <p:spPr>
          <a:xfrm>
            <a:off x="6724650" y="14097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D7C68"/>
                </a:solidFill>
              </a:defRPr>
            </a:pPr>
            <a:r>
              <a:rPr sz="1050" b="1">
                <a:solidFill>
                  <a:srgbClr val="2D7C68"/>
                </a:solidFill>
              </a:rPr>
              <a:t>AFTER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BEC26C-D375-4040-B8E7-CFB7678FB7BD}"/>
              </a:ext>
            </a:extLst>
          </p:cNvPr>
          <p:cNvSpPr>
            <a:spLocks noGrp="1"/>
          </p:cNvSpPr>
          <p:nvPr/>
        </p:nvSpPr>
        <p:spPr>
          <a:xfrm>
            <a:off x="514350" y="1809750"/>
            <a:ext cx="4953000" cy="3524250"/>
          </a:xfrm>
          <a:prstGeom prst="roundRect">
            <a:avLst>
              <a:gd name="adj" fmla="val 2162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1E699-A0BD-4EB9-AB11-D78FB459DD41}"/>
              </a:ext>
            </a:extLst>
          </p:cNvPr>
          <p:cNvSpPr>
            <a:spLocks noGrp="1"/>
          </p:cNvSpPr>
          <p:nvPr/>
        </p:nvSpPr>
        <p:spPr>
          <a:xfrm>
            <a:off x="6724650" y="1809750"/>
            <a:ext cx="4953000" cy="3524250"/>
          </a:xfrm>
          <a:prstGeom prst="roundRect">
            <a:avLst>
              <a:gd name="adj" fmla="val 2162"/>
            </a:avLst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21C485-9AAE-46BB-9261-22D8721EEFA6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4457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242B"/>
                </a:solidFill>
              </a:defRPr>
            </a:pPr>
            <a:r>
              <a:rPr sz="2025" b="1">
                <a:solidFill>
                  <a:srgbClr val="17242B"/>
                </a:solidFill>
              </a:rPr>
              <a:t>Six hand-unrolled interpolation 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1F3F32-C074-4698-ABA6-69B17CD8DBA2}"/>
              </a:ext>
            </a:extLst>
          </p:cNvPr>
          <p:cNvSpPr>
            <a:spLocks noGrp="1"/>
          </p:cNvSpPr>
          <p:nvPr/>
        </p:nvSpPr>
        <p:spPr>
          <a:xfrm>
            <a:off x="6972300" y="2038350"/>
            <a:ext cx="4457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242B"/>
                </a:solidFill>
              </a:defRPr>
            </a:pPr>
            <a:r>
              <a:rPr sz="2025" b="1">
                <a:solidFill>
                  <a:srgbClr val="17242B"/>
                </a:solidFill>
              </a:rPr>
              <a:t>One elemental lerp with explicit corner trees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AB17B1-5084-4C67-8F47-E73A385F4A48}"/>
              </a:ext>
            </a:extLst>
          </p:cNvPr>
          <p:cNvSpPr>
            <a:spLocks noGrp="1"/>
          </p:cNvSpPr>
          <p:nvPr/>
        </p:nvSpPr>
        <p:spPr>
          <a:xfrm>
            <a:off x="781050" y="2819400"/>
            <a:ext cx="114300" cy="114300"/>
          </a:xfrm>
          <a:prstGeom prst="rect">
            <a:avLst/>
          </a:prstGeom>
          <a:solidFill>
            <a:srgbClr val="B54A4A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6D4EC3-66B2-4595-BAF1-E97ECE02854B}"/>
              </a:ext>
            </a:extLst>
          </p:cNvPr>
          <p:cNvSpPr>
            <a:spLocks noGrp="1"/>
          </p:cNvSpPr>
          <p:nvPr/>
        </p:nvSpPr>
        <p:spPr>
          <a:xfrm>
            <a:off x="1047750" y="266700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~3,500 lines of copy-pasted multilinear algebra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3DB176-F6AE-45A9-9D25-6AAF96EF5864}"/>
              </a:ext>
            </a:extLst>
          </p:cNvPr>
          <p:cNvSpPr>
            <a:spLocks noGrp="1"/>
          </p:cNvSpPr>
          <p:nvPr/>
        </p:nvSpPr>
        <p:spPr>
          <a:xfrm>
            <a:off x="781050" y="3486150"/>
            <a:ext cx="114300" cy="114300"/>
          </a:xfrm>
          <a:prstGeom prst="rect">
            <a:avLst/>
          </a:prstGeom>
          <a:solidFill>
            <a:srgbClr val="B54A4A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571F70-E8E6-4D57-AA81-38F120D5BD1E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Small fixes had to be repeated across 4D–6D paths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0A8251-DB4B-4C85-B977-1D12AC320B59}"/>
              </a:ext>
            </a:extLst>
          </p:cNvPr>
          <p:cNvSpPr>
            <a:spLocks noGrp="1"/>
          </p:cNvSpPr>
          <p:nvPr/>
        </p:nvSpPr>
        <p:spPr>
          <a:xfrm>
            <a:off x="781050" y="4152900"/>
            <a:ext cx="114300" cy="114300"/>
          </a:xfrm>
          <a:prstGeom prst="rect">
            <a:avLst/>
          </a:prstGeom>
          <a:solidFill>
            <a:srgbClr val="B54A4A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EE151D-FFF6-4EAB-985B-C814555F3319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Subtle drift was difficult to review or diff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143069-79D3-4F0E-B849-43A81657C5DE}"/>
              </a:ext>
            </a:extLst>
          </p:cNvPr>
          <p:cNvSpPr>
            <a:spLocks noGrp="1"/>
          </p:cNvSpPr>
          <p:nvPr/>
        </p:nvSpPr>
        <p:spPr>
          <a:xfrm>
            <a:off x="6991350" y="2819400"/>
            <a:ext cx="114300" cy="114300"/>
          </a:xfrm>
          <a:prstGeom prst="rect">
            <a:avLst/>
          </a:prstGeom>
          <a:solidFill>
            <a:srgbClr val="2D7C68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9C9A41-75BF-4098-8BDA-C2133314FB42}"/>
              </a:ext>
            </a:extLst>
          </p:cNvPr>
          <p:cNvSpPr>
            <a:spLocks noGrp="1"/>
          </p:cNvSpPr>
          <p:nvPr/>
        </p:nvSpPr>
        <p:spPr>
          <a:xfrm>
            <a:off x="7258050" y="266700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All six access paths remain operation-for-operation explicit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4F24E5-4211-45EC-B864-25B69CD44203}"/>
              </a:ext>
            </a:extLst>
          </p:cNvPr>
          <p:cNvSpPr>
            <a:spLocks noGrp="1"/>
          </p:cNvSpPr>
          <p:nvPr/>
        </p:nvSpPr>
        <p:spPr>
          <a:xfrm>
            <a:off x="6991350" y="3486150"/>
            <a:ext cx="114300" cy="114300"/>
          </a:xfrm>
          <a:prstGeom prst="rect">
            <a:avLst/>
          </a:prstGeom>
          <a:solidFill>
            <a:srgbClr val="2D7C68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2F8970-C867-42D9-AB69-71F8449122D7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4,451 lines removed from microphy_p3.f90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E9F201-F224-443E-BD42-04D265851D53}"/>
              </a:ext>
            </a:extLst>
          </p:cNvPr>
          <p:cNvSpPr>
            <a:spLocks noGrp="1"/>
          </p:cNvSpPr>
          <p:nvPr/>
        </p:nvSpPr>
        <p:spPr>
          <a:xfrm>
            <a:off x="6991350" y="4152900"/>
            <a:ext cx="114300" cy="114300"/>
          </a:xfrm>
          <a:prstGeom prst="rect">
            <a:avLst/>
          </a:prstGeom>
          <a:solidFill>
            <a:srgbClr val="2D7C6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306620-47D0-4AF0-A331-DF3043820992}"/>
              </a:ext>
            </a:extLst>
          </p:cNvPr>
          <p:cNvSpPr>
            <a:spLocks noGrp="1"/>
          </p:cNvSpPr>
          <p:nvPr/>
        </p:nvSpPr>
        <p:spPr>
          <a:xfrm>
            <a:off x="7258050" y="4000500"/>
            <a:ext cx="400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Bit-identical; −O2 timing matched or beat the original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9DC36A2-3327-4562-8ADC-912311C14DBA}"/>
              </a:ext>
            </a:extLst>
          </p:cNvPr>
          <p:cNvSpPr>
            <a:spLocks noGrp="1"/>
          </p:cNvSpPr>
          <p:nvPr/>
        </p:nvSpPr>
        <p:spPr>
          <a:xfrm>
            <a:off x="6724650" y="57340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2F7E99"/>
                </a:solidFill>
              </a:defRPr>
            </a:pPr>
            <a:r>
              <a:rPr sz="1200" b="1">
                <a:solidFill>
                  <a:srgbClr val="2F7E99"/>
                </a:solidFill>
              </a:rPr>
              <a:t>3TT example: 0.81 ms after vs 0.86 ms reference</a:t>
            </a:r>
          </a:p>
        </p:txBody>
      </p:sp>
    </p:spTree>
    <p:extLst>
      <p:ext uri="{BB962C8B-B14F-4D97-AF65-F5344CB8AC3E}">
        <p14:creationId xmlns:p14="http://schemas.microsoft.com/office/powerpoint/2010/main" val="714138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D7E7E81-1B59-4D1F-AE01-FFE65F59D6C1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7E99"/>
                </a:solidFill>
              </a:defRPr>
            </a:pPr>
            <a:r>
              <a:rPr sz="975" b="1">
                <a:solidFill>
                  <a:srgbClr val="2F7E99"/>
                </a:solidFill>
              </a:rPr>
              <a:t>MAINTAINABILITY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BAE134B4-0FC4-4C25-9383-06449A920EDA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7242B"/>
                </a:solidFill>
              </a:defRPr>
            </a:pPr>
            <a:r>
              <a:rPr sz="2625" b="1">
                <a:solidFill>
                  <a:srgbClr val="17242B"/>
                </a:solidFill>
              </a:rPr>
              <a:t>Names and allocation rules now expose intent and reduce memory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B57D83-3A96-4E0B-B765-281483BB3C2A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2636C"/>
                </a:solidFill>
              </a:defRPr>
            </a:pPr>
            <a:r>
              <a:rPr sz="900" b="0">
                <a:solidFill>
                  <a:srgbClr val="52636C"/>
                </a:solidFill>
              </a:rPr>
              <a:t>04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83C5FC7-6B36-4ADE-AAB8-25CD5B64CE7D}"/>
              </a:ext>
            </a:extLst>
          </p:cNvPr>
          <p:cNvSpPr>
            <a:spLocks noGrp="1"/>
          </p:cNvSpPr>
          <p:nvPr/>
        </p:nvSpPr>
        <p:spPr>
          <a:xfrm>
            <a:off x="514350" y="1695450"/>
            <a:ext cx="5257800" cy="1695450"/>
          </a:xfrm>
          <a:prstGeom prst="roundRect">
            <a:avLst>
              <a:gd name="adj" fmla="val 4494"/>
            </a:avLst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7535A7-208D-41EF-B42B-B7713DAC59C7}"/>
              </a:ext>
            </a:extLst>
          </p:cNvPr>
          <p:cNvSpPr>
            <a:spLocks noGrp="1"/>
          </p:cNvSpPr>
          <p:nvPr/>
        </p:nvSpPr>
        <p:spPr>
          <a:xfrm>
            <a:off x="742950" y="19050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2F7E99"/>
                </a:solidFill>
              </a:defRPr>
            </a:pPr>
            <a:r>
              <a:rPr sz="2025" b="1">
                <a:solidFill>
                  <a:srgbClr val="2F7E99"/>
                </a:solidFill>
              </a:rPr>
              <a:t>57 named parameters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2A8E8-86CA-485C-871E-BA7D509DA34F}"/>
              </a:ext>
            </a:extLst>
          </p:cNvPr>
          <p:cNvSpPr>
            <a:spLocks noGrp="1"/>
          </p:cNvSpPr>
          <p:nvPr/>
        </p:nvSpPr>
        <p:spPr>
          <a:xfrm>
            <a:off x="742950" y="2419350"/>
            <a:ext cx="4800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replaced 84 bare process-rate indices across all six LUT access functions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3D729AC-8E63-40F3-9FC0-4EF17AAC32C2}"/>
              </a:ext>
            </a:extLst>
          </p:cNvPr>
          <p:cNvSpPr>
            <a:spLocks noGrp="1"/>
          </p:cNvSpPr>
          <p:nvPr/>
        </p:nvSpPr>
        <p:spPr>
          <a:xfrm>
            <a:off x="6096000" y="1695450"/>
            <a:ext cx="5257800" cy="1695450"/>
          </a:xfrm>
          <a:prstGeom prst="roundRect">
            <a:avLst>
              <a:gd name="adj" fmla="val 4494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C95C78-8AF4-4C4B-A80B-FD1D33B5AAF5}"/>
              </a:ext>
            </a:extLst>
          </p:cNvPr>
          <p:cNvSpPr>
            <a:spLocks noGrp="1"/>
          </p:cNvSpPr>
          <p:nvPr/>
        </p:nvSpPr>
        <p:spPr>
          <a:xfrm>
            <a:off x="6324600" y="190500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242B"/>
                </a:solidFill>
              </a:defRPr>
            </a:pPr>
            <a:r>
              <a:rPr sz="2025" b="1">
                <a:solidFill>
                  <a:srgbClr val="17242B"/>
                </a:solidFill>
              </a:rPr>
              <a:t>Configuration-aware allocation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62BA5C-A0E6-4C30-A13D-2566EF53610F}"/>
              </a:ext>
            </a:extLst>
          </p:cNvPr>
          <p:cNvSpPr>
            <a:spLocks noGrp="1"/>
          </p:cNvSpPr>
          <p:nvPr/>
        </p:nvSpPr>
        <p:spPr>
          <a:xfrm>
            <a:off x="6324600" y="2419350"/>
            <a:ext cx="4800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static LUT arrays became allocatable; only active 2-moment/3-moment families are resident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8FFB88F-ED37-49E9-A943-F4B462591335}"/>
              </a:ext>
            </a:extLst>
          </p:cNvPr>
          <p:cNvSpPr>
            <a:spLocks noGrp="1"/>
          </p:cNvSpPr>
          <p:nvPr/>
        </p:nvSpPr>
        <p:spPr>
          <a:xfrm>
            <a:off x="514350" y="3733800"/>
            <a:ext cx="5257800" cy="1695450"/>
          </a:xfrm>
          <a:prstGeom prst="roundRect">
            <a:avLst>
              <a:gd name="adj" fmla="val 4494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82B839-7538-4AE0-87AD-B15CE06BE4CF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242B"/>
                </a:solidFill>
              </a:defRPr>
            </a:pPr>
            <a:r>
              <a:rPr sz="2025" b="1">
                <a:solidFill>
                  <a:srgbClr val="17242B"/>
                </a:solidFill>
              </a:rPr>
              <a:t>~65 MB less memory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F15B3C-087B-488D-BA44-2F0778A08F10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4800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typical per-process saving; liqfrac-only ice–ice tables are now allocated only when needed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AE5F3D0-A06F-474E-B24E-EE6E4EA899AF}"/>
              </a:ext>
            </a:extLst>
          </p:cNvPr>
          <p:cNvSpPr>
            <a:spLocks noGrp="1"/>
          </p:cNvSpPr>
          <p:nvPr/>
        </p:nvSpPr>
        <p:spPr>
          <a:xfrm>
            <a:off x="6096000" y="3733800"/>
            <a:ext cx="5257800" cy="1695450"/>
          </a:xfrm>
          <a:prstGeom prst="roundRect">
            <a:avLst>
              <a:gd name="adj" fmla="val 4494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53D5CE-76C6-4FDD-AD89-BD891E02EC88}"/>
              </a:ext>
            </a:extLst>
          </p:cNvPr>
          <p:cNvSpPr>
            <a:spLocks noGrp="1"/>
          </p:cNvSpPr>
          <p:nvPr/>
        </p:nvSpPr>
        <p:spPr>
          <a:xfrm>
            <a:off x="6324600" y="3943350"/>
            <a:ext cx="480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242B"/>
                </a:solidFill>
              </a:defRPr>
            </a:pPr>
            <a:r>
              <a:rPr sz="2025" b="1">
                <a:solidFill>
                  <a:srgbClr val="17242B"/>
                </a:solidFill>
              </a:rPr>
              <a:t>Reproducible LUT2 assembly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F04D55-8337-49A9-938E-24BA630B2709}"/>
              </a:ext>
            </a:extLst>
          </p:cNvPr>
          <p:cNvSpPr>
            <a:spLocks noGrp="1"/>
          </p:cNvSpPr>
          <p:nvPr/>
        </p:nvSpPr>
        <p:spPr>
          <a:xfrm>
            <a:off x="6324600" y="4457700"/>
            <a:ext cx="4800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collector/collectee liquid-fraction ordering and four-run paste protocol are documented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3E51C5-E4C6-4BA2-8AD9-F0895FDB4CC9}"/>
              </a:ext>
            </a:extLst>
          </p:cNvPr>
          <p:cNvSpPr>
            <a:spLocks noGrp="1"/>
          </p:cNvSpPr>
          <p:nvPr/>
        </p:nvSpPr>
        <p:spPr>
          <a:xfrm>
            <a:off x="4819650" y="5962650"/>
            <a:ext cx="2552700" cy="304800"/>
          </a:xfrm>
          <a:prstGeom prst="roundRect">
            <a:avLst>
              <a:gd name="adj" fmla="val 25000"/>
            </a:avLst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87917D-84AD-423C-939E-5E71910F5F36}"/>
              </a:ext>
            </a:extLst>
          </p:cNvPr>
          <p:cNvSpPr>
            <a:spLocks noGrp="1"/>
          </p:cNvSpPr>
          <p:nvPr/>
        </p:nvSpPr>
        <p:spPr>
          <a:xfrm>
            <a:off x="4914900" y="5981700"/>
            <a:ext cx="2362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ALL BIT-IDENTICAL</a:t>
            </a:r>
          </a:p>
        </p:txBody>
      </p:sp>
    </p:spTree>
    <p:extLst>
      <p:ext uri="{BB962C8B-B14F-4D97-AF65-F5344CB8AC3E}">
        <p14:creationId xmlns:p14="http://schemas.microsoft.com/office/powerpoint/2010/main" val="984543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928658C-3A53-4AB2-BE30-7F94C82BB82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7E99"/>
                </a:solidFill>
              </a:defRPr>
            </a:pPr>
            <a:r>
              <a:rPr sz="975" b="1">
                <a:solidFill>
                  <a:srgbClr val="2F7E99"/>
                </a:solidFill>
              </a:rPr>
              <a:t>CORRECTNESS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6E7C1D3D-8653-493A-9452-38EF99D9D6E5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7242B"/>
                </a:solidFill>
              </a:defRPr>
            </a:pPr>
            <a:r>
              <a:rPr sz="2625" b="1">
                <a:solidFill>
                  <a:srgbClr val="17242B"/>
                </a:solidFill>
              </a:rPr>
              <a:t>A joint frozen-mass budget fixed a separate mixed-phase conservation error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FECD1E-349E-4F8B-8F8E-8A05B368F78B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2636C"/>
                </a:solidFill>
              </a:defRPr>
            </a:pPr>
            <a:r>
              <a:rPr sz="900" b="0">
                <a:solidFill>
                  <a:srgbClr val="52636C"/>
                </a:solidFill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E7F2A-7A18-4AFF-9AE4-7CD5275102AD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B54A4A"/>
                </a:solidFill>
              </a:defRPr>
            </a:pPr>
            <a:r>
              <a:rPr sz="1050" b="1">
                <a:solidFill>
                  <a:srgbClr val="B54A4A"/>
                </a:solidFill>
              </a:rPr>
              <a:t>BEFORE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E3ADC63-4284-4F7E-96B5-A47C3C86CDEF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4953000" cy="3200400"/>
          </a:xfrm>
          <a:prstGeom prst="roundRect">
            <a:avLst>
              <a:gd name="adj" fmla="val 2381"/>
            </a:avLst>
          </a:prstGeom>
          <a:solidFill>
            <a:srgbClr val="FFF4F4"/>
          </a:solidFill>
          <a:ln w="9525">
            <a:solidFill>
              <a:srgbClr val="E7C7C7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4B173-AD0B-4B6E-8639-4757865767E7}"/>
              </a:ext>
            </a:extLst>
          </p:cNvPr>
          <p:cNvSpPr>
            <a:spLocks noGrp="1"/>
          </p:cNvSpPr>
          <p:nvPr/>
        </p:nvSpPr>
        <p:spPr>
          <a:xfrm>
            <a:off x="781050" y="1981200"/>
            <a:ext cx="4438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242B"/>
                </a:solidFill>
              </a:defRPr>
            </a:pPr>
            <a:r>
              <a:rPr sz="2025" b="1">
                <a:solidFill>
                  <a:srgbClr val="17242B"/>
                </a:solidFill>
              </a:rPr>
              <a:t>Three sinks shared one reservoir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960476-823C-4B1F-BB47-9ED33E2EEE3E}"/>
              </a:ext>
            </a:extLst>
          </p:cNvPr>
          <p:cNvSpPr>
            <a:spLocks noGrp="1"/>
          </p:cNvSpPr>
          <p:nvPr/>
        </p:nvSpPr>
        <p:spPr>
          <a:xfrm>
            <a:off x="876300" y="2743200"/>
            <a:ext cx="114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B54A4A"/>
                </a:solidFill>
              </a:defRPr>
            </a:pPr>
            <a:r>
              <a:rPr sz="2025" b="1">
                <a:solidFill>
                  <a:srgbClr val="B54A4A"/>
                </a:solidFill>
              </a:rPr>
              <a:t>qisub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AF5C9D-606E-405C-97AA-8A0680462C4D}"/>
              </a:ext>
            </a:extLst>
          </p:cNvPr>
          <p:cNvSpPr>
            <a:spLocks noGrp="1"/>
          </p:cNvSpPr>
          <p:nvPr/>
        </p:nvSpPr>
        <p:spPr>
          <a:xfrm>
            <a:off x="2057400" y="2743200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52636C"/>
                </a:solidFill>
              </a:defRPr>
            </a:pPr>
            <a:r>
              <a:rPr sz="2025" b="1">
                <a:solidFill>
                  <a:srgbClr val="52636C"/>
                </a:solidFill>
              </a:rPr>
              <a:t>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7EDCC5-A58C-42C9-9EBB-95F0ED1A9B09}"/>
              </a:ext>
            </a:extLst>
          </p:cNvPr>
          <p:cNvSpPr>
            <a:spLocks noGrp="1"/>
          </p:cNvSpPr>
          <p:nvPr/>
        </p:nvSpPr>
        <p:spPr>
          <a:xfrm>
            <a:off x="2438400" y="2743200"/>
            <a:ext cx="114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B54A4A"/>
                </a:solidFill>
              </a:defRPr>
            </a:pPr>
            <a:r>
              <a:rPr sz="2025" b="1">
                <a:solidFill>
                  <a:srgbClr val="B54A4A"/>
                </a:solidFill>
              </a:rPr>
              <a:t>qimlt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08606D-9AC5-4EDF-B1B2-895A0009A61B}"/>
              </a:ext>
            </a:extLst>
          </p:cNvPr>
          <p:cNvSpPr>
            <a:spLocks noGrp="1"/>
          </p:cNvSpPr>
          <p:nvPr/>
        </p:nvSpPr>
        <p:spPr>
          <a:xfrm>
            <a:off x="3619500" y="2743200"/>
            <a:ext cx="342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52636C"/>
                </a:solidFill>
              </a:defRPr>
            </a:pPr>
            <a:r>
              <a:rPr sz="2025" b="1">
                <a:solidFill>
                  <a:srgbClr val="52636C"/>
                </a:solidFill>
              </a:rPr>
              <a:t>+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4BC18D-1FE8-4AA0-AAA1-AD0B29622973}"/>
              </a:ext>
            </a:extLst>
          </p:cNvPr>
          <p:cNvSpPr>
            <a:spLocks noGrp="1"/>
          </p:cNvSpPr>
          <p:nvPr/>
        </p:nvSpPr>
        <p:spPr>
          <a:xfrm>
            <a:off x="4000500" y="2743200"/>
            <a:ext cx="114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B54A4A"/>
                </a:solidFill>
              </a:defRPr>
            </a:pPr>
            <a:r>
              <a:rPr sz="2025" b="1">
                <a:solidFill>
                  <a:srgbClr val="B54A4A"/>
                </a:solidFill>
              </a:rPr>
              <a:t>qrmlt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1631D8-EF71-4FE6-9CD1-ACA416FFC528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43434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Each sink was capped locally, but the combined depletion could exceed the same available frozen-ice mass in a melting, subsaturated layer.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46E420-E5C2-4BA3-939B-C1DCE1DB7052}"/>
              </a:ext>
            </a:extLst>
          </p:cNvPr>
          <p:cNvSpPr>
            <a:spLocks noGrp="1"/>
          </p:cNvSpPr>
          <p:nvPr/>
        </p:nvSpPr>
        <p:spPr>
          <a:xfrm>
            <a:off x="6724650" y="142875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D7C68"/>
                </a:solidFill>
              </a:defRPr>
            </a:pPr>
            <a:r>
              <a:rPr sz="1050" b="1">
                <a:solidFill>
                  <a:srgbClr val="2D7C68"/>
                </a:solidFill>
              </a:rPr>
              <a:t>AFTER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6DE1B09-B8BD-4B42-BF25-604ED048D455}"/>
              </a:ext>
            </a:extLst>
          </p:cNvPr>
          <p:cNvSpPr>
            <a:spLocks noGrp="1"/>
          </p:cNvSpPr>
          <p:nvPr/>
        </p:nvSpPr>
        <p:spPr>
          <a:xfrm>
            <a:off x="6724650" y="1752600"/>
            <a:ext cx="4953000" cy="3200400"/>
          </a:xfrm>
          <a:prstGeom prst="roundRect">
            <a:avLst>
              <a:gd name="adj" fmla="val 2381"/>
            </a:avLst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DF5158-58D0-4629-B3EC-027658FE7876}"/>
              </a:ext>
            </a:extLst>
          </p:cNvPr>
          <p:cNvSpPr>
            <a:spLocks noGrp="1"/>
          </p:cNvSpPr>
          <p:nvPr/>
        </p:nvSpPr>
        <p:spPr>
          <a:xfrm>
            <a:off x="6991350" y="1981200"/>
            <a:ext cx="4438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242B"/>
                </a:solidFill>
              </a:defRPr>
            </a:pPr>
            <a:r>
              <a:rPr sz="2025" b="1">
                <a:solidFill>
                  <a:srgbClr val="17242B"/>
                </a:solidFill>
              </a:rPr>
              <a:t>One limiter enforces the shared budget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824CAF-A0D0-4BC9-B733-E2DDF6F2A68C}"/>
              </a:ext>
            </a:extLst>
          </p:cNvPr>
          <p:cNvSpPr>
            <a:spLocks noGrp="1"/>
          </p:cNvSpPr>
          <p:nvPr/>
        </p:nvSpPr>
        <p:spPr>
          <a:xfrm>
            <a:off x="7124700" y="2743200"/>
            <a:ext cx="4133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2D7C68"/>
                </a:solidFill>
              </a:defRPr>
            </a:pPr>
            <a:r>
              <a:rPr sz="2025" b="1">
                <a:solidFill>
                  <a:srgbClr val="2D7C68"/>
                </a:solidFill>
              </a:rPr>
              <a:t>qisub + qimlt + qrmlt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C22085-3BBC-4494-8CCA-5B48D7023312}"/>
              </a:ext>
            </a:extLst>
          </p:cNvPr>
          <p:cNvSpPr>
            <a:spLocks noGrp="1"/>
          </p:cNvSpPr>
          <p:nvPr/>
        </p:nvSpPr>
        <p:spPr>
          <a:xfrm>
            <a:off x="8477250" y="32385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52636C"/>
                </a:solidFill>
              </a:defRPr>
            </a:pPr>
            <a:r>
              <a:rPr sz="2100" b="1">
                <a:solidFill>
                  <a:srgbClr val="52636C"/>
                </a:solidFill>
              </a:rPr>
              <a:t>≤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9613BF-8A31-401A-9A2D-677244899AE4}"/>
              </a:ext>
            </a:extLst>
          </p:cNvPr>
          <p:cNvSpPr>
            <a:spLocks noGrp="1"/>
          </p:cNvSpPr>
          <p:nvPr/>
        </p:nvSpPr>
        <p:spPr>
          <a:xfrm>
            <a:off x="7124700" y="3714750"/>
            <a:ext cx="4133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2F7E99"/>
                </a:solidFill>
              </a:defRPr>
            </a:pPr>
            <a:r>
              <a:rPr sz="1800" b="1">
                <a:solidFill>
                  <a:srgbClr val="2F7E99"/>
                </a:solidFill>
              </a:rPr>
              <a:t>frozen mass + frozen sources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4F44215-0B86-45B8-8B8C-04C5A409F754}"/>
              </a:ext>
            </a:extLst>
          </p:cNvPr>
          <p:cNvSpPr>
            <a:spLocks noGrp="1"/>
          </p:cNvSpPr>
          <p:nvPr/>
        </p:nvSpPr>
        <p:spPr>
          <a:xfrm>
            <a:off x="6991350" y="4305300"/>
            <a:ext cx="4438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When the joint sink binds, associated number and sixth-moment tendencies are scaled by the same ratio.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0DF9935-D3AA-4FE1-9D7D-6FC66B79EEDA}"/>
              </a:ext>
            </a:extLst>
          </p:cNvPr>
          <p:cNvSpPr>
            <a:spLocks noGrp="1"/>
          </p:cNvSpPr>
          <p:nvPr/>
        </p:nvSpPr>
        <p:spPr>
          <a:xfrm>
            <a:off x="514350" y="5276850"/>
            <a:ext cx="11163300" cy="895350"/>
          </a:xfrm>
          <a:prstGeom prst="roundRect">
            <a:avLst>
              <a:gd name="adj" fmla="val 8511"/>
            </a:avLst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56FFA9F-930F-4B51-8587-EA2490AD7324}"/>
              </a:ext>
            </a:extLst>
          </p:cNvPr>
          <p:cNvSpPr>
            <a:spLocks noGrp="1"/>
          </p:cNvSpPr>
          <p:nvPr/>
        </p:nvSpPr>
        <p:spPr>
          <a:xfrm>
            <a:off x="762000" y="5410200"/>
            <a:ext cx="200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8FC9DA"/>
                </a:solidFill>
              </a:defRPr>
            </a:pPr>
            <a:r>
              <a:rPr sz="1050" b="1">
                <a:solidFill>
                  <a:srgbClr val="8FC9DA"/>
                </a:solidFill>
              </a:rPr>
              <a:t>Important distinction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85523C-20EA-4216-8F16-9B41CDD3955A}"/>
              </a:ext>
            </a:extLst>
          </p:cNvPr>
          <p:cNvSpPr>
            <a:spLocks noGrp="1"/>
          </p:cNvSpPr>
          <p:nvPr/>
        </p:nvSpPr>
        <p:spPr>
          <a:xfrm>
            <a:off x="762000" y="5676900"/>
            <a:ext cx="1047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Correct physics and retained—but not the GEM crash fix. The existing 0.99 clip corrected this state before sedimentation.</a:t>
            </a:r>
          </a:p>
        </p:txBody>
      </p:sp>
    </p:spTree>
    <p:extLst>
      <p:ext uri="{BB962C8B-B14F-4D97-AF65-F5344CB8AC3E}">
        <p14:creationId xmlns:p14="http://schemas.microsoft.com/office/powerpoint/2010/main" val="153301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4099877-861B-441A-8046-679F2B2F71E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7E99"/>
                </a:solidFill>
              </a:defRPr>
            </a:pPr>
            <a:r>
              <a:rPr sz="975" b="1">
                <a:solidFill>
                  <a:srgbClr val="2F7E99"/>
                </a:solidFill>
              </a:rPr>
              <a:t>CORRECTNESS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81B39BA6-8F11-4AB5-A3E7-4EEF89B78C44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7242B"/>
                </a:solidFill>
              </a:defRPr>
            </a:pPr>
            <a:r>
              <a:rPr sz="2625" b="1">
                <a:solidFill>
                  <a:srgbClr val="17242B"/>
                </a:solidFill>
              </a:rPr>
              <a:t>Sedimentation could leave zero frozen mass and trigger a GEM FPE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AD3AF1-3C90-483E-B998-62F071944BED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2636C"/>
                </a:solidFill>
              </a:defRPr>
            </a:pPr>
            <a:r>
              <a:rPr sz="900" b="0">
                <a:solidFill>
                  <a:srgbClr val="52636C"/>
                </a:solidFill>
              </a:rPr>
              <a:t>06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572082-4255-4CEB-8AE2-D80BE7867E52}"/>
              </a:ext>
            </a:extLst>
          </p:cNvPr>
          <p:cNvSpPr>
            <a:spLocks noGrp="1"/>
          </p:cNvSpPr>
          <p:nvPr/>
        </p:nvSpPr>
        <p:spPr>
          <a:xfrm>
            <a:off x="514350" y="1581150"/>
            <a:ext cx="11163300" cy="1066800"/>
          </a:xfrm>
          <a:prstGeom prst="roundRect">
            <a:avLst>
              <a:gd name="adj" fmla="val 7143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DE68C-3E69-4642-A9C8-2DB1C7E37C27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2636C"/>
                </a:solidFill>
              </a:defRPr>
            </a:pPr>
            <a:r>
              <a:rPr sz="1200" b="1">
                <a:solidFill>
                  <a:srgbClr val="52636C"/>
                </a:solidFill>
              </a:rPr>
              <a:t>frozen ice mass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40260A-DBDC-43E8-B872-8019BA091560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B54A4A"/>
                </a:solidFill>
              </a:defRPr>
            </a:pPr>
            <a:r>
              <a:rPr sz="2250" b="1">
                <a:solidFill>
                  <a:srgbClr val="B54A4A"/>
                </a:solidFill>
              </a:rPr>
              <a:t>qitot − qiliq  → 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24AE1B-F756-4C44-825C-A03FC3F8541C}"/>
              </a:ext>
            </a:extLst>
          </p:cNvPr>
          <p:cNvSpPr>
            <a:spLocks noGrp="1"/>
          </p:cNvSpPr>
          <p:nvPr/>
        </p:nvSpPr>
        <p:spPr>
          <a:xfrm>
            <a:off x="4953000" y="1752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2636C"/>
                </a:solidFill>
              </a:defRPr>
            </a:pPr>
            <a:r>
              <a:rPr sz="1200" b="1">
                <a:solidFill>
                  <a:srgbClr val="52636C"/>
                </a:solidFill>
              </a:rPr>
              <a:t>rime fraction index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622C96-36F9-4673-B393-18AF02C15C76}"/>
              </a:ext>
            </a:extLst>
          </p:cNvPr>
          <p:cNvSpPr>
            <a:spLocks noGrp="1"/>
          </p:cNvSpPr>
          <p:nvPr/>
        </p:nvSpPr>
        <p:spPr>
          <a:xfrm>
            <a:off x="4953000" y="20764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1">
                <a:solidFill>
                  <a:srgbClr val="B54A4A"/>
                </a:solidFill>
              </a:defRPr>
            </a:pPr>
            <a:r>
              <a:rPr sz="2100" b="1">
                <a:solidFill>
                  <a:srgbClr val="B54A4A"/>
                </a:solidFill>
              </a:rPr>
              <a:t>qirim / (qitot − qiliq)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57B7A4-BA85-41A7-8508-CBA610B00CB5}"/>
              </a:ext>
            </a:extLst>
          </p:cNvPr>
          <p:cNvSpPr>
            <a:spLocks noGrp="1"/>
          </p:cNvSpPr>
          <p:nvPr/>
        </p:nvSpPr>
        <p:spPr>
          <a:xfrm>
            <a:off x="9144000" y="17526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52636C"/>
                </a:solidFill>
              </a:defRPr>
            </a:pPr>
            <a:r>
              <a:rPr sz="1200" b="1">
                <a:solidFill>
                  <a:srgbClr val="52636C"/>
                </a:solidFill>
              </a:rPr>
              <a:t>failure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1BFA75-34B9-47EE-98EF-5172E29A8E26}"/>
              </a:ext>
            </a:extLst>
          </p:cNvPr>
          <p:cNvSpPr>
            <a:spLocks noGrp="1"/>
          </p:cNvSpPr>
          <p:nvPr/>
        </p:nvSpPr>
        <p:spPr>
          <a:xfrm>
            <a:off x="9144000" y="207645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B54A4A"/>
                </a:solidFill>
              </a:defRPr>
            </a:pPr>
            <a:r>
              <a:rPr sz="1800" b="1">
                <a:solidFill>
                  <a:srgbClr val="B54A4A"/>
                </a:solidFill>
              </a:rPr>
              <a:t>Inf / NaN → INT → FPE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C8AD8DEB-20E9-4A36-9738-EFCA9708C1C0}"/>
              </a:ext>
            </a:extLst>
          </p:cNvPr>
          <p:cNvSpPr>
            <a:spLocks noGrp="1"/>
          </p:cNvSpPr>
          <p:nvPr/>
        </p:nvSpPr>
        <p:spPr>
          <a:xfrm>
            <a:off x="4095750" y="2076450"/>
            <a:ext cx="647700" cy="285750"/>
          </a:xfrm>
          <a:prstGeom prst="rightArrow">
            <a:avLst/>
          </a:prstGeom>
          <a:solidFill>
            <a:srgbClr val="CAD7DC"/>
          </a:solidFill>
          <a:ln w="0">
            <a:noFill/>
            <a:prstDash val="solid"/>
          </a:ln>
        </p:spPr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8EBEEAEF-F2D1-4228-9B57-9AE2449F99F3}"/>
              </a:ext>
            </a:extLst>
          </p:cNvPr>
          <p:cNvSpPr>
            <a:spLocks noGrp="1"/>
          </p:cNvSpPr>
          <p:nvPr/>
        </p:nvSpPr>
        <p:spPr>
          <a:xfrm>
            <a:off x="8248650" y="2076450"/>
            <a:ext cx="647700" cy="285750"/>
          </a:xfrm>
          <a:prstGeom prst="rightArrow">
            <a:avLst/>
          </a:prstGeom>
          <a:solidFill>
            <a:srgbClr val="CAD7DC"/>
          </a:solidFill>
          <a:ln w="0">
            <a:noFill/>
            <a:prstDash val="solid"/>
          </a:ln>
        </p:spPr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D36489-E438-446C-AEA4-EC3DC7129C8C}"/>
              </a:ext>
            </a:extLst>
          </p:cNvPr>
          <p:cNvSpPr>
            <a:spLocks noGrp="1"/>
          </p:cNvSpPr>
          <p:nvPr/>
        </p:nvSpPr>
        <p:spPr>
          <a:xfrm>
            <a:off x="514350" y="3048000"/>
            <a:ext cx="5257800" cy="2286000"/>
          </a:xfrm>
          <a:prstGeom prst="roundRect">
            <a:avLst>
              <a:gd name="adj" fmla="val 3333"/>
            </a:avLst>
          </a:prstGeom>
          <a:solidFill>
            <a:srgbClr val="FFF4F4"/>
          </a:solidFill>
          <a:ln w="9525">
            <a:solidFill>
              <a:srgbClr val="E7C7C7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091A92-5E11-499E-B8D4-B541B0C53B03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B54A4A"/>
                </a:solidFill>
              </a:defRPr>
            </a:pPr>
            <a:r>
              <a:rPr sz="1950" b="1">
                <a:solidFill>
                  <a:srgbClr val="B54A4A"/>
                </a:solidFill>
              </a:rPr>
              <a:t>What actually caused it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92B1B6-9568-4764-8DD0-C52EF85ED7AC}"/>
              </a:ext>
            </a:extLst>
          </p:cNvPr>
          <p:cNvSpPr>
            <a:spLocks noGrp="1"/>
          </p:cNvSpPr>
          <p:nvPr/>
        </p:nvSpPr>
        <p:spPr>
          <a:xfrm>
            <a:off x="781050" y="3771900"/>
            <a:ext cx="4572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2636C"/>
                </a:solidFill>
              </a:defRPr>
            </a:pPr>
            <a:r>
              <a:rPr sz="1500" b="0">
                <a:solidFill>
                  <a:srgbClr val="52636C"/>
                </a:solidFill>
              </a:rPr>
              <a:t>Ice and internal liquid sediment at slightly different rates. After the existing 0.99 physics clip, sedimentation could still leave qiliq ≥ qitot in a drained cell.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6B33E30-A5A6-4302-8C35-E7ECA11A02F0}"/>
              </a:ext>
            </a:extLst>
          </p:cNvPr>
          <p:cNvSpPr>
            <a:spLocks noGrp="1"/>
          </p:cNvSpPr>
          <p:nvPr/>
        </p:nvSpPr>
        <p:spPr>
          <a:xfrm>
            <a:off x="6419850" y="3048000"/>
            <a:ext cx="5257800" cy="2286000"/>
          </a:xfrm>
          <a:prstGeom prst="roundRect">
            <a:avLst>
              <a:gd name="adj" fmla="val 3333"/>
            </a:avLst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5E5EC0B-5D0E-4765-9D94-13028A1D8DAD}"/>
              </a:ext>
            </a:extLst>
          </p:cNvPr>
          <p:cNvSpPr>
            <a:spLocks noGrp="1"/>
          </p:cNvSpPr>
          <p:nvPr/>
        </p:nvSpPr>
        <p:spPr>
          <a:xfrm>
            <a:off x="6686550" y="32766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950" b="1">
                <a:solidFill>
                  <a:srgbClr val="2D7C68"/>
                </a:solidFill>
              </a:defRPr>
            </a:pPr>
            <a:r>
              <a:rPr sz="1950" b="1">
                <a:solidFill>
                  <a:srgbClr val="2D7C68"/>
                </a:solidFill>
              </a:rPr>
              <a:t>What did not cause 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70C449-C6C9-4BC2-85E0-F7C07D8CFE02}"/>
              </a:ext>
            </a:extLst>
          </p:cNvPr>
          <p:cNvSpPr>
            <a:spLocks noGrp="1"/>
          </p:cNvSpPr>
          <p:nvPr/>
        </p:nvSpPr>
        <p:spPr>
          <a:xfrm>
            <a:off x="6686550" y="3771900"/>
            <a:ext cx="4572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2636C"/>
                </a:solidFill>
              </a:defRPr>
            </a:pPr>
            <a:r>
              <a:rPr sz="1500" b="0">
                <a:solidFill>
                  <a:srgbClr val="52636C"/>
                </a:solidFill>
              </a:rPr>
              <a:t>The process-rate conservation path was already guarded. The operational crash path was post-physics sedimentation in liquid-fraction configurations.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7620C66-F40D-4579-9E96-66259B08BC09}"/>
              </a:ext>
            </a:extLst>
          </p:cNvPr>
          <p:cNvSpPr>
            <a:spLocks noGrp="1"/>
          </p:cNvSpPr>
          <p:nvPr/>
        </p:nvSpPr>
        <p:spPr>
          <a:xfrm>
            <a:off x="3562350" y="5753100"/>
            <a:ext cx="5067300" cy="304800"/>
          </a:xfrm>
          <a:prstGeom prst="roundRect">
            <a:avLst>
              <a:gd name="adj" fmla="val 25000"/>
            </a:avLst>
          </a:prstGeom>
          <a:solidFill>
            <a:srgbClr val="F8E5E5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4CCD89-17F5-4C73-8CBC-FE6DA9CAD315}"/>
              </a:ext>
            </a:extLst>
          </p:cNvPr>
          <p:cNvSpPr>
            <a:spLocks noGrp="1"/>
          </p:cNvSpPr>
          <p:nvPr/>
        </p:nvSpPr>
        <p:spPr>
          <a:xfrm>
            <a:off x="3657600" y="5772150"/>
            <a:ext cx="487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B54A4A"/>
                </a:solidFill>
              </a:defRPr>
            </a:pPr>
            <a:r>
              <a:rPr sz="1050" b="1">
                <a:solidFill>
                  <a:srgbClr val="B54A4A"/>
                </a:solidFill>
              </a:rPr>
              <a:t>BUG-001  •  HIGH SEVERITY  •  OPERATIONAL GEM</a:t>
            </a:r>
          </a:p>
        </p:txBody>
      </p:sp>
    </p:spTree>
    <p:extLst>
      <p:ext uri="{BB962C8B-B14F-4D97-AF65-F5344CB8AC3E}">
        <p14:creationId xmlns:p14="http://schemas.microsoft.com/office/powerpoint/2010/main" val="1678274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7D2865F-2F61-4D6F-A02C-0FA16161C1BC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7E99"/>
                </a:solidFill>
              </a:defRPr>
            </a:pPr>
            <a:r>
              <a:rPr sz="975" b="1">
                <a:solidFill>
                  <a:srgbClr val="2F7E99"/>
                </a:solidFill>
              </a:rPr>
              <a:t>CORRECTNESS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9926B895-DB22-41B0-A09D-42B98C08879F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7242B"/>
                </a:solidFill>
              </a:defRPr>
            </a:pPr>
            <a:r>
              <a:rPr sz="2625" b="1">
                <a:solidFill>
                  <a:srgbClr val="17242B"/>
                </a:solidFill>
              </a:rPr>
              <a:t>Two defensive floors close both the obvious and residual crash paths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E52C88-2C57-4799-A72D-A7C84D69F5E7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2636C"/>
                </a:solidFill>
              </a:defRPr>
            </a:pPr>
            <a:r>
              <a:rPr sz="900" b="0">
                <a:solidFill>
                  <a:srgbClr val="52636C"/>
                </a:solidFill>
              </a:rPr>
              <a:t>07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CCE8462-AE6F-4A96-ADB4-B33C0618FEFF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2F7E99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C2EB58-E0A2-45FC-9655-DB4303416ADC}"/>
              </a:ext>
            </a:extLst>
          </p:cNvPr>
          <p:cNvSpPr>
            <a:spLocks noGrp="1"/>
          </p:cNvSpPr>
          <p:nvPr/>
        </p:nvSpPr>
        <p:spPr>
          <a:xfrm>
            <a:off x="514350" y="150495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F898EF-3378-45FF-A701-2CAD1CEDB4F0}"/>
              </a:ext>
            </a:extLst>
          </p:cNvPr>
          <p:cNvSpPr>
            <a:spLocks noGrp="1"/>
          </p:cNvSpPr>
          <p:nvPr/>
        </p:nvSpPr>
        <p:spPr>
          <a:xfrm>
            <a:off x="1466850" y="15240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42B"/>
                </a:solidFill>
              </a:defRPr>
            </a:pPr>
            <a:r>
              <a:rPr sz="1725" b="1">
                <a:solidFill>
                  <a:srgbClr val="17242B"/>
                </a:solidFill>
              </a:rPr>
              <a:t>Clamp frozen mass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D9F076-30F3-4E88-83C3-B8682ECF5699}"/>
              </a:ext>
            </a:extLst>
          </p:cNvPr>
          <p:cNvSpPr>
            <a:spLocks noGrp="1"/>
          </p:cNvSpPr>
          <p:nvPr/>
        </p:nvSpPr>
        <p:spPr>
          <a:xfrm>
            <a:off x="1466850" y="188595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max(qitot − qiliq, 0) prevents a negative frozen-mass state from propagating.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37294D3-BD1C-475B-88F1-AD257D7BDD62}"/>
              </a:ext>
            </a:extLst>
          </p:cNvPr>
          <p:cNvSpPr>
            <a:spLocks noGrp="1"/>
          </p:cNvSpPr>
          <p:nvPr/>
        </p:nvSpPr>
        <p:spPr>
          <a:xfrm>
            <a:off x="514350" y="25717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2F7E99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1DA7FF-9411-4EB5-8A54-4A3E8764E422}"/>
              </a:ext>
            </a:extLst>
          </p:cNvPr>
          <p:cNvSpPr>
            <a:spLocks noGrp="1"/>
          </p:cNvSpPr>
          <p:nvPr/>
        </p:nvSpPr>
        <p:spPr>
          <a:xfrm>
            <a:off x="514350" y="257175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1D1F13-A039-4453-A07C-268D13800CEF}"/>
              </a:ext>
            </a:extLst>
          </p:cNvPr>
          <p:cNvSpPr>
            <a:spLocks noGrp="1"/>
          </p:cNvSpPr>
          <p:nvPr/>
        </p:nvSpPr>
        <p:spPr>
          <a:xfrm>
            <a:off x="1466850" y="25908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42B"/>
                </a:solidFill>
              </a:defRPr>
            </a:pPr>
            <a:r>
              <a:rPr sz="1725" b="1">
                <a:solidFill>
                  <a:srgbClr val="17242B"/>
                </a:solidFill>
              </a:rPr>
              <a:t>Floor rime 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52E6F-4647-4234-BF07-9009FCE22C9D}"/>
              </a:ext>
            </a:extLst>
          </p:cNvPr>
          <p:cNvSpPr>
            <a:spLocks noGrp="1"/>
          </p:cNvSpPr>
          <p:nvPr/>
        </p:nvSpPr>
        <p:spPr>
          <a:xfrm>
            <a:off x="1466850" y="295275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min(max(qirim,0), frozen_mass) keeps the branchless LUT guard inside its physical domain.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B35DE0E-58CF-4B49-A7FA-88C81B6ACFC8}"/>
              </a:ext>
            </a:extLst>
          </p:cNvPr>
          <p:cNvSpPr>
            <a:spLocks noGrp="1"/>
          </p:cNvSpPr>
          <p:nvPr/>
        </p:nvSpPr>
        <p:spPr>
          <a:xfrm>
            <a:off x="514350" y="36385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2F7E99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A153E1-8906-46EA-A73E-0B414750A9E4}"/>
              </a:ext>
            </a:extLst>
          </p:cNvPr>
          <p:cNvSpPr>
            <a:spLocks noGrp="1"/>
          </p:cNvSpPr>
          <p:nvPr/>
        </p:nvSpPr>
        <p:spPr>
          <a:xfrm>
            <a:off x="514350" y="363855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8631CB-5EBD-4825-973B-8716D6507AEB}"/>
              </a:ext>
            </a:extLst>
          </p:cNvPr>
          <p:cNvSpPr>
            <a:spLocks noGrp="1"/>
          </p:cNvSpPr>
          <p:nvPr/>
        </p:nvSpPr>
        <p:spPr>
          <a:xfrm>
            <a:off x="1466850" y="36576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42B"/>
                </a:solidFill>
              </a:defRPr>
            </a:pPr>
            <a:r>
              <a:rPr sz="1725" b="1">
                <a:solidFill>
                  <a:srgbClr val="17242B"/>
                </a:solidFill>
              </a:rPr>
              <a:t>Use the right floor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9355FA-738C-4307-889E-C9003389FF2D}"/>
              </a:ext>
            </a:extLst>
          </p:cNvPr>
          <p:cNvSpPr>
            <a:spLocks noGrp="1"/>
          </p:cNvSpPr>
          <p:nvPr/>
        </p:nvSpPr>
        <p:spPr>
          <a:xfrm>
            <a:off x="1466850" y="401955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tiny() avoids an exact zero denominator without perturbing ordinary small values; epsilon() would be far larger.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1DD5B34-3A7A-46CF-8596-0E2B889D1CA8}"/>
              </a:ext>
            </a:extLst>
          </p:cNvPr>
          <p:cNvSpPr>
            <a:spLocks noGrp="1"/>
          </p:cNvSpPr>
          <p:nvPr/>
        </p:nvSpPr>
        <p:spPr>
          <a:xfrm>
            <a:off x="514350" y="4705350"/>
            <a:ext cx="685800" cy="685800"/>
          </a:xfrm>
          <a:prstGeom prst="roundRect">
            <a:avLst>
              <a:gd name="adj" fmla="val 11111"/>
            </a:avLst>
          </a:prstGeom>
          <a:solidFill>
            <a:srgbClr val="2D7C68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9FC398-8E5A-41AE-821D-F85A26D6F3D2}"/>
              </a:ext>
            </a:extLst>
          </p:cNvPr>
          <p:cNvSpPr>
            <a:spLocks noGrp="1"/>
          </p:cNvSpPr>
          <p:nvPr/>
        </p:nvSpPr>
        <p:spPr>
          <a:xfrm>
            <a:off x="514350" y="4705350"/>
            <a:ext cx="685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0E5B2A-6DBC-48DE-AC7B-4F9FBAF03644}"/>
              </a:ext>
            </a:extLst>
          </p:cNvPr>
          <p:cNvSpPr>
            <a:spLocks noGrp="1"/>
          </p:cNvSpPr>
          <p:nvPr/>
        </p:nvSpPr>
        <p:spPr>
          <a:xfrm>
            <a:off x="1466850" y="472440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1">
                <a:solidFill>
                  <a:srgbClr val="17242B"/>
                </a:solidFill>
              </a:defRPr>
            </a:pPr>
            <a:r>
              <a:rPr sz="1725" b="1">
                <a:solidFill>
                  <a:srgbClr val="17242B"/>
                </a:solidFill>
              </a:rPr>
              <a:t>Prove the edge case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41F912-8F36-4D44-BE8E-B0854E25FD0B}"/>
              </a:ext>
            </a:extLst>
          </p:cNvPr>
          <p:cNvSpPr>
            <a:spLocks noGrp="1"/>
          </p:cNvSpPr>
          <p:nvPr/>
        </p:nvSpPr>
        <p:spPr>
          <a:xfrm>
            <a:off x="1466850" y="508635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Standalone trigger: IEEE INVALID before; clean execution after. Full kin1d suite remained bit-identical.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675ABA6-0FE0-4C26-87BA-23FA05B041B4}"/>
              </a:ext>
            </a:extLst>
          </p:cNvPr>
          <p:cNvSpPr>
            <a:spLocks noGrp="1"/>
          </p:cNvSpPr>
          <p:nvPr/>
        </p:nvSpPr>
        <p:spPr>
          <a:xfrm>
            <a:off x="514350" y="5924550"/>
            <a:ext cx="11163300" cy="457200"/>
          </a:xfrm>
          <a:prstGeom prst="roundRect">
            <a:avLst>
              <a:gd name="adj" fmla="val 16667"/>
            </a:avLst>
          </a:prstGeom>
          <a:solidFill>
            <a:srgbClr val="FFF4E3"/>
          </a:solidFill>
          <a:ln w="9525">
            <a:solidFill>
              <a:srgbClr val="E8D0A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A1CA6F-AE09-437B-8DB6-C40EC90AFEB9}"/>
              </a:ext>
            </a:extLst>
          </p:cNvPr>
          <p:cNvSpPr>
            <a:spLocks noGrp="1"/>
          </p:cNvSpPr>
          <p:nvPr/>
        </p:nvSpPr>
        <p:spPr>
          <a:xfrm>
            <a:off x="704850" y="6010275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B77A22"/>
                </a:solidFill>
              </a:defRPr>
            </a:pPr>
            <a:r>
              <a:rPr sz="1050" b="1">
                <a:solidFill>
                  <a:srgbClr val="B77A22"/>
                </a:solidFill>
              </a:rPr>
              <a:t>STATUS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DB5B24-E1EF-4EFD-AE6E-53C6463A304B}"/>
              </a:ext>
            </a:extLst>
          </p:cNvPr>
          <p:cNvSpPr>
            <a:spLocks noGrp="1"/>
          </p:cNvSpPr>
          <p:nvPr/>
        </p:nvSpPr>
        <p:spPr>
          <a:xfrm>
            <a:off x="1657350" y="5991225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242B"/>
                </a:solidFill>
              </a:defRPr>
            </a:pPr>
            <a:r>
              <a:rPr sz="1425" b="1">
                <a:solidFill>
                  <a:srgbClr val="17242B"/>
                </a:solidFill>
              </a:rPr>
              <a:t>Fixed and verified in kin1d  •  GEM verification still pending</a:t>
            </a:r>
          </a:p>
        </p:txBody>
      </p:sp>
    </p:spTree>
    <p:extLst>
      <p:ext uri="{BB962C8B-B14F-4D97-AF65-F5344CB8AC3E}">
        <p14:creationId xmlns:p14="http://schemas.microsoft.com/office/powerpoint/2010/main" val="58473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BC9A6C7F-C2F5-4E57-AA20-DD0B2615F206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7E99"/>
                </a:solidFill>
              </a:defRPr>
            </a:pPr>
            <a:r>
              <a:rPr sz="975" b="1">
                <a:solidFill>
                  <a:srgbClr val="2F7E99"/>
                </a:solidFill>
              </a:rPr>
              <a:t>CORRECTNESS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7F9EE7C5-F8D1-4528-B973-3ED6884D2C7D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7242B"/>
                </a:solidFill>
              </a:defRPr>
            </a:pPr>
            <a:r>
              <a:rPr sz="2625" b="1">
                <a:solidFill>
                  <a:srgbClr val="17242B"/>
                </a:solidFill>
              </a:rPr>
              <a:t>Small robustness fixes removed several ways for configurations to drift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158ED9-57F1-4143-A65B-F25709406C01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2636C"/>
                </a:solidFill>
              </a:defRPr>
            </a:pPr>
            <a:r>
              <a:rPr sz="900" b="0">
                <a:solidFill>
                  <a:srgbClr val="52636C"/>
                </a:solidFill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01488-F08A-4C07-B4B4-A2B386479FDC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2636C"/>
                </a:solidFill>
              </a:defRPr>
            </a:pPr>
            <a:r>
              <a:rPr sz="1050" b="1">
                <a:solidFill>
                  <a:srgbClr val="52636C"/>
                </a:solidFill>
              </a:rPr>
              <a:t>RISK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AADB62-7C1C-4B48-ADCF-7E67ADBDE24B}"/>
              </a:ext>
            </a:extLst>
          </p:cNvPr>
          <p:cNvSpPr>
            <a:spLocks noGrp="1"/>
          </p:cNvSpPr>
          <p:nvPr/>
        </p:nvSpPr>
        <p:spPr>
          <a:xfrm>
            <a:off x="3181350" y="14287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B54A4A"/>
                </a:solidFill>
              </a:defRPr>
            </a:pPr>
            <a:r>
              <a:rPr sz="1050" b="1">
                <a:solidFill>
                  <a:srgbClr val="B54A4A"/>
                </a:solidFill>
              </a:rPr>
              <a:t>BEFORE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F3E1ED-80E2-494F-9DA3-D06C24AE8A33}"/>
              </a:ext>
            </a:extLst>
          </p:cNvPr>
          <p:cNvSpPr>
            <a:spLocks noGrp="1"/>
          </p:cNvSpPr>
          <p:nvPr/>
        </p:nvSpPr>
        <p:spPr>
          <a:xfrm>
            <a:off x="7181850" y="1428750"/>
            <a:ext cx="449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D7C68"/>
                </a:solidFill>
              </a:defRPr>
            </a:pPr>
            <a:r>
              <a:rPr sz="1050" b="1">
                <a:solidFill>
                  <a:srgbClr val="2D7C68"/>
                </a:solidFill>
              </a:rPr>
              <a:t>AFTER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44F29A-6F77-4691-A32B-A6EBC499E548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11163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1D502F-1C7A-496B-B8AA-4E45027D90D0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2266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242B"/>
                </a:solidFill>
              </a:defRPr>
            </a:pPr>
            <a:r>
              <a:rPr sz="1425" b="1">
                <a:solidFill>
                  <a:srgbClr val="17242B"/>
                </a:solidFill>
              </a:rPr>
              <a:t>LUT version mismatch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9F6698-12E2-41F0-B777-E1E61BD0D21C}"/>
              </a:ext>
            </a:extLst>
          </p:cNvPr>
          <p:cNvSpPr>
            <a:spLocks noGrp="1"/>
          </p:cNvSpPr>
          <p:nvPr/>
        </p:nvSpPr>
        <p:spPr>
          <a:xfrm>
            <a:off x="3181350" y="1866900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36C"/>
                </a:solidFill>
              </a:defRPr>
            </a:pPr>
            <a:r>
              <a:rPr sz="1275" b="0">
                <a:solidFill>
                  <a:srgbClr val="52636C"/>
                </a:solidFill>
              </a:rPr>
              <a:t>Different models/tables warned or stopped inconsistently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CCFD96-0C1F-41BF-952B-A82860DAE62A}"/>
              </a:ext>
            </a:extLst>
          </p:cNvPr>
          <p:cNvSpPr>
            <a:spLocks noGrp="1"/>
          </p:cNvSpPr>
          <p:nvPr/>
        </p:nvSpPr>
        <p:spPr>
          <a:xfrm>
            <a:off x="7181850" y="1866900"/>
            <a:ext cx="4267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36C"/>
                </a:solidFill>
              </a:defRPr>
            </a:pPr>
            <a:r>
              <a:rPr sz="1275" b="0">
                <a:solidFill>
                  <a:srgbClr val="52636C"/>
                </a:solidFill>
              </a:rPr>
              <a:t>All four checks now hard-stop uniformly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9C9C80-5FEA-43A4-8E55-A26F7E11FAE6}"/>
              </a:ext>
            </a:extLst>
          </p:cNvPr>
          <p:cNvSpPr>
            <a:spLocks noGrp="1"/>
          </p:cNvSpPr>
          <p:nvPr/>
        </p:nvSpPr>
        <p:spPr>
          <a:xfrm>
            <a:off x="514350" y="2762250"/>
            <a:ext cx="11163300" cy="876300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CFF36A-F75A-4672-A95E-EA29BBFDB364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266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242B"/>
                </a:solidFill>
              </a:defRPr>
            </a:pPr>
            <a:r>
              <a:rPr sz="1425" b="1">
                <a:solidFill>
                  <a:srgbClr val="17242B"/>
                </a:solidFill>
              </a:rPr>
              <a:t>Liquid-fraction fast path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C62682-FB16-4789-9FA9-A3117AD2DAA9}"/>
              </a:ext>
            </a:extLst>
          </p:cNvPr>
          <p:cNvSpPr>
            <a:spLocks noGrp="1"/>
          </p:cNvSpPr>
          <p:nvPr/>
        </p:nvSpPr>
        <p:spPr>
          <a:xfrm>
            <a:off x="3181350" y="2876550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36C"/>
                </a:solidFill>
              </a:defRPr>
            </a:pPr>
            <a:r>
              <a:rPr sz="1275" b="0">
                <a:solidFill>
                  <a:srgbClr val="52636C"/>
                </a:solidFill>
              </a:rPr>
              <a:t>Exact floating-point comparison encoded a fragile assumption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C3B19B-5CC0-4091-9E05-2C5F4378BBCA}"/>
              </a:ext>
            </a:extLst>
          </p:cNvPr>
          <p:cNvSpPr>
            <a:spLocks noGrp="1"/>
          </p:cNvSpPr>
          <p:nvPr/>
        </p:nvSpPr>
        <p:spPr>
          <a:xfrm>
            <a:off x="7181850" y="2876550"/>
            <a:ext cx="4267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36C"/>
                </a:solidFill>
              </a:defRPr>
            </a:pPr>
            <a:r>
              <a:rPr sz="1275" b="0">
                <a:solidFill>
                  <a:srgbClr val="52636C"/>
                </a:solidFill>
              </a:rPr>
              <a:t>Epsilon-aware guard; LUT2 blend regression corrected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7BBB14-3053-4C7D-B759-261AA6664E10}"/>
              </a:ext>
            </a:extLst>
          </p:cNvPr>
          <p:cNvSpPr>
            <a:spLocks noGrp="1"/>
          </p:cNvSpPr>
          <p:nvPr/>
        </p:nvSpPr>
        <p:spPr>
          <a:xfrm>
            <a:off x="514350" y="3771900"/>
            <a:ext cx="11163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2FF17C-EF88-4F25-B048-BE5868CD5BF2}"/>
              </a:ext>
            </a:extLst>
          </p:cNvPr>
          <p:cNvSpPr>
            <a:spLocks noGrp="1"/>
          </p:cNvSpPr>
          <p:nvPr/>
        </p:nvSpPr>
        <p:spPr>
          <a:xfrm>
            <a:off x="685800" y="3886200"/>
            <a:ext cx="2266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242B"/>
                </a:solidFill>
              </a:defRPr>
            </a:pPr>
            <a:r>
              <a:rPr sz="1425" b="1">
                <a:solidFill>
                  <a:srgbClr val="17242B"/>
                </a:solidFill>
              </a:rPr>
              <a:t>Unused solver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6DF756-71CA-4C10-A058-5309157A82B7}"/>
              </a:ext>
            </a:extLst>
          </p:cNvPr>
          <p:cNvSpPr>
            <a:spLocks noGrp="1"/>
          </p:cNvSpPr>
          <p:nvPr/>
        </p:nvSpPr>
        <p:spPr>
          <a:xfrm>
            <a:off x="3181350" y="3886200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36C"/>
                </a:solidFill>
              </a:defRPr>
            </a:pPr>
            <a:r>
              <a:rPr sz="1275" b="0">
                <a:solidFill>
                  <a:srgbClr val="52636C"/>
                </a:solidFill>
              </a:rPr>
              <a:t>compute_mu_3mom_2 lived beside the selected approximation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A77470-641D-42C5-AD1D-FD2D5661ACC0}"/>
              </a:ext>
            </a:extLst>
          </p:cNvPr>
          <p:cNvSpPr>
            <a:spLocks noGrp="1"/>
          </p:cNvSpPr>
          <p:nvPr/>
        </p:nvSpPr>
        <p:spPr>
          <a:xfrm>
            <a:off x="7181850" y="3886200"/>
            <a:ext cx="4267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36C"/>
                </a:solidFill>
              </a:defRPr>
            </a:pPr>
            <a:r>
              <a:rPr sz="1275" b="0">
                <a:solidFill>
                  <a:srgbClr val="52636C"/>
                </a:solidFill>
              </a:rPr>
              <a:t>Dead 72-line implementation removed; choice documented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349CB0-2E18-49D0-ACF9-862BD98D385C}"/>
              </a:ext>
            </a:extLst>
          </p:cNvPr>
          <p:cNvSpPr>
            <a:spLocks noGrp="1"/>
          </p:cNvSpPr>
          <p:nvPr/>
        </p:nvSpPr>
        <p:spPr>
          <a:xfrm>
            <a:off x="514350" y="4781550"/>
            <a:ext cx="11163300" cy="876300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EE424F6-8743-43BA-8D16-76E2C04EB6FB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22669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242B"/>
                </a:solidFill>
              </a:defRPr>
            </a:pPr>
            <a:r>
              <a:rPr sz="1425" b="1">
                <a:solidFill>
                  <a:srgbClr val="17242B"/>
                </a:solidFill>
              </a:rPr>
              <a:t>Latent invalid state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43C246-75EB-4AC6-A15D-B153A80C219E}"/>
              </a:ext>
            </a:extLst>
          </p:cNvPr>
          <p:cNvSpPr>
            <a:spLocks noGrp="1"/>
          </p:cNvSpPr>
          <p:nvPr/>
        </p:nvSpPr>
        <p:spPr>
          <a:xfrm>
            <a:off x="3181350" y="4895850"/>
            <a:ext cx="3714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36C"/>
                </a:solidFill>
              </a:defRPr>
            </a:pPr>
            <a:r>
              <a:rPr sz="1275" b="0">
                <a:solidFill>
                  <a:srgbClr val="52636C"/>
                </a:solidFill>
              </a:rPr>
              <a:t>tmp1 could retain a stale value; negative qirim could reach indexing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550B0CD-CD70-450C-B013-00D1E47FD266}"/>
              </a:ext>
            </a:extLst>
          </p:cNvPr>
          <p:cNvSpPr>
            <a:spLocks noGrp="1"/>
          </p:cNvSpPr>
          <p:nvPr/>
        </p:nvSpPr>
        <p:spPr>
          <a:xfrm>
            <a:off x="7181850" y="4895850"/>
            <a:ext cx="4267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52636C"/>
                </a:solidFill>
              </a:defRPr>
            </a:pPr>
            <a:r>
              <a:rPr sz="1275" b="0">
                <a:solidFill>
                  <a:srgbClr val="52636C"/>
                </a:solidFill>
              </a:rPr>
              <a:t>Explicit zero assignment and non-negative input floors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0C32214-FD92-4A16-A3F6-0B02956ABDB2}"/>
              </a:ext>
            </a:extLst>
          </p:cNvPr>
          <p:cNvSpPr>
            <a:spLocks noGrp="1"/>
          </p:cNvSpPr>
          <p:nvPr/>
        </p:nvSpPr>
        <p:spPr>
          <a:xfrm>
            <a:off x="4762500" y="5962650"/>
            <a:ext cx="2667000" cy="304800"/>
          </a:xfrm>
          <a:prstGeom prst="roundRect">
            <a:avLst>
              <a:gd name="adj" fmla="val 25000"/>
            </a:avLst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E5C930-1AFA-41AE-B74C-BBEE0D22EA09}"/>
              </a:ext>
            </a:extLst>
          </p:cNvPr>
          <p:cNvSpPr>
            <a:spLocks noGrp="1"/>
          </p:cNvSpPr>
          <p:nvPr/>
        </p:nvSpPr>
        <p:spPr>
          <a:xfrm>
            <a:off x="4857750" y="59817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NO SCIENCE CHANGE</a:t>
            </a:r>
          </a:p>
        </p:txBody>
      </p:sp>
    </p:spTree>
    <p:extLst>
      <p:ext uri="{BB962C8B-B14F-4D97-AF65-F5344CB8AC3E}">
        <p14:creationId xmlns:p14="http://schemas.microsoft.com/office/powerpoint/2010/main" val="1889071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A9CBE0E-E903-4BE9-8864-F5097F786487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7E99"/>
                </a:solidFill>
              </a:defRPr>
            </a:pPr>
            <a:r>
              <a:rPr sz="975" b="1">
                <a:solidFill>
                  <a:srgbClr val="2F7E99"/>
                </a:solidFill>
              </a:rPr>
              <a:t>TESTING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35A9DDA1-396F-4010-A315-E479D487B87C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7242B"/>
                </a:solidFill>
              </a:defRPr>
            </a:pPr>
            <a:r>
              <a:rPr sz="2625" b="1">
                <a:solidFill>
                  <a:srgbClr val="17242B"/>
                </a:solidFill>
              </a:rPr>
              <a:t>Regression testing moved from a habit to a repeatable protocol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54B2A0-0F30-482F-B2DC-57A223D612DA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2636C"/>
                </a:solidFill>
              </a:defRPr>
            </a:pPr>
            <a:r>
              <a:rPr sz="900" b="0">
                <a:solidFill>
                  <a:srgbClr val="52636C"/>
                </a:solidFill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D6EA0C-2EB0-49E2-A63E-1439B256295E}"/>
              </a:ext>
            </a:extLst>
          </p:cNvPr>
          <p:cNvSpPr>
            <a:spLocks noGrp="1"/>
          </p:cNvSpPr>
          <p:nvPr/>
        </p:nvSpPr>
        <p:spPr>
          <a:xfrm>
            <a:off x="514350" y="14859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B54A4A"/>
                </a:solidFill>
              </a:defRPr>
            </a:pPr>
            <a:r>
              <a:rPr sz="1050" b="1">
                <a:solidFill>
                  <a:srgbClr val="B54A4A"/>
                </a:solidFill>
              </a:rPr>
              <a:t>BEFORE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1A1F01-A82D-41DB-9D22-91FF56628612}"/>
              </a:ext>
            </a:extLst>
          </p:cNvPr>
          <p:cNvSpPr>
            <a:spLocks noGrp="1"/>
          </p:cNvSpPr>
          <p:nvPr/>
        </p:nvSpPr>
        <p:spPr>
          <a:xfrm>
            <a:off x="6896100" y="14859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D7C68"/>
                </a:solidFill>
              </a:defRPr>
            </a:pPr>
            <a:r>
              <a:rPr sz="1050" b="1">
                <a:solidFill>
                  <a:srgbClr val="2D7C68"/>
                </a:solidFill>
              </a:rPr>
              <a:t>AFTER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879D1BC-93DD-499E-900B-2A3FCD297A7E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5010150" cy="3333750"/>
          </a:xfrm>
          <a:prstGeom prst="roundRect">
            <a:avLst>
              <a:gd name="adj" fmla="val 2286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65E1B8-C29D-45C3-8502-9BA84EADEB04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447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242B"/>
                </a:solidFill>
              </a:defRPr>
            </a:pPr>
            <a:r>
              <a:rPr sz="2025" b="1">
                <a:solidFill>
                  <a:srgbClr val="17242B"/>
                </a:solidFill>
              </a:rPr>
              <a:t>Manual runs and visual checks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DB1755-809A-46EC-B4FC-F1D275C57AB9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4286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2636C"/>
                </a:solidFill>
              </a:defRPr>
            </a:pPr>
            <a:r>
              <a:rPr sz="1500" b="0">
                <a:solidFill>
                  <a:srgbClr val="52636C"/>
                </a:solidFill>
              </a:rPr>
              <a:t>• Baselines could be stale</a:t>
            </a:r>
          </a:p>
          <a:p>
            <a:pPr algn="l">
              <a:defRPr sz="1500" b="0">
                <a:solidFill>
                  <a:srgbClr val="52636C"/>
                </a:solidFill>
              </a:defRPr>
            </a:pPr>
            <a:r>
              <a:rPr sz="1500" b="0">
                <a:solidFill>
                  <a:srgbClr val="52636C"/>
                </a:solidFill>
              </a:rPr>
              <a:t>• Configuration coverage was implicit</a:t>
            </a:r>
          </a:p>
          <a:p>
            <a:pPr algn="l">
              <a:defRPr sz="1500" b="0">
                <a:solidFill>
                  <a:srgbClr val="52636C"/>
                </a:solidFill>
              </a:defRPr>
            </a:pPr>
            <a:r>
              <a:rPr sz="1500" b="0">
                <a:solidFill>
                  <a:srgbClr val="52636C"/>
                </a:solidFill>
              </a:rPr>
              <a:t>• Pass/fail depended heavily on plot review</a:t>
            </a:r>
          </a:p>
          <a:p>
            <a:pPr algn="l">
              <a:defRPr sz="1500" b="0">
                <a:solidFill>
                  <a:srgbClr val="52636C"/>
                </a:solidFill>
              </a:defRPr>
            </a:pPr>
            <a:r>
              <a:rPr sz="1500" b="0">
                <a:solidFill>
                  <a:srgbClr val="52636C"/>
                </a:solidFill>
              </a:rPr>
              <a:t>• Performance evidence was ad hoc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840FDE2-4239-4289-8C44-17225D673ECF}"/>
              </a:ext>
            </a:extLst>
          </p:cNvPr>
          <p:cNvSpPr>
            <a:spLocks noGrp="1"/>
          </p:cNvSpPr>
          <p:nvPr/>
        </p:nvSpPr>
        <p:spPr>
          <a:xfrm>
            <a:off x="6667500" y="1847850"/>
            <a:ext cx="5010150" cy="3333750"/>
          </a:xfrm>
          <a:prstGeom prst="roundRect">
            <a:avLst>
              <a:gd name="adj" fmla="val 2286"/>
            </a:avLst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A87FE31-2280-4649-BB53-516FD29953D0}"/>
              </a:ext>
            </a:extLst>
          </p:cNvPr>
          <p:cNvSpPr>
            <a:spLocks noGrp="1"/>
          </p:cNvSpPr>
          <p:nvPr/>
        </p:nvSpPr>
        <p:spPr>
          <a:xfrm>
            <a:off x="6934200" y="20574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B575A6-6101-4FAD-9B1D-5023C5C7C83D}"/>
              </a:ext>
            </a:extLst>
          </p:cNvPr>
          <p:cNvSpPr>
            <a:spLocks noGrp="1"/>
          </p:cNvSpPr>
          <p:nvPr/>
        </p:nvSpPr>
        <p:spPr>
          <a:xfrm>
            <a:off x="7086600" y="2085975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242B"/>
                </a:solidFill>
              </a:defRPr>
            </a:pPr>
            <a:r>
              <a:rPr sz="1275" b="1">
                <a:solidFill>
                  <a:srgbClr val="17242B"/>
                </a:solidFill>
              </a:rPr>
              <a:t>save_reference.sh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9714FF-1797-4523-903A-B2CA2DDDF35C}"/>
              </a:ext>
            </a:extLst>
          </p:cNvPr>
          <p:cNvSpPr>
            <a:spLocks noGrp="1"/>
          </p:cNvSpPr>
          <p:nvPr/>
        </p:nvSpPr>
        <p:spPr>
          <a:xfrm>
            <a:off x="9982200" y="209550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2F7E99"/>
                </a:solidFill>
              </a:defRPr>
            </a:pPr>
            <a:r>
              <a:rPr sz="1650" b="1">
                <a:solidFill>
                  <a:srgbClr val="2F7E99"/>
                </a:solidFill>
              </a:rPr>
              <a:t>→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9A0ECD-3426-49D1-ADDC-E7F94723A779}"/>
              </a:ext>
            </a:extLst>
          </p:cNvPr>
          <p:cNvSpPr>
            <a:spLocks noGrp="1"/>
          </p:cNvSpPr>
          <p:nvPr/>
        </p:nvSpPr>
        <p:spPr>
          <a:xfrm>
            <a:off x="6934200" y="260985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767D36-DC00-4E02-B65C-39265A1FE9F2}"/>
              </a:ext>
            </a:extLst>
          </p:cNvPr>
          <p:cNvSpPr>
            <a:spLocks noGrp="1"/>
          </p:cNvSpPr>
          <p:nvPr/>
        </p:nvSpPr>
        <p:spPr>
          <a:xfrm>
            <a:off x="7086600" y="2638425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make bounded change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2A1BB1-2E87-43C5-838C-EDC94FDA94A4}"/>
              </a:ext>
            </a:extLst>
          </p:cNvPr>
          <p:cNvSpPr>
            <a:spLocks noGrp="1"/>
          </p:cNvSpPr>
          <p:nvPr/>
        </p:nvSpPr>
        <p:spPr>
          <a:xfrm>
            <a:off x="9982200" y="26479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2F7E99"/>
                </a:solidFill>
              </a:defRPr>
            </a:pPr>
            <a:r>
              <a:rPr sz="1650" b="1">
                <a:solidFill>
                  <a:srgbClr val="2F7E99"/>
                </a:solidFill>
              </a:rPr>
              <a:t>→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78850EB-FDE6-4E7B-A72F-F7ABB1921084}"/>
              </a:ext>
            </a:extLst>
          </p:cNvPr>
          <p:cNvSpPr>
            <a:spLocks noGrp="1"/>
          </p:cNvSpPr>
          <p:nvPr/>
        </p:nvSpPr>
        <p:spPr>
          <a:xfrm>
            <a:off x="6934200" y="31623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3DCEFA-AE80-4A05-90ED-0272827E900D}"/>
              </a:ext>
            </a:extLst>
          </p:cNvPr>
          <p:cNvSpPr>
            <a:spLocks noGrp="1"/>
          </p:cNvSpPr>
          <p:nvPr/>
        </p:nvSpPr>
        <p:spPr>
          <a:xfrm>
            <a:off x="7086600" y="3190875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242B"/>
                </a:solidFill>
              </a:defRPr>
            </a:pPr>
            <a:r>
              <a:rPr sz="1275" b="1">
                <a:solidFill>
                  <a:srgbClr val="17242B"/>
                </a:solidFill>
              </a:rPr>
              <a:t>run_full_tests --compare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452AC0-A75C-453C-BC89-98E0D6E3E6D8}"/>
              </a:ext>
            </a:extLst>
          </p:cNvPr>
          <p:cNvSpPr>
            <a:spLocks noGrp="1"/>
          </p:cNvSpPr>
          <p:nvPr/>
        </p:nvSpPr>
        <p:spPr>
          <a:xfrm>
            <a:off x="9982200" y="320040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2F7E99"/>
                </a:solidFill>
              </a:defRPr>
            </a:pPr>
            <a:r>
              <a:rPr sz="1650" b="1">
                <a:solidFill>
                  <a:srgbClr val="2F7E99"/>
                </a:solidFill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C4941A0-39E4-438C-B608-D207768CBE6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CDB250-4AF8-459D-B938-216D5676FFD3}"/>
              </a:ext>
            </a:extLst>
          </p:cNvPr>
          <p:cNvSpPr>
            <a:spLocks noGrp="1"/>
          </p:cNvSpPr>
          <p:nvPr/>
        </p:nvSpPr>
        <p:spPr>
          <a:xfrm>
            <a:off x="7086600" y="3743325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compare_runs.py + plots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7098B2-3984-422C-8C95-99BF5F2E03BB}"/>
              </a:ext>
            </a:extLst>
          </p:cNvPr>
          <p:cNvSpPr>
            <a:spLocks noGrp="1"/>
          </p:cNvSpPr>
          <p:nvPr/>
        </p:nvSpPr>
        <p:spPr>
          <a:xfrm>
            <a:off x="9982200" y="37528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2F7E99"/>
                </a:solidFill>
              </a:defRPr>
            </a:pPr>
            <a:r>
              <a:rPr sz="1650" b="1">
                <a:solidFill>
                  <a:srgbClr val="2F7E99"/>
                </a:solidFill>
              </a:rPr>
              <a:t>→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68EEB52-14FB-4E8A-BA98-8603D37FA736}"/>
              </a:ext>
            </a:extLst>
          </p:cNvPr>
          <p:cNvSpPr>
            <a:spLocks noGrp="1"/>
          </p:cNvSpPr>
          <p:nvPr/>
        </p:nvSpPr>
        <p:spPr>
          <a:xfrm>
            <a:off x="6934200" y="4267200"/>
            <a:ext cx="28575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C5B651-74E4-45C3-AAE8-C0DB7CC4FE1F}"/>
              </a:ext>
            </a:extLst>
          </p:cNvPr>
          <p:cNvSpPr>
            <a:spLocks noGrp="1"/>
          </p:cNvSpPr>
          <p:nvPr/>
        </p:nvSpPr>
        <p:spPr>
          <a:xfrm>
            <a:off x="7086600" y="4295775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archive outputs + timing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057402-8773-4196-8F31-B41CD6F4708E}"/>
              </a:ext>
            </a:extLst>
          </p:cNvPr>
          <p:cNvSpPr>
            <a:spLocks noGrp="1"/>
          </p:cNvSpPr>
          <p:nvPr/>
        </p:nvSpPr>
        <p:spPr>
          <a:xfrm>
            <a:off x="6934200" y="4857750"/>
            <a:ext cx="4381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2F7E99"/>
                </a:solidFill>
              </a:defRPr>
            </a:pPr>
            <a:r>
              <a:rPr sz="1200" b="1">
                <a:solidFill>
                  <a:srgbClr val="2F7E99"/>
                </a:solidFill>
              </a:rPr>
              <a:t>TESTING_PROTOCOL.md classifies exact, tolerance, and physics-change workflows.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B1FBF46-7154-40D0-B8BD-96875EE6109F}"/>
              </a:ext>
            </a:extLst>
          </p:cNvPr>
          <p:cNvSpPr>
            <a:spLocks noGrp="1"/>
          </p:cNvSpPr>
          <p:nvPr/>
        </p:nvSpPr>
        <p:spPr>
          <a:xfrm>
            <a:off x="514350" y="5562600"/>
            <a:ext cx="11163300" cy="704850"/>
          </a:xfrm>
          <a:prstGeom prst="roundRect">
            <a:avLst>
              <a:gd name="adj" fmla="val 10811"/>
            </a:avLst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A8E291-53E2-41E2-952C-C62BBC8579D2}"/>
              </a:ext>
            </a:extLst>
          </p:cNvPr>
          <p:cNvSpPr>
            <a:spLocks noGrp="1"/>
          </p:cNvSpPr>
          <p:nvPr/>
        </p:nvSpPr>
        <p:spPr>
          <a:xfrm>
            <a:off x="781050" y="5715000"/>
            <a:ext cx="10629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Baseline  →  change  →  exact comparison  →  visual review  →  archived evidence</a:t>
            </a:r>
          </a:p>
        </p:txBody>
      </p:sp>
    </p:spTree>
    <p:extLst>
      <p:ext uri="{BB962C8B-B14F-4D97-AF65-F5344CB8AC3E}">
        <p14:creationId xmlns:p14="http://schemas.microsoft.com/office/powerpoint/2010/main" val="685103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81C350B7-2838-40AC-8C9F-AE066FF46226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7E99"/>
                </a:solidFill>
              </a:defRPr>
            </a:pPr>
            <a:r>
              <a:rPr sz="975" b="1">
                <a:solidFill>
                  <a:srgbClr val="2F7E99"/>
                </a:solidFill>
              </a:rPr>
              <a:t>TESTING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39CF9C2D-3F01-4C84-BE98-81494A9E341C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7242B"/>
                </a:solidFill>
              </a:defRPr>
            </a:pPr>
            <a:r>
              <a:rPr sz="2625" b="1">
                <a:solidFill>
                  <a:srgbClr val="17242B"/>
                </a:solidFill>
              </a:rPr>
              <a:t>Six configurations now exercise every sedimentation 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A139C5-4CFA-4E98-BABC-99C246FFE242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2636C"/>
                </a:solidFill>
              </a:defRPr>
            </a:pPr>
            <a:r>
              <a:rPr sz="900" b="0">
                <a:solidFill>
                  <a:srgbClr val="52636C"/>
                </a:solidFill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15A4E-CE49-4CE2-A282-F3C58CEDDF72}"/>
              </a:ext>
            </a:extLst>
          </p:cNvPr>
          <p:cNvSpPr>
            <a:spLocks noGrp="1"/>
          </p:cNvSpPr>
          <p:nvPr/>
        </p:nvSpPr>
        <p:spPr>
          <a:xfrm>
            <a:off x="514350" y="1524000"/>
            <a:ext cx="1333500" cy="495300"/>
          </a:xfrm>
          <a:prstGeom prst="rect">
            <a:avLst/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0BE334-F795-4B66-8808-CF6C15358608}"/>
              </a:ext>
            </a:extLst>
          </p:cNvPr>
          <p:cNvSpPr>
            <a:spLocks noGrp="1"/>
          </p:cNvSpPr>
          <p:nvPr/>
        </p:nvSpPr>
        <p:spPr>
          <a:xfrm>
            <a:off x="590550" y="1581150"/>
            <a:ext cx="1181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139052-D2B8-44B6-B3FA-5CF6DF0672BA}"/>
              </a:ext>
            </a:extLst>
          </p:cNvPr>
          <p:cNvSpPr>
            <a:spLocks noGrp="1"/>
          </p:cNvSpPr>
          <p:nvPr/>
        </p:nvSpPr>
        <p:spPr>
          <a:xfrm>
            <a:off x="1847850" y="1524000"/>
            <a:ext cx="1143000" cy="495300"/>
          </a:xfrm>
          <a:prstGeom prst="rect">
            <a:avLst/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DC26BF-BC41-4BDA-8DA0-7B86EB2372A5}"/>
              </a:ext>
            </a:extLst>
          </p:cNvPr>
          <p:cNvSpPr>
            <a:spLocks noGrp="1"/>
          </p:cNvSpPr>
          <p:nvPr/>
        </p:nvSpPr>
        <p:spPr>
          <a:xfrm>
            <a:off x="1924050" y="1581150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nCat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F48EFE-6D25-42D3-85A0-61182F009C16}"/>
              </a:ext>
            </a:extLst>
          </p:cNvPr>
          <p:cNvSpPr>
            <a:spLocks noGrp="1"/>
          </p:cNvSpPr>
          <p:nvPr/>
        </p:nvSpPr>
        <p:spPr>
          <a:xfrm>
            <a:off x="2990850" y="1524000"/>
            <a:ext cx="1828800" cy="495300"/>
          </a:xfrm>
          <a:prstGeom prst="rect">
            <a:avLst/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258F79A-029A-4366-8F05-584917C9FCEF}"/>
              </a:ext>
            </a:extLst>
          </p:cNvPr>
          <p:cNvSpPr>
            <a:spLocks noGrp="1"/>
          </p:cNvSpPr>
          <p:nvPr/>
        </p:nvSpPr>
        <p:spPr>
          <a:xfrm>
            <a:off x="3067050" y="1581150"/>
            <a:ext cx="1676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3-mom 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2BF180-A77F-4FC2-9E30-04D5B412C3FE}"/>
              </a:ext>
            </a:extLst>
          </p:cNvPr>
          <p:cNvSpPr>
            <a:spLocks noGrp="1"/>
          </p:cNvSpPr>
          <p:nvPr/>
        </p:nvSpPr>
        <p:spPr>
          <a:xfrm>
            <a:off x="4819650" y="1524000"/>
            <a:ext cx="2038350" cy="495300"/>
          </a:xfrm>
          <a:prstGeom prst="rect">
            <a:avLst/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2971A8-976B-4E52-8C77-4A79E2A5784C}"/>
              </a:ext>
            </a:extLst>
          </p:cNvPr>
          <p:cNvSpPr>
            <a:spLocks noGrp="1"/>
          </p:cNvSpPr>
          <p:nvPr/>
        </p:nvSpPr>
        <p:spPr>
          <a:xfrm>
            <a:off x="4895850" y="1581150"/>
            <a:ext cx="1885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Liquid fraction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A45C94-7D1C-43CB-8B31-758CC9422511}"/>
              </a:ext>
            </a:extLst>
          </p:cNvPr>
          <p:cNvSpPr>
            <a:spLocks noGrp="1"/>
          </p:cNvSpPr>
          <p:nvPr/>
        </p:nvSpPr>
        <p:spPr>
          <a:xfrm>
            <a:off x="6858000" y="1524000"/>
            <a:ext cx="2343150" cy="495300"/>
          </a:xfrm>
          <a:prstGeom prst="rect">
            <a:avLst/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6F626F-1C24-4D51-9232-15FEFF4269E5}"/>
              </a:ext>
            </a:extLst>
          </p:cNvPr>
          <p:cNvSpPr>
            <a:spLocks noGrp="1"/>
          </p:cNvSpPr>
          <p:nvPr/>
        </p:nvSpPr>
        <p:spPr>
          <a:xfrm>
            <a:off x="6934200" y="15811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LUT1 family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D3B647-7A36-4D01-97F8-44A4B1571208}"/>
              </a:ext>
            </a:extLst>
          </p:cNvPr>
          <p:cNvSpPr>
            <a:spLocks noGrp="1"/>
          </p:cNvSpPr>
          <p:nvPr/>
        </p:nvSpPr>
        <p:spPr>
          <a:xfrm>
            <a:off x="9201150" y="1524000"/>
            <a:ext cx="2476500" cy="495300"/>
          </a:xfrm>
          <a:prstGeom prst="rect">
            <a:avLst/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1CA8F4-5842-4035-ACF5-6DE7300C537B}"/>
              </a:ext>
            </a:extLst>
          </p:cNvPr>
          <p:cNvSpPr>
            <a:spLocks noGrp="1"/>
          </p:cNvSpPr>
          <p:nvPr/>
        </p:nvSpPr>
        <p:spPr>
          <a:xfrm>
            <a:off x="9277350" y="1581150"/>
            <a:ext cx="2324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Sedimentation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DBAF4E-3D7C-42C9-BDDD-9AACA985CD66}"/>
              </a:ext>
            </a:extLst>
          </p:cNvPr>
          <p:cNvSpPr>
            <a:spLocks noGrp="1"/>
          </p:cNvSpPr>
          <p:nvPr/>
        </p:nvSpPr>
        <p:spPr>
          <a:xfrm>
            <a:off x="514350" y="2019300"/>
            <a:ext cx="1333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B97FFA-49AC-4B04-A3DB-5A10726EC48D}"/>
              </a:ext>
            </a:extLst>
          </p:cNvPr>
          <p:cNvSpPr>
            <a:spLocks noGrp="1"/>
          </p:cNvSpPr>
          <p:nvPr/>
        </p:nvSpPr>
        <p:spPr>
          <a:xfrm>
            <a:off x="571500" y="20955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7E99"/>
                </a:solidFill>
              </a:defRPr>
            </a:pPr>
            <a:r>
              <a:rPr sz="1275" b="1">
                <a:solidFill>
                  <a:srgbClr val="2F7E99"/>
                </a:solidFill>
              </a:rPr>
              <a:t>1FF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733E38-A67C-4135-8730-581E549EE1A6}"/>
              </a:ext>
            </a:extLst>
          </p:cNvPr>
          <p:cNvSpPr>
            <a:spLocks noGrp="1"/>
          </p:cNvSpPr>
          <p:nvPr/>
        </p:nvSpPr>
        <p:spPr>
          <a:xfrm>
            <a:off x="1847850" y="2019300"/>
            <a:ext cx="11430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BAC488-1DD0-4C94-9C08-FD12499EE8ED}"/>
              </a:ext>
            </a:extLst>
          </p:cNvPr>
          <p:cNvSpPr>
            <a:spLocks noGrp="1"/>
          </p:cNvSpPr>
          <p:nvPr/>
        </p:nvSpPr>
        <p:spPr>
          <a:xfrm>
            <a:off x="1905000" y="2095500"/>
            <a:ext cx="1028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68FB86-5328-4D78-AC23-AE3F3E541AD9}"/>
              </a:ext>
            </a:extLst>
          </p:cNvPr>
          <p:cNvSpPr>
            <a:spLocks noGrp="1"/>
          </p:cNvSpPr>
          <p:nvPr/>
        </p:nvSpPr>
        <p:spPr>
          <a:xfrm>
            <a:off x="2990850" y="2019300"/>
            <a:ext cx="18288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E42251-9611-4229-9F18-7BE83B5A700A}"/>
              </a:ext>
            </a:extLst>
          </p:cNvPr>
          <p:cNvSpPr>
            <a:spLocks noGrp="1"/>
          </p:cNvSpPr>
          <p:nvPr/>
        </p:nvSpPr>
        <p:spPr>
          <a:xfrm>
            <a:off x="3048000" y="20955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No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6476D2-C2F1-4F49-93A2-AA877C9DAFCF}"/>
              </a:ext>
            </a:extLst>
          </p:cNvPr>
          <p:cNvSpPr>
            <a:spLocks noGrp="1"/>
          </p:cNvSpPr>
          <p:nvPr/>
        </p:nvSpPr>
        <p:spPr>
          <a:xfrm>
            <a:off x="4819650" y="2019300"/>
            <a:ext cx="203835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B4E037-888B-4978-BE10-301AC691A072}"/>
              </a:ext>
            </a:extLst>
          </p:cNvPr>
          <p:cNvSpPr>
            <a:spLocks noGrp="1"/>
          </p:cNvSpPr>
          <p:nvPr/>
        </p:nvSpPr>
        <p:spPr>
          <a:xfrm>
            <a:off x="4876800" y="2095500"/>
            <a:ext cx="1924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No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514D67-EFC6-43E3-9CD9-DF071AA5B20A}"/>
              </a:ext>
            </a:extLst>
          </p:cNvPr>
          <p:cNvSpPr>
            <a:spLocks noGrp="1"/>
          </p:cNvSpPr>
          <p:nvPr/>
        </p:nvSpPr>
        <p:spPr>
          <a:xfrm>
            <a:off x="6858000" y="2019300"/>
            <a:ext cx="234315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218CE1-E4AB-4215-8B7A-3406A823B687}"/>
              </a:ext>
            </a:extLst>
          </p:cNvPr>
          <p:cNvSpPr>
            <a:spLocks noGrp="1"/>
          </p:cNvSpPr>
          <p:nvPr/>
        </p:nvSpPr>
        <p:spPr>
          <a:xfrm>
            <a:off x="6915150" y="2095500"/>
            <a:ext cx="2228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2-mom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AFA51F-20E2-4CFC-BC2B-57E73FCC6F30}"/>
              </a:ext>
            </a:extLst>
          </p:cNvPr>
          <p:cNvSpPr>
            <a:spLocks noGrp="1"/>
          </p:cNvSpPr>
          <p:nvPr/>
        </p:nvSpPr>
        <p:spPr>
          <a:xfrm>
            <a:off x="9201150" y="2019300"/>
            <a:ext cx="2476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F18304-D6E5-4800-976A-292CBEF16393}"/>
              </a:ext>
            </a:extLst>
          </p:cNvPr>
          <p:cNvSpPr>
            <a:spLocks noGrp="1"/>
          </p:cNvSpPr>
          <p:nvPr/>
        </p:nvSpPr>
        <p:spPr>
          <a:xfrm>
            <a:off x="9258300" y="2095500"/>
            <a:ext cx="236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0E16A5-AD45-4AE3-90C8-6F65FFDD1D62}"/>
              </a:ext>
            </a:extLst>
          </p:cNvPr>
          <p:cNvSpPr>
            <a:spLocks noGrp="1"/>
          </p:cNvSpPr>
          <p:nvPr/>
        </p:nvSpPr>
        <p:spPr>
          <a:xfrm>
            <a:off x="514350" y="2600325"/>
            <a:ext cx="133350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145541-29D6-4E22-A608-EC3514A4DB38}"/>
              </a:ext>
            </a:extLst>
          </p:cNvPr>
          <p:cNvSpPr>
            <a:spLocks noGrp="1"/>
          </p:cNvSpPr>
          <p:nvPr/>
        </p:nvSpPr>
        <p:spPr>
          <a:xfrm>
            <a:off x="571500" y="2676525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7E99"/>
                </a:solidFill>
              </a:defRPr>
            </a:pPr>
            <a:r>
              <a:rPr sz="1275" b="1">
                <a:solidFill>
                  <a:srgbClr val="2F7E99"/>
                </a:solidFill>
              </a:rPr>
              <a:t>1FT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38F56F-0A55-4239-B3DC-AA6C9A379F3F}"/>
              </a:ext>
            </a:extLst>
          </p:cNvPr>
          <p:cNvSpPr>
            <a:spLocks noGrp="1"/>
          </p:cNvSpPr>
          <p:nvPr/>
        </p:nvSpPr>
        <p:spPr>
          <a:xfrm>
            <a:off x="1847850" y="2600325"/>
            <a:ext cx="114300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D4AC15-119F-4116-8E28-E5973F20F637}"/>
              </a:ext>
            </a:extLst>
          </p:cNvPr>
          <p:cNvSpPr>
            <a:spLocks noGrp="1"/>
          </p:cNvSpPr>
          <p:nvPr/>
        </p:nvSpPr>
        <p:spPr>
          <a:xfrm>
            <a:off x="1905000" y="2676525"/>
            <a:ext cx="1028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1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86A45A-053F-4580-956F-FA4A16216454}"/>
              </a:ext>
            </a:extLst>
          </p:cNvPr>
          <p:cNvSpPr>
            <a:spLocks noGrp="1"/>
          </p:cNvSpPr>
          <p:nvPr/>
        </p:nvSpPr>
        <p:spPr>
          <a:xfrm>
            <a:off x="2990850" y="2600325"/>
            <a:ext cx="182880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4F6493-16D7-4BFB-9209-4883ECDFA148}"/>
              </a:ext>
            </a:extLst>
          </p:cNvPr>
          <p:cNvSpPr>
            <a:spLocks noGrp="1"/>
          </p:cNvSpPr>
          <p:nvPr/>
        </p:nvSpPr>
        <p:spPr>
          <a:xfrm>
            <a:off x="3048000" y="267652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No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DAB3B8E-9D87-43F2-ADDD-E097EA552911}"/>
              </a:ext>
            </a:extLst>
          </p:cNvPr>
          <p:cNvSpPr>
            <a:spLocks noGrp="1"/>
          </p:cNvSpPr>
          <p:nvPr/>
        </p:nvSpPr>
        <p:spPr>
          <a:xfrm>
            <a:off x="4819650" y="2600325"/>
            <a:ext cx="203835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410A07-AF53-4CC7-9B2B-4814554C1039}"/>
              </a:ext>
            </a:extLst>
          </p:cNvPr>
          <p:cNvSpPr>
            <a:spLocks noGrp="1"/>
          </p:cNvSpPr>
          <p:nvPr/>
        </p:nvSpPr>
        <p:spPr>
          <a:xfrm>
            <a:off x="4876800" y="2676525"/>
            <a:ext cx="1924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Yes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227B85E-A2D2-49DA-8837-E27BF8076A65}"/>
              </a:ext>
            </a:extLst>
          </p:cNvPr>
          <p:cNvSpPr>
            <a:spLocks noGrp="1"/>
          </p:cNvSpPr>
          <p:nvPr/>
        </p:nvSpPr>
        <p:spPr>
          <a:xfrm>
            <a:off x="6858000" y="2600325"/>
            <a:ext cx="234315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2B6A6A-52D5-43EF-B796-1A2B43B1A291}"/>
              </a:ext>
            </a:extLst>
          </p:cNvPr>
          <p:cNvSpPr>
            <a:spLocks noGrp="1"/>
          </p:cNvSpPr>
          <p:nvPr/>
        </p:nvSpPr>
        <p:spPr>
          <a:xfrm>
            <a:off x="6915150" y="2676525"/>
            <a:ext cx="2228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2-mom + Fl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B3118A2-D0B7-48FB-A89D-9D09CC21C5CB}"/>
              </a:ext>
            </a:extLst>
          </p:cNvPr>
          <p:cNvSpPr>
            <a:spLocks noGrp="1"/>
          </p:cNvSpPr>
          <p:nvPr/>
        </p:nvSpPr>
        <p:spPr>
          <a:xfrm>
            <a:off x="9201150" y="2600325"/>
            <a:ext cx="247650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F5E73CE-B6E5-49F8-9D58-C8657B0E2F0C}"/>
              </a:ext>
            </a:extLst>
          </p:cNvPr>
          <p:cNvSpPr>
            <a:spLocks noGrp="1"/>
          </p:cNvSpPr>
          <p:nvPr/>
        </p:nvSpPr>
        <p:spPr>
          <a:xfrm>
            <a:off x="9258300" y="2676525"/>
            <a:ext cx="236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FT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EC783C4-7E52-4A03-B14D-5FCEF6092907}"/>
              </a:ext>
            </a:extLst>
          </p:cNvPr>
          <p:cNvSpPr>
            <a:spLocks noGrp="1"/>
          </p:cNvSpPr>
          <p:nvPr/>
        </p:nvSpPr>
        <p:spPr>
          <a:xfrm>
            <a:off x="514350" y="3181350"/>
            <a:ext cx="133350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7A2C1E-3838-40D2-A0F9-B08FA8DED252}"/>
              </a:ext>
            </a:extLst>
          </p:cNvPr>
          <p:cNvSpPr>
            <a:spLocks noGrp="1"/>
          </p:cNvSpPr>
          <p:nvPr/>
        </p:nvSpPr>
        <p:spPr>
          <a:xfrm>
            <a:off x="571500" y="325755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7E99"/>
                </a:solidFill>
              </a:defRPr>
            </a:pPr>
            <a:r>
              <a:rPr sz="1275" b="1">
                <a:solidFill>
                  <a:srgbClr val="2F7E99"/>
                </a:solidFill>
              </a:rPr>
              <a:t>1TF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3089707-8F84-4BCE-92A1-33D9E0796398}"/>
              </a:ext>
            </a:extLst>
          </p:cNvPr>
          <p:cNvSpPr>
            <a:spLocks noGrp="1"/>
          </p:cNvSpPr>
          <p:nvPr/>
        </p:nvSpPr>
        <p:spPr>
          <a:xfrm>
            <a:off x="1847850" y="3181350"/>
            <a:ext cx="114300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7BF9BD4-06EC-4138-BA14-F402329180FA}"/>
              </a:ext>
            </a:extLst>
          </p:cNvPr>
          <p:cNvSpPr>
            <a:spLocks noGrp="1"/>
          </p:cNvSpPr>
          <p:nvPr/>
        </p:nvSpPr>
        <p:spPr>
          <a:xfrm>
            <a:off x="1905000" y="3257550"/>
            <a:ext cx="1028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1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FE7B21A-E119-4A42-A4A6-4B28963D918B}"/>
              </a:ext>
            </a:extLst>
          </p:cNvPr>
          <p:cNvSpPr>
            <a:spLocks noGrp="1"/>
          </p:cNvSpPr>
          <p:nvPr/>
        </p:nvSpPr>
        <p:spPr>
          <a:xfrm>
            <a:off x="2990850" y="3181350"/>
            <a:ext cx="182880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D484644-C1D6-4E73-A2A8-3B05C20252B2}"/>
              </a:ext>
            </a:extLst>
          </p:cNvPr>
          <p:cNvSpPr>
            <a:spLocks noGrp="1"/>
          </p:cNvSpPr>
          <p:nvPr/>
        </p:nvSpPr>
        <p:spPr>
          <a:xfrm>
            <a:off x="3048000" y="325755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Yes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9F460B9-35A2-4F41-B6C8-C22A5880CD0C}"/>
              </a:ext>
            </a:extLst>
          </p:cNvPr>
          <p:cNvSpPr>
            <a:spLocks noGrp="1"/>
          </p:cNvSpPr>
          <p:nvPr/>
        </p:nvSpPr>
        <p:spPr>
          <a:xfrm>
            <a:off x="4819650" y="3181350"/>
            <a:ext cx="203835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82F00E2-7700-493C-91B7-0E749E54F219}"/>
              </a:ext>
            </a:extLst>
          </p:cNvPr>
          <p:cNvSpPr>
            <a:spLocks noGrp="1"/>
          </p:cNvSpPr>
          <p:nvPr/>
        </p:nvSpPr>
        <p:spPr>
          <a:xfrm>
            <a:off x="4876800" y="3257550"/>
            <a:ext cx="1924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No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D3B306-C36D-4934-B696-57E4930FAE33}"/>
              </a:ext>
            </a:extLst>
          </p:cNvPr>
          <p:cNvSpPr>
            <a:spLocks noGrp="1"/>
          </p:cNvSpPr>
          <p:nvPr/>
        </p:nvSpPr>
        <p:spPr>
          <a:xfrm>
            <a:off x="6858000" y="3181350"/>
            <a:ext cx="234315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1B02475-8EBA-4778-813D-8B5A44FCB0EE}"/>
              </a:ext>
            </a:extLst>
          </p:cNvPr>
          <p:cNvSpPr>
            <a:spLocks noGrp="1"/>
          </p:cNvSpPr>
          <p:nvPr/>
        </p:nvSpPr>
        <p:spPr>
          <a:xfrm>
            <a:off x="6915150" y="3257550"/>
            <a:ext cx="2228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3-mom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28ED6C8-46E0-4885-8DC2-8B3778DAE992}"/>
              </a:ext>
            </a:extLst>
          </p:cNvPr>
          <p:cNvSpPr>
            <a:spLocks noGrp="1"/>
          </p:cNvSpPr>
          <p:nvPr/>
        </p:nvSpPr>
        <p:spPr>
          <a:xfrm>
            <a:off x="9201150" y="3181350"/>
            <a:ext cx="2476500" cy="581025"/>
          </a:xfrm>
          <a:prstGeom prst="rect">
            <a:avLst/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134CDA2-7F7B-4D21-887A-8455AEAFA01F}"/>
              </a:ext>
            </a:extLst>
          </p:cNvPr>
          <p:cNvSpPr>
            <a:spLocks noGrp="1"/>
          </p:cNvSpPr>
          <p:nvPr/>
        </p:nvSpPr>
        <p:spPr>
          <a:xfrm>
            <a:off x="9258300" y="3257550"/>
            <a:ext cx="236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TF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A88D707-A977-4F59-AD1A-297E897F57C1}"/>
              </a:ext>
            </a:extLst>
          </p:cNvPr>
          <p:cNvSpPr>
            <a:spLocks noGrp="1"/>
          </p:cNvSpPr>
          <p:nvPr/>
        </p:nvSpPr>
        <p:spPr>
          <a:xfrm>
            <a:off x="514350" y="3762375"/>
            <a:ext cx="133350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9992A1D-7F26-4CB0-96EC-3C1C97D6D585}"/>
              </a:ext>
            </a:extLst>
          </p:cNvPr>
          <p:cNvSpPr>
            <a:spLocks noGrp="1"/>
          </p:cNvSpPr>
          <p:nvPr/>
        </p:nvSpPr>
        <p:spPr>
          <a:xfrm>
            <a:off x="571500" y="3838575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7E99"/>
                </a:solidFill>
              </a:defRPr>
            </a:pPr>
            <a:r>
              <a:rPr sz="1275" b="1">
                <a:solidFill>
                  <a:srgbClr val="2F7E99"/>
                </a:solidFill>
              </a:rPr>
              <a:t>1TT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8221B4F-EEFB-409A-A542-DB18F1DA5F9A}"/>
              </a:ext>
            </a:extLst>
          </p:cNvPr>
          <p:cNvSpPr>
            <a:spLocks noGrp="1"/>
          </p:cNvSpPr>
          <p:nvPr/>
        </p:nvSpPr>
        <p:spPr>
          <a:xfrm>
            <a:off x="1847850" y="3762375"/>
            <a:ext cx="114300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164DFF9-E722-4BB6-8967-D45810163635}"/>
              </a:ext>
            </a:extLst>
          </p:cNvPr>
          <p:cNvSpPr>
            <a:spLocks noGrp="1"/>
          </p:cNvSpPr>
          <p:nvPr/>
        </p:nvSpPr>
        <p:spPr>
          <a:xfrm>
            <a:off x="1905000" y="3838575"/>
            <a:ext cx="1028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123D52A-3F85-4E08-B7B3-14E6DEF96A41}"/>
              </a:ext>
            </a:extLst>
          </p:cNvPr>
          <p:cNvSpPr>
            <a:spLocks noGrp="1"/>
          </p:cNvSpPr>
          <p:nvPr/>
        </p:nvSpPr>
        <p:spPr>
          <a:xfrm>
            <a:off x="2990850" y="3762375"/>
            <a:ext cx="182880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7EC306A-5D6A-4CDA-A47D-013C6556BC4C}"/>
              </a:ext>
            </a:extLst>
          </p:cNvPr>
          <p:cNvSpPr>
            <a:spLocks noGrp="1"/>
          </p:cNvSpPr>
          <p:nvPr/>
        </p:nvSpPr>
        <p:spPr>
          <a:xfrm>
            <a:off x="3048000" y="383857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Yes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554DB185-A8A3-4BF9-A30E-2D5DEBEADCB6}"/>
              </a:ext>
            </a:extLst>
          </p:cNvPr>
          <p:cNvSpPr>
            <a:spLocks noGrp="1"/>
          </p:cNvSpPr>
          <p:nvPr/>
        </p:nvSpPr>
        <p:spPr>
          <a:xfrm>
            <a:off x="4819650" y="3762375"/>
            <a:ext cx="203835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B4214A8-472F-4110-922F-DB32792ADCB6}"/>
              </a:ext>
            </a:extLst>
          </p:cNvPr>
          <p:cNvSpPr>
            <a:spLocks noGrp="1"/>
          </p:cNvSpPr>
          <p:nvPr/>
        </p:nvSpPr>
        <p:spPr>
          <a:xfrm>
            <a:off x="4876800" y="3838575"/>
            <a:ext cx="1924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Yes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E3AAEF4-68E8-4A50-BD72-C0742CB8E5BC}"/>
              </a:ext>
            </a:extLst>
          </p:cNvPr>
          <p:cNvSpPr>
            <a:spLocks noGrp="1"/>
          </p:cNvSpPr>
          <p:nvPr/>
        </p:nvSpPr>
        <p:spPr>
          <a:xfrm>
            <a:off x="6858000" y="3762375"/>
            <a:ext cx="234315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6C0EDBD-9061-4D97-BF0D-2CFFEAD8B303}"/>
              </a:ext>
            </a:extLst>
          </p:cNvPr>
          <p:cNvSpPr>
            <a:spLocks noGrp="1"/>
          </p:cNvSpPr>
          <p:nvPr/>
        </p:nvSpPr>
        <p:spPr>
          <a:xfrm>
            <a:off x="6915150" y="3838575"/>
            <a:ext cx="2228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3-mom + Fl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B3BC3C7-5E3E-4882-B135-AA9CCC635DFA}"/>
              </a:ext>
            </a:extLst>
          </p:cNvPr>
          <p:cNvSpPr>
            <a:spLocks noGrp="1"/>
          </p:cNvSpPr>
          <p:nvPr/>
        </p:nvSpPr>
        <p:spPr>
          <a:xfrm>
            <a:off x="9201150" y="3762375"/>
            <a:ext cx="247650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BF9CB91-FADE-415E-A8CE-DD3F34F193DC}"/>
              </a:ext>
            </a:extLst>
          </p:cNvPr>
          <p:cNvSpPr>
            <a:spLocks noGrp="1"/>
          </p:cNvSpPr>
          <p:nvPr/>
        </p:nvSpPr>
        <p:spPr>
          <a:xfrm>
            <a:off x="9258300" y="3838575"/>
            <a:ext cx="236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TT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3D04A15-C398-4E5E-BFF9-4F8FBD5D3D7C}"/>
              </a:ext>
            </a:extLst>
          </p:cNvPr>
          <p:cNvSpPr>
            <a:spLocks noGrp="1"/>
          </p:cNvSpPr>
          <p:nvPr/>
        </p:nvSpPr>
        <p:spPr>
          <a:xfrm>
            <a:off x="514350" y="4343400"/>
            <a:ext cx="1333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3225F43-D73F-4A0A-B981-68F5F6ABA563}"/>
              </a:ext>
            </a:extLst>
          </p:cNvPr>
          <p:cNvSpPr>
            <a:spLocks noGrp="1"/>
          </p:cNvSpPr>
          <p:nvPr/>
        </p:nvSpPr>
        <p:spPr>
          <a:xfrm>
            <a:off x="571500" y="4419600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7E99"/>
                </a:solidFill>
              </a:defRPr>
            </a:pPr>
            <a:r>
              <a:rPr sz="1275" b="1">
                <a:solidFill>
                  <a:srgbClr val="2F7E99"/>
                </a:solidFill>
              </a:rPr>
              <a:t>2TT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BF8FB37-1617-498B-B5F5-242F25C24AA1}"/>
              </a:ext>
            </a:extLst>
          </p:cNvPr>
          <p:cNvSpPr>
            <a:spLocks noGrp="1"/>
          </p:cNvSpPr>
          <p:nvPr/>
        </p:nvSpPr>
        <p:spPr>
          <a:xfrm>
            <a:off x="1847850" y="4343400"/>
            <a:ext cx="11430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811BD8E-4D25-4D67-B2D6-DB6BBE567FAD}"/>
              </a:ext>
            </a:extLst>
          </p:cNvPr>
          <p:cNvSpPr>
            <a:spLocks noGrp="1"/>
          </p:cNvSpPr>
          <p:nvPr/>
        </p:nvSpPr>
        <p:spPr>
          <a:xfrm>
            <a:off x="1905000" y="4419600"/>
            <a:ext cx="1028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2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D8EEE5D-7D84-4940-AD21-B5D79D4788D9}"/>
              </a:ext>
            </a:extLst>
          </p:cNvPr>
          <p:cNvSpPr>
            <a:spLocks noGrp="1"/>
          </p:cNvSpPr>
          <p:nvPr/>
        </p:nvSpPr>
        <p:spPr>
          <a:xfrm>
            <a:off x="2990850" y="4343400"/>
            <a:ext cx="18288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4FB9DF9-D41B-40A2-92D6-F6B0BE5D476D}"/>
              </a:ext>
            </a:extLst>
          </p:cNvPr>
          <p:cNvSpPr>
            <a:spLocks noGrp="1"/>
          </p:cNvSpPr>
          <p:nvPr/>
        </p:nvSpPr>
        <p:spPr>
          <a:xfrm>
            <a:off x="3048000" y="4419600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Yes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D184833-6257-4EE2-A999-A6C0E964F21B}"/>
              </a:ext>
            </a:extLst>
          </p:cNvPr>
          <p:cNvSpPr>
            <a:spLocks noGrp="1"/>
          </p:cNvSpPr>
          <p:nvPr/>
        </p:nvSpPr>
        <p:spPr>
          <a:xfrm>
            <a:off x="4819650" y="4343400"/>
            <a:ext cx="203835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CDCD608-545D-4698-A229-24E391218C8D}"/>
              </a:ext>
            </a:extLst>
          </p:cNvPr>
          <p:cNvSpPr>
            <a:spLocks noGrp="1"/>
          </p:cNvSpPr>
          <p:nvPr/>
        </p:nvSpPr>
        <p:spPr>
          <a:xfrm>
            <a:off x="4876800" y="4419600"/>
            <a:ext cx="1924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Yes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9C69534-50AF-41BE-8CA9-6F654D07304E}"/>
              </a:ext>
            </a:extLst>
          </p:cNvPr>
          <p:cNvSpPr>
            <a:spLocks noGrp="1"/>
          </p:cNvSpPr>
          <p:nvPr/>
        </p:nvSpPr>
        <p:spPr>
          <a:xfrm>
            <a:off x="6858000" y="4343400"/>
            <a:ext cx="234315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2B9923F-51EC-4510-9B24-18ADAA24BA1D}"/>
              </a:ext>
            </a:extLst>
          </p:cNvPr>
          <p:cNvSpPr>
            <a:spLocks noGrp="1"/>
          </p:cNvSpPr>
          <p:nvPr/>
        </p:nvSpPr>
        <p:spPr>
          <a:xfrm>
            <a:off x="6915150" y="4419600"/>
            <a:ext cx="2228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LUT1 + LUT2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1C58458-F842-45E9-B180-BF47A69B96C2}"/>
              </a:ext>
            </a:extLst>
          </p:cNvPr>
          <p:cNvSpPr>
            <a:spLocks noGrp="1"/>
          </p:cNvSpPr>
          <p:nvPr/>
        </p:nvSpPr>
        <p:spPr>
          <a:xfrm>
            <a:off x="9201150" y="4343400"/>
            <a:ext cx="2476500" cy="581025"/>
          </a:xfrm>
          <a:prstGeom prst="rect">
            <a:avLst/>
          </a:prstGeom>
          <a:solidFill>
            <a:srgbClr val="FFFFFF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A695FE0-80A0-458C-B8FB-97B8F548546B}"/>
              </a:ext>
            </a:extLst>
          </p:cNvPr>
          <p:cNvSpPr>
            <a:spLocks noGrp="1"/>
          </p:cNvSpPr>
          <p:nvPr/>
        </p:nvSpPr>
        <p:spPr>
          <a:xfrm>
            <a:off x="9258300" y="4419600"/>
            <a:ext cx="236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TT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E651096-BB58-4DC3-8C22-1C9ED772F433}"/>
              </a:ext>
            </a:extLst>
          </p:cNvPr>
          <p:cNvSpPr>
            <a:spLocks noGrp="1"/>
          </p:cNvSpPr>
          <p:nvPr/>
        </p:nvSpPr>
        <p:spPr>
          <a:xfrm>
            <a:off x="514350" y="4924425"/>
            <a:ext cx="133350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F10E2F32-8C9C-49E4-A660-14286C7B148C}"/>
              </a:ext>
            </a:extLst>
          </p:cNvPr>
          <p:cNvSpPr>
            <a:spLocks noGrp="1"/>
          </p:cNvSpPr>
          <p:nvPr/>
        </p:nvSpPr>
        <p:spPr>
          <a:xfrm>
            <a:off x="571500" y="5000625"/>
            <a:ext cx="1219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2F7E99"/>
                </a:solidFill>
              </a:defRPr>
            </a:pPr>
            <a:r>
              <a:rPr sz="1275" b="1">
                <a:solidFill>
                  <a:srgbClr val="2F7E99"/>
                </a:solidFill>
              </a:rPr>
              <a:t>3TT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8BA84394-BB54-47CB-BCAA-007E6FA4FDA1}"/>
              </a:ext>
            </a:extLst>
          </p:cNvPr>
          <p:cNvSpPr>
            <a:spLocks noGrp="1"/>
          </p:cNvSpPr>
          <p:nvPr/>
        </p:nvSpPr>
        <p:spPr>
          <a:xfrm>
            <a:off x="1847850" y="4924425"/>
            <a:ext cx="114300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A6FDC59-C904-4C6C-89C7-959D077B15E8}"/>
              </a:ext>
            </a:extLst>
          </p:cNvPr>
          <p:cNvSpPr>
            <a:spLocks noGrp="1"/>
          </p:cNvSpPr>
          <p:nvPr/>
        </p:nvSpPr>
        <p:spPr>
          <a:xfrm>
            <a:off x="1905000" y="5000625"/>
            <a:ext cx="10287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3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484A3574-299D-4D38-9D41-6EEB8FB02177}"/>
              </a:ext>
            </a:extLst>
          </p:cNvPr>
          <p:cNvSpPr>
            <a:spLocks noGrp="1"/>
          </p:cNvSpPr>
          <p:nvPr/>
        </p:nvSpPr>
        <p:spPr>
          <a:xfrm>
            <a:off x="2990850" y="4924425"/>
            <a:ext cx="182880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8E9502A-7949-4538-ACDC-8B7B475A9550}"/>
              </a:ext>
            </a:extLst>
          </p:cNvPr>
          <p:cNvSpPr>
            <a:spLocks noGrp="1"/>
          </p:cNvSpPr>
          <p:nvPr/>
        </p:nvSpPr>
        <p:spPr>
          <a:xfrm>
            <a:off x="3048000" y="5000625"/>
            <a:ext cx="1714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Yes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7142F922-8E65-426F-BC19-271377397D98}"/>
              </a:ext>
            </a:extLst>
          </p:cNvPr>
          <p:cNvSpPr>
            <a:spLocks noGrp="1"/>
          </p:cNvSpPr>
          <p:nvPr/>
        </p:nvSpPr>
        <p:spPr>
          <a:xfrm>
            <a:off x="4819650" y="4924425"/>
            <a:ext cx="203835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A4DCB8C9-CAE1-4D14-92FF-A77DA85CF486}"/>
              </a:ext>
            </a:extLst>
          </p:cNvPr>
          <p:cNvSpPr>
            <a:spLocks noGrp="1"/>
          </p:cNvSpPr>
          <p:nvPr/>
        </p:nvSpPr>
        <p:spPr>
          <a:xfrm>
            <a:off x="4876800" y="5000625"/>
            <a:ext cx="1924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Yes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2EDBB973-4787-4481-BF29-EBAD3B15744B}"/>
              </a:ext>
            </a:extLst>
          </p:cNvPr>
          <p:cNvSpPr>
            <a:spLocks noGrp="1"/>
          </p:cNvSpPr>
          <p:nvPr/>
        </p:nvSpPr>
        <p:spPr>
          <a:xfrm>
            <a:off x="6858000" y="4924425"/>
            <a:ext cx="234315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703F2259-CF2D-4EDB-B8EA-76E09A6DB4BD}"/>
              </a:ext>
            </a:extLst>
          </p:cNvPr>
          <p:cNvSpPr>
            <a:spLocks noGrp="1"/>
          </p:cNvSpPr>
          <p:nvPr/>
        </p:nvSpPr>
        <p:spPr>
          <a:xfrm>
            <a:off x="6915150" y="5000625"/>
            <a:ext cx="2228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LUT1 + LUT2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352737D-F264-475A-B8DA-CDFBEF7C69C7}"/>
              </a:ext>
            </a:extLst>
          </p:cNvPr>
          <p:cNvSpPr>
            <a:spLocks noGrp="1"/>
          </p:cNvSpPr>
          <p:nvPr/>
        </p:nvSpPr>
        <p:spPr>
          <a:xfrm>
            <a:off x="9201150" y="4924425"/>
            <a:ext cx="2476500" cy="581025"/>
          </a:xfrm>
          <a:prstGeom prst="rect">
            <a:avLst/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74B273B0-00B4-4632-8A64-6996322B6676}"/>
              </a:ext>
            </a:extLst>
          </p:cNvPr>
          <p:cNvSpPr>
            <a:spLocks noGrp="1"/>
          </p:cNvSpPr>
          <p:nvPr/>
        </p:nvSpPr>
        <p:spPr>
          <a:xfrm>
            <a:off x="9258300" y="5000625"/>
            <a:ext cx="236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17242B"/>
                </a:solidFill>
              </a:defRPr>
            </a:pPr>
            <a:r>
              <a:rPr sz="1275" b="0">
                <a:solidFill>
                  <a:srgbClr val="17242B"/>
                </a:solidFill>
              </a:rPr>
              <a:t>TT</a:t>
            </a:r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862B930E-5DCC-4E10-99B5-3BB9A31C4EAF}"/>
              </a:ext>
            </a:extLst>
          </p:cNvPr>
          <p:cNvSpPr>
            <a:spLocks noGrp="1"/>
          </p:cNvSpPr>
          <p:nvPr/>
        </p:nvSpPr>
        <p:spPr>
          <a:xfrm>
            <a:off x="685800" y="5695950"/>
            <a:ext cx="857250" cy="304800"/>
          </a:xfrm>
          <a:prstGeom prst="roundRect">
            <a:avLst>
              <a:gd name="adj" fmla="val 25000"/>
            </a:avLst>
          </a:prstGeom>
          <a:solidFill>
            <a:srgbClr val="2F7E99"/>
          </a:solidFill>
          <a:ln w="0">
            <a:noFill/>
            <a:prstDash val="solid"/>
          </a:ln>
        </p:spPr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66E78DEB-4CCF-4DA6-BA67-82672694D536}"/>
              </a:ext>
            </a:extLst>
          </p:cNvPr>
          <p:cNvSpPr>
            <a:spLocks noGrp="1"/>
          </p:cNvSpPr>
          <p:nvPr/>
        </p:nvSpPr>
        <p:spPr>
          <a:xfrm>
            <a:off x="781050" y="57150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ADDED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104D807-B392-4326-A296-805E56C246C8}"/>
              </a:ext>
            </a:extLst>
          </p:cNvPr>
          <p:cNvSpPr>
            <a:spLocks noGrp="1"/>
          </p:cNvSpPr>
          <p:nvPr/>
        </p:nvSpPr>
        <p:spPr>
          <a:xfrm>
            <a:off x="1714500" y="56959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242B"/>
                </a:solidFill>
              </a:defRPr>
            </a:pPr>
            <a:r>
              <a:rPr sz="1350" b="1">
                <a:solidFill>
                  <a:srgbClr val="17242B"/>
                </a:solidFill>
              </a:rPr>
              <a:t>1FT + 1TF closed the two missing branches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34E100BD-EE98-4DC6-AF58-2401116AB943}"/>
              </a:ext>
            </a:extLst>
          </p:cNvPr>
          <p:cNvSpPr>
            <a:spLocks noGrp="1"/>
          </p:cNvSpPr>
          <p:nvPr/>
        </p:nvSpPr>
        <p:spPr>
          <a:xfrm>
            <a:off x="7239000" y="5695950"/>
            <a:ext cx="1009650" cy="304800"/>
          </a:xfrm>
          <a:prstGeom prst="roundRect">
            <a:avLst>
              <a:gd name="adj" fmla="val 25000"/>
            </a:avLst>
          </a:prstGeom>
          <a:solidFill>
            <a:srgbClr val="2D7C68"/>
          </a:solidFill>
          <a:ln w="0">
            <a:noFill/>
            <a:prstDash val="solid"/>
          </a:ln>
        </p:spPr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8148C18-03F0-46A8-A1F5-10727F692BEC}"/>
              </a:ext>
            </a:extLst>
          </p:cNvPr>
          <p:cNvSpPr>
            <a:spLocks noGrp="1"/>
          </p:cNvSpPr>
          <p:nvPr/>
        </p:nvSpPr>
        <p:spPr>
          <a:xfrm>
            <a:off x="7334250" y="5715000"/>
            <a:ext cx="819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76C6398-EADC-4BE2-A5D3-90A110DD2E9B}"/>
              </a:ext>
            </a:extLst>
          </p:cNvPr>
          <p:cNvSpPr>
            <a:spLocks noGrp="1"/>
          </p:cNvSpPr>
          <p:nvPr/>
        </p:nvSpPr>
        <p:spPr>
          <a:xfrm>
            <a:off x="8420100" y="5695950"/>
            <a:ext cx="3257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17242B"/>
                </a:solidFill>
              </a:defRPr>
            </a:pPr>
            <a:r>
              <a:rPr sz="1350" b="1">
                <a:solidFill>
                  <a:srgbClr val="17242B"/>
                </a:solidFill>
              </a:rPr>
              <a:t>all four sedimentation variants covered</a:t>
            </a:r>
          </a:p>
        </p:txBody>
      </p:sp>
    </p:spTree>
    <p:extLst>
      <p:ext uri="{BB962C8B-B14F-4D97-AF65-F5344CB8AC3E}">
        <p14:creationId xmlns:p14="http://schemas.microsoft.com/office/powerpoint/2010/main" val="23280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95A26D5-4EDF-47FC-90D2-494E0461B645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7E99"/>
                </a:solidFill>
              </a:defRPr>
            </a:pPr>
            <a:r>
              <a:rPr sz="975" b="1">
                <a:solidFill>
                  <a:srgbClr val="2F7E99"/>
                </a:solidFill>
              </a:rPr>
              <a:t>FUTURE</a:t>
            </a:r>
          </a:p>
        </p:txBody>
      </p:sp>
      <p:sp>
        <p:nvSpPr>
          <p:cNvPr id="2" name="title-11">
            <a:extLst>
              <a:ext uri="{FF2B5EF4-FFF2-40B4-BE49-F238E27FC236}">
                <a16:creationId xmlns:a16="http://schemas.microsoft.com/office/drawing/2014/main" id="{11E166E2-6B57-4930-BC6D-1FF202AB1CFA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7242B"/>
                </a:solidFill>
              </a:defRPr>
            </a:pPr>
            <a:r>
              <a:rPr sz="2625" b="1">
                <a:solidFill>
                  <a:srgbClr val="17242B"/>
                </a:solidFill>
              </a:rPr>
              <a:t>Consolidate four sedimentation copies—then let measurement decide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4CD9F2-EA8E-4E1C-B594-B542C4B2E2BA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2636C"/>
                </a:solidFill>
              </a:defRPr>
            </a:pPr>
            <a:r>
              <a:rPr sz="900" b="0">
                <a:solidFill>
                  <a:srgbClr val="52636C"/>
                </a:solidFill>
              </a:rPr>
              <a:t>11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2BB8256-8181-454F-9547-A9B152308282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5143500" cy="3524250"/>
          </a:xfrm>
          <a:prstGeom prst="roundRect">
            <a:avLst>
              <a:gd name="adj" fmla="val 2162"/>
            </a:avLst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2380E3-C095-4E25-9E59-A05FD532AF0F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2000250" cy="304800"/>
          </a:xfrm>
          <a:prstGeom prst="roundRect">
            <a:avLst>
              <a:gd name="adj" fmla="val 25000"/>
            </a:avLst>
          </a:prstGeom>
          <a:solidFill>
            <a:srgbClr val="2D7C68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F4C1F3-10D4-4F76-A316-B27925E29850}"/>
              </a:ext>
            </a:extLst>
          </p:cNvPr>
          <p:cNvSpPr>
            <a:spLocks noGrp="1"/>
          </p:cNvSpPr>
          <p:nvPr/>
        </p:nvSpPr>
        <p:spPr>
          <a:xfrm>
            <a:off x="857250" y="1828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RECOMMENDED FIRST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0F6989-7858-4D41-AF0D-7CF63D3C7574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7242B"/>
                </a:solidFill>
              </a:defRPr>
            </a:pPr>
            <a:r>
              <a:rPr sz="2250" b="1">
                <a:solidFill>
                  <a:srgbClr val="17242B"/>
                </a:solidFill>
              </a:rPr>
              <a:t>Option 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E3FDC9-2ECE-4F9B-8304-057D183D6061}"/>
              </a:ext>
            </a:extLst>
          </p:cNvPr>
          <p:cNvSpPr>
            <a:spLocks noGrp="1"/>
          </p:cNvSpPr>
          <p:nvPr/>
        </p:nvSpPr>
        <p:spPr>
          <a:xfrm>
            <a:off x="762000" y="2705100"/>
            <a:ext cx="419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7E99"/>
                </a:solidFill>
              </a:defRPr>
            </a:pPr>
            <a:r>
              <a:rPr sz="1650" b="1">
                <a:solidFill>
                  <a:srgbClr val="2F7E99"/>
                </a:solidFill>
              </a:rPr>
              <a:t>One routine with runtime flags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E0BA82-EEEA-4AD0-8120-7F3C25E3158B}"/>
              </a:ext>
            </a:extLst>
          </p:cNvPr>
          <p:cNvSpPr>
            <a:spLocks noGrp="1"/>
          </p:cNvSpPr>
          <p:nvPr/>
        </p:nvSpPr>
        <p:spPr>
          <a:xfrm>
            <a:off x="762000" y="3276600"/>
            <a:ext cx="428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• No new files or build changes</a:t>
            </a:r>
          </a:p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• Branches are loop-invariant</a:t>
            </a:r>
          </a:p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• Simplest path for GEM, WRF, CM1 and kin1d</a:t>
            </a:r>
          </a:p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• Adopt only if −O2 timing is neutral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FA779CF-656F-49EB-A6DC-09835844ADCC}"/>
              </a:ext>
            </a:extLst>
          </p:cNvPr>
          <p:cNvSpPr>
            <a:spLocks noGrp="1"/>
          </p:cNvSpPr>
          <p:nvPr/>
        </p:nvSpPr>
        <p:spPr>
          <a:xfrm>
            <a:off x="6534150" y="1562100"/>
            <a:ext cx="5143500" cy="3524250"/>
          </a:xfrm>
          <a:prstGeom prst="roundRect">
            <a:avLst>
              <a:gd name="adj" fmla="val 2162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43B874C-E746-4F4B-BDA6-C072618FCA00}"/>
              </a:ext>
            </a:extLst>
          </p:cNvPr>
          <p:cNvSpPr>
            <a:spLocks noGrp="1"/>
          </p:cNvSpPr>
          <p:nvPr/>
        </p:nvSpPr>
        <p:spPr>
          <a:xfrm>
            <a:off x="6781800" y="1809750"/>
            <a:ext cx="1238250" cy="304800"/>
          </a:xfrm>
          <a:prstGeom prst="roundRect">
            <a:avLst>
              <a:gd name="adj" fmla="val 25000"/>
            </a:avLst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F98C77-BC76-4AA2-BCCB-198E4D71B537}"/>
              </a:ext>
            </a:extLst>
          </p:cNvPr>
          <p:cNvSpPr>
            <a:spLocks noGrp="1"/>
          </p:cNvSpPr>
          <p:nvPr/>
        </p:nvSpPr>
        <p:spPr>
          <a:xfrm>
            <a:off x="6877050" y="18288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FALLBACK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AC1E2A-E6D3-4109-B465-6962F62DD519}"/>
              </a:ext>
            </a:extLst>
          </p:cNvPr>
          <p:cNvSpPr>
            <a:spLocks noGrp="1"/>
          </p:cNvSpPr>
          <p:nvPr/>
        </p:nvSpPr>
        <p:spPr>
          <a:xfrm>
            <a:off x="6781800" y="226695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7242B"/>
                </a:solidFill>
              </a:defRPr>
            </a:pPr>
            <a:r>
              <a:rPr sz="2250" b="1">
                <a:solidFill>
                  <a:srgbClr val="17242B"/>
                </a:solidFill>
              </a:rPr>
              <a:t>Option 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FA956C-E694-4F94-8F20-E0569FD8DDCA}"/>
              </a:ext>
            </a:extLst>
          </p:cNvPr>
          <p:cNvSpPr>
            <a:spLocks noGrp="1"/>
          </p:cNvSpPr>
          <p:nvPr/>
        </p:nvSpPr>
        <p:spPr>
          <a:xfrm>
            <a:off x="6781800" y="2705100"/>
            <a:ext cx="4286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7E99"/>
                </a:solidFill>
              </a:defRPr>
            </a:pPr>
            <a:r>
              <a:rPr sz="1650" b="1">
                <a:solidFill>
                  <a:srgbClr val="2F7E99"/>
                </a:solidFill>
              </a:rPr>
              <a:t>Compile-time include specialization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E0FED8-1840-4BB9-83BC-9FC5DE780E02}"/>
              </a:ext>
            </a:extLst>
          </p:cNvPr>
          <p:cNvSpPr>
            <a:spLocks noGrp="1"/>
          </p:cNvSpPr>
          <p:nvPr/>
        </p:nvSpPr>
        <p:spPr>
          <a:xfrm>
            <a:off x="6781800" y="3276600"/>
            <a:ext cx="428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• Constant-folded dead branches</a:t>
            </a:r>
          </a:p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• Guaranteed zero runtime cost</a:t>
            </a:r>
          </a:p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• Adds one source include and a dependency</a:t>
            </a:r>
          </a:p>
          <a:p>
            <a:pPr algn="l">
              <a:defRPr sz="1425" b="0">
                <a:solidFill>
                  <a:srgbClr val="52636C"/>
                </a:solidFill>
              </a:defRPr>
            </a:pPr>
            <a:r>
              <a:rPr sz="1425" b="0">
                <a:solidFill>
                  <a:srgbClr val="52636C"/>
                </a:solidFill>
              </a:rPr>
              <a:t>• Use if Option A misses the timing gate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B3E0A35-E78D-43F0-8588-73537EBA6531}"/>
              </a:ext>
            </a:extLst>
          </p:cNvPr>
          <p:cNvSpPr>
            <a:spLocks noGrp="1"/>
          </p:cNvSpPr>
          <p:nvPr/>
        </p:nvSpPr>
        <p:spPr>
          <a:xfrm>
            <a:off x="514350" y="5429250"/>
            <a:ext cx="11163300" cy="781050"/>
          </a:xfrm>
          <a:prstGeom prst="roundRect">
            <a:avLst>
              <a:gd name="adj" fmla="val 9756"/>
            </a:avLst>
          </a:prstGeom>
          <a:solidFill>
            <a:srgbClr val="17242B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A4ACFA-369E-4674-91BE-3E9432020A2F}"/>
              </a:ext>
            </a:extLst>
          </p:cNvPr>
          <p:cNvSpPr>
            <a:spLocks noGrp="1"/>
          </p:cNvSpPr>
          <p:nvPr/>
        </p:nvSpPr>
        <p:spPr>
          <a:xfrm>
            <a:off x="762000" y="554355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8FC9DA"/>
                </a:solidFill>
              </a:defRPr>
            </a:pPr>
            <a:r>
              <a:rPr sz="1050" b="1">
                <a:solidFill>
                  <a:srgbClr val="8FC9DA"/>
                </a:solidFill>
              </a:rPr>
              <a:t>Acceptance gate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ABFD2D-5E92-4D81-9574-A5AC5A358EB7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6-config exact comparison + −O2 timing across all variants</a:t>
            </a:r>
          </a:p>
        </p:txBody>
      </p:sp>
    </p:spTree>
    <p:extLst>
      <p:ext uri="{BB962C8B-B14F-4D97-AF65-F5344CB8AC3E}">
        <p14:creationId xmlns:p14="http://schemas.microsoft.com/office/powerpoint/2010/main" val="1684359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04B026A-CEB5-4F46-9A8C-C128A7DF51F4}"/>
              </a:ext>
            </a:extLst>
          </p:cNvPr>
          <p:cNvSpPr>
            <a:spLocks noGrp="1"/>
          </p:cNvSpPr>
          <p:nvPr/>
        </p:nvSpPr>
        <p:spPr>
          <a:xfrm>
            <a:off x="514350" y="266700"/>
            <a:ext cx="3905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1">
                <a:solidFill>
                  <a:srgbClr val="2F7E99"/>
                </a:solidFill>
              </a:defRPr>
            </a:pPr>
            <a:r>
              <a:rPr sz="975" b="1">
                <a:solidFill>
                  <a:srgbClr val="2F7E99"/>
                </a:solidFill>
              </a:rPr>
              <a:t>ROADMAP</a:t>
            </a:r>
          </a:p>
        </p:txBody>
      </p:sp>
      <p:sp>
        <p:nvSpPr>
          <p:cNvPr id="2" name="title-12">
            <a:extLst>
              <a:ext uri="{FF2B5EF4-FFF2-40B4-BE49-F238E27FC236}">
                <a16:creationId xmlns:a16="http://schemas.microsoft.com/office/drawing/2014/main" id="{204CB725-DBD0-42EA-B1FB-F7DB6392C2D3}"/>
              </a:ext>
            </a:extLst>
          </p:cNvPr>
          <p:cNvSpPr>
            <a:spLocks noGrp="1"/>
          </p:cNvSpPr>
          <p:nvPr/>
        </p:nvSpPr>
        <p:spPr>
          <a:xfrm>
            <a:off x="514350" y="542925"/>
            <a:ext cx="1104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625" b="1">
                <a:solidFill>
                  <a:srgbClr val="17242B"/>
                </a:solidFill>
              </a:defRPr>
            </a:pPr>
            <a:r>
              <a:rPr sz="2625" b="1">
                <a:solidFill>
                  <a:srgbClr val="17242B"/>
                </a:solidFill>
              </a:rPr>
              <a:t>The high-value cleanup is done; one operational check remains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D1DE0B-ADED-4D11-A63E-520AD2A96628}"/>
              </a:ext>
            </a:extLst>
          </p:cNvPr>
          <p:cNvSpPr>
            <a:spLocks noGrp="1"/>
          </p:cNvSpPr>
          <p:nvPr/>
        </p:nvSpPr>
        <p:spPr>
          <a:xfrm>
            <a:off x="11334750" y="634365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52636C"/>
                </a:solidFill>
              </a:defRPr>
            </a:pPr>
            <a:r>
              <a:rPr sz="900" b="0">
                <a:solidFill>
                  <a:srgbClr val="52636C"/>
                </a:solidFill>
              </a:rPr>
              <a:t>12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4A2F5DB-28B1-4D56-947D-ED95E56B7EB5}"/>
              </a:ext>
            </a:extLst>
          </p:cNvPr>
          <p:cNvSpPr>
            <a:spLocks noGrp="1"/>
          </p:cNvSpPr>
          <p:nvPr/>
        </p:nvSpPr>
        <p:spPr>
          <a:xfrm>
            <a:off x="514350" y="1657350"/>
            <a:ext cx="3333750" cy="3714750"/>
          </a:xfrm>
          <a:prstGeom prst="roundRect">
            <a:avLst>
              <a:gd name="adj" fmla="val 2286"/>
            </a:avLst>
          </a:prstGeom>
          <a:solidFill>
            <a:srgbClr val="EAF4F7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607790-F9C3-4768-A0D0-B81C19059935}"/>
              </a:ext>
            </a:extLst>
          </p:cNvPr>
          <p:cNvSpPr>
            <a:spLocks noGrp="1"/>
          </p:cNvSpPr>
          <p:nvPr/>
        </p:nvSpPr>
        <p:spPr>
          <a:xfrm>
            <a:off x="723900" y="18859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7C68"/>
                </a:solidFill>
              </a:defRPr>
            </a:pPr>
            <a:r>
              <a:rPr sz="1650" b="1">
                <a:solidFill>
                  <a:srgbClr val="2D7C68"/>
                </a:solidFill>
              </a:rPr>
              <a:t>DONE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C85A58-DC04-42DF-AE8B-DC4C9A825889}"/>
              </a:ext>
            </a:extLst>
          </p:cNvPr>
          <p:cNvSpPr>
            <a:spLocks noGrp="1"/>
          </p:cNvSpPr>
          <p:nvPr/>
        </p:nvSpPr>
        <p:spPr>
          <a:xfrm>
            <a:off x="742950" y="2524125"/>
            <a:ext cx="114300" cy="114300"/>
          </a:xfrm>
          <a:prstGeom prst="rect">
            <a:avLst/>
          </a:prstGeom>
          <a:solidFill>
            <a:srgbClr val="2D7C68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4D22CF-226F-412F-835D-72201EF70A42}"/>
              </a:ext>
            </a:extLst>
          </p:cNvPr>
          <p:cNvSpPr>
            <a:spLocks noGrp="1"/>
          </p:cNvSpPr>
          <p:nvPr/>
        </p:nvSpPr>
        <p:spPr>
          <a:xfrm>
            <a:off x="1009650" y="23431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52636C"/>
                </a:solidFill>
              </a:defRPr>
            </a:pPr>
            <a:r>
              <a:rPr sz="1350" b="1">
                <a:solidFill>
                  <a:srgbClr val="52636C"/>
                </a:solidFill>
              </a:rPr>
              <a:t>LUT interpolation refactor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6D4AAF-264A-46FC-8AF8-E95337F94F07}"/>
              </a:ext>
            </a:extLst>
          </p:cNvPr>
          <p:cNvSpPr>
            <a:spLocks noGrp="1"/>
          </p:cNvSpPr>
          <p:nvPr/>
        </p:nvSpPr>
        <p:spPr>
          <a:xfrm>
            <a:off x="742950" y="3152775"/>
            <a:ext cx="114300" cy="114300"/>
          </a:xfrm>
          <a:prstGeom prst="rect">
            <a:avLst/>
          </a:prstGeom>
          <a:solidFill>
            <a:srgbClr val="2D7C68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B0A513-F3CE-4E93-93BA-1C134395B426}"/>
              </a:ext>
            </a:extLst>
          </p:cNvPr>
          <p:cNvSpPr>
            <a:spLocks noGrp="1"/>
          </p:cNvSpPr>
          <p:nvPr/>
        </p:nvSpPr>
        <p:spPr>
          <a:xfrm>
            <a:off x="1009650" y="29718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Named indices + allocatable LUTs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F82231-2443-48E3-9EE9-AE6B77F6F7C1}"/>
              </a:ext>
            </a:extLst>
          </p:cNvPr>
          <p:cNvSpPr>
            <a:spLocks noGrp="1"/>
          </p:cNvSpPr>
          <p:nvPr/>
        </p:nvSpPr>
        <p:spPr>
          <a:xfrm>
            <a:off x="742950" y="3781425"/>
            <a:ext cx="114300" cy="114300"/>
          </a:xfrm>
          <a:prstGeom prst="rect">
            <a:avLst/>
          </a:prstGeom>
          <a:solidFill>
            <a:srgbClr val="2D7C68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C397F4-8EB5-4FF6-9A7C-638192AAD215}"/>
              </a:ext>
            </a:extLst>
          </p:cNvPr>
          <p:cNvSpPr>
            <a:spLocks noGrp="1"/>
          </p:cNvSpPr>
          <p:nvPr/>
        </p:nvSpPr>
        <p:spPr>
          <a:xfrm>
            <a:off x="1009650" y="36004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BUG-001 residual path fixed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7E47DA-CEFB-46AF-874F-E688EE90C737}"/>
              </a:ext>
            </a:extLst>
          </p:cNvPr>
          <p:cNvSpPr>
            <a:spLocks noGrp="1"/>
          </p:cNvSpPr>
          <p:nvPr/>
        </p:nvSpPr>
        <p:spPr>
          <a:xfrm>
            <a:off x="742950" y="4410075"/>
            <a:ext cx="114300" cy="114300"/>
          </a:xfrm>
          <a:prstGeom prst="rect">
            <a:avLst/>
          </a:prstGeom>
          <a:solidFill>
            <a:srgbClr val="2D7C68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406BEC-9E54-4BFD-9A35-8079F9257DD1}"/>
              </a:ext>
            </a:extLst>
          </p:cNvPr>
          <p:cNvSpPr>
            <a:spLocks noGrp="1"/>
          </p:cNvSpPr>
          <p:nvPr/>
        </p:nvSpPr>
        <p:spPr>
          <a:xfrm>
            <a:off x="1009650" y="42291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Six-config test infrastructure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7A701DF-48C6-4325-B8AF-66960C03234D}"/>
              </a:ext>
            </a:extLst>
          </p:cNvPr>
          <p:cNvSpPr>
            <a:spLocks noGrp="1"/>
          </p:cNvSpPr>
          <p:nvPr/>
        </p:nvSpPr>
        <p:spPr>
          <a:xfrm>
            <a:off x="4229100" y="1657350"/>
            <a:ext cx="3333750" cy="3714750"/>
          </a:xfrm>
          <a:prstGeom prst="roundRect">
            <a:avLst>
              <a:gd name="adj" fmla="val 2286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9BE3461-09A0-4468-80AA-32E4C5D02538}"/>
              </a:ext>
            </a:extLst>
          </p:cNvPr>
          <p:cNvSpPr>
            <a:spLocks noGrp="1"/>
          </p:cNvSpPr>
          <p:nvPr/>
        </p:nvSpPr>
        <p:spPr>
          <a:xfrm>
            <a:off x="4438650" y="18859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B77A22"/>
                </a:solidFill>
              </a:defRPr>
            </a:pPr>
            <a:r>
              <a:rPr sz="1650" b="1">
                <a:solidFill>
                  <a:srgbClr val="B77A22"/>
                </a:solidFill>
              </a:rPr>
              <a:t>PENDING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3C54A7-1859-4C37-8FC0-245F6B6E5DFB}"/>
              </a:ext>
            </a:extLst>
          </p:cNvPr>
          <p:cNvSpPr>
            <a:spLocks noGrp="1"/>
          </p:cNvSpPr>
          <p:nvPr/>
        </p:nvSpPr>
        <p:spPr>
          <a:xfrm>
            <a:off x="4457700" y="2524125"/>
            <a:ext cx="114300" cy="114300"/>
          </a:xfrm>
          <a:prstGeom prst="rect">
            <a:avLst/>
          </a:prstGeom>
          <a:solidFill>
            <a:srgbClr val="B77A22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409BA3-4206-40DA-B81A-B9CFB8E84626}"/>
              </a:ext>
            </a:extLst>
          </p:cNvPr>
          <p:cNvSpPr>
            <a:spLocks noGrp="1"/>
          </p:cNvSpPr>
          <p:nvPr/>
        </p:nvSpPr>
        <p:spPr>
          <a:xfrm>
            <a:off x="4724400" y="23431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52636C"/>
                </a:solidFill>
              </a:defRPr>
            </a:pPr>
            <a:r>
              <a:rPr sz="1350" b="1">
                <a:solidFill>
                  <a:srgbClr val="52636C"/>
                </a:solidFill>
              </a:rPr>
              <a:t>Verify BUG-001 fix in GEM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B435F2-04E6-4C0A-97E4-3BFF98524988}"/>
              </a:ext>
            </a:extLst>
          </p:cNvPr>
          <p:cNvSpPr>
            <a:spLocks noGrp="1"/>
          </p:cNvSpPr>
          <p:nvPr/>
        </p:nvSpPr>
        <p:spPr>
          <a:xfrm>
            <a:off x="4457700" y="3152775"/>
            <a:ext cx="114300" cy="114300"/>
          </a:xfrm>
          <a:prstGeom prst="rect">
            <a:avLst/>
          </a:prstGeom>
          <a:solidFill>
            <a:srgbClr val="B77A22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C956FB-E569-465C-A11F-E7C93AB6B16F}"/>
              </a:ext>
            </a:extLst>
          </p:cNvPr>
          <p:cNvSpPr>
            <a:spLocks noGrp="1"/>
          </p:cNvSpPr>
          <p:nvPr/>
        </p:nvSpPr>
        <p:spPr>
          <a:xfrm>
            <a:off x="4724400" y="29718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Archive final timing evidence alongside code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EB3D304-E3A7-4646-A8B1-8E2935882A65}"/>
              </a:ext>
            </a:extLst>
          </p:cNvPr>
          <p:cNvSpPr>
            <a:spLocks noGrp="1"/>
          </p:cNvSpPr>
          <p:nvPr/>
        </p:nvSpPr>
        <p:spPr>
          <a:xfrm>
            <a:off x="7943850" y="1657350"/>
            <a:ext cx="3333750" cy="3714750"/>
          </a:xfrm>
          <a:prstGeom prst="roundRect">
            <a:avLst>
              <a:gd name="adj" fmla="val 2286"/>
            </a:avLst>
          </a:prstGeom>
          <a:solidFill>
            <a:srgbClr val="F4F7F8"/>
          </a:solidFill>
          <a:ln w="9525">
            <a:solidFill>
              <a:srgbClr val="CAD7DC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B0D539-93A7-4CA6-8A13-E695E11EACF7}"/>
              </a:ext>
            </a:extLst>
          </p:cNvPr>
          <p:cNvSpPr>
            <a:spLocks noGrp="1"/>
          </p:cNvSpPr>
          <p:nvPr/>
        </p:nvSpPr>
        <p:spPr>
          <a:xfrm>
            <a:off x="8153400" y="1885950"/>
            <a:ext cx="2914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F7E99"/>
                </a:solidFill>
              </a:defRPr>
            </a:pPr>
            <a:r>
              <a:rPr sz="1650" b="1">
                <a:solidFill>
                  <a:srgbClr val="2F7E99"/>
                </a:solidFill>
              </a:rPr>
              <a:t>NEXT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936F87-2AEB-47AB-87C2-6718F6E6C58A}"/>
              </a:ext>
            </a:extLst>
          </p:cNvPr>
          <p:cNvSpPr>
            <a:spLocks noGrp="1"/>
          </p:cNvSpPr>
          <p:nvPr/>
        </p:nvSpPr>
        <p:spPr>
          <a:xfrm>
            <a:off x="8172450" y="2524125"/>
            <a:ext cx="114300" cy="114300"/>
          </a:xfrm>
          <a:prstGeom prst="rect">
            <a:avLst/>
          </a:prstGeom>
          <a:solidFill>
            <a:srgbClr val="2F7E99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8222EC-C1A5-4090-89B5-93556B798C61}"/>
              </a:ext>
            </a:extLst>
          </p:cNvPr>
          <p:cNvSpPr>
            <a:spLocks noGrp="1"/>
          </p:cNvSpPr>
          <p:nvPr/>
        </p:nvSpPr>
        <p:spPr>
          <a:xfrm>
            <a:off x="8439150" y="23431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52636C"/>
                </a:solidFill>
              </a:defRPr>
            </a:pPr>
            <a:r>
              <a:rPr sz="1350" b="1">
                <a:solidFill>
                  <a:srgbClr val="52636C"/>
                </a:solidFill>
              </a:rPr>
              <a:t>Consolidate sedimentation routines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F08FD8-6634-442D-B867-EC20E934248A}"/>
              </a:ext>
            </a:extLst>
          </p:cNvPr>
          <p:cNvSpPr>
            <a:spLocks noGrp="1"/>
          </p:cNvSpPr>
          <p:nvPr/>
        </p:nvSpPr>
        <p:spPr>
          <a:xfrm>
            <a:off x="8172450" y="3152775"/>
            <a:ext cx="114300" cy="114300"/>
          </a:xfrm>
          <a:prstGeom prst="rect">
            <a:avLst/>
          </a:prstGeom>
          <a:solidFill>
            <a:srgbClr val="2F7E99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37FF46-03DE-4897-9B17-A057296FB3B5}"/>
              </a:ext>
            </a:extLst>
          </p:cNvPr>
          <p:cNvSpPr>
            <a:spLocks noGrp="1"/>
          </p:cNvSpPr>
          <p:nvPr/>
        </p:nvSpPr>
        <p:spPr>
          <a:xfrm>
            <a:off x="8439150" y="29718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Parallelize LUT generation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1A2072-4E32-44B2-8FE9-B7274EBD3B13}"/>
              </a:ext>
            </a:extLst>
          </p:cNvPr>
          <p:cNvSpPr>
            <a:spLocks noGrp="1"/>
          </p:cNvSpPr>
          <p:nvPr/>
        </p:nvSpPr>
        <p:spPr>
          <a:xfrm>
            <a:off x="8172450" y="3781425"/>
            <a:ext cx="114300" cy="114300"/>
          </a:xfrm>
          <a:prstGeom prst="rect">
            <a:avLst/>
          </a:prstGeom>
          <a:solidFill>
            <a:srgbClr val="2F7E99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39A945-3491-4B5E-B5FD-062A2AFFBD42}"/>
              </a:ext>
            </a:extLst>
          </p:cNvPr>
          <p:cNvSpPr>
            <a:spLocks noGrp="1"/>
          </p:cNvSpPr>
          <p:nvPr/>
        </p:nvSpPr>
        <p:spPr>
          <a:xfrm>
            <a:off x="8439150" y="360045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Factor shared mod_p3_psd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1B80F43-19F9-403C-89E4-28D3265A92FE}"/>
              </a:ext>
            </a:extLst>
          </p:cNvPr>
          <p:cNvSpPr>
            <a:spLocks noGrp="1"/>
          </p:cNvSpPr>
          <p:nvPr/>
        </p:nvSpPr>
        <p:spPr>
          <a:xfrm>
            <a:off x="8172450" y="4410075"/>
            <a:ext cx="114300" cy="114300"/>
          </a:xfrm>
          <a:prstGeom prst="rect">
            <a:avLst/>
          </a:prstGeom>
          <a:solidFill>
            <a:srgbClr val="2F7E99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D58416-5DBE-4DC3-9943-765DCD18BFF6}"/>
              </a:ext>
            </a:extLst>
          </p:cNvPr>
          <p:cNvSpPr>
            <a:spLocks noGrp="1"/>
          </p:cNvSpPr>
          <p:nvPr/>
        </p:nvSpPr>
        <p:spPr>
          <a:xfrm>
            <a:off x="8439150" y="42291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2636C"/>
                </a:solidFill>
              </a:defRPr>
            </a:pPr>
            <a:r>
              <a:rPr sz="1350" b="0">
                <a:solidFill>
                  <a:srgbClr val="52636C"/>
                </a:solidFill>
              </a:rPr>
              <a:t>Split p3_main by process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73B00A-E8C9-4BC4-899B-1736B2E684EC}"/>
              </a:ext>
            </a:extLst>
          </p:cNvPr>
          <p:cNvSpPr>
            <a:spLocks noGrp="1"/>
          </p:cNvSpPr>
          <p:nvPr/>
        </p:nvSpPr>
        <p:spPr>
          <a:xfrm>
            <a:off x="514350" y="57340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2F7E99"/>
                </a:solidFill>
              </a:defRPr>
            </a:pPr>
            <a:r>
              <a:rPr sz="1050" b="1">
                <a:solidFill>
                  <a:srgbClr val="2F7E99"/>
                </a:solidFill>
              </a:rPr>
              <a:t>Immediate decision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13AAED-54DC-4DED-B811-083802072B2B}"/>
              </a:ext>
            </a:extLst>
          </p:cNvPr>
          <p:cNvSpPr>
            <a:spLocks noGrp="1"/>
          </p:cNvSpPr>
          <p:nvPr/>
        </p:nvSpPr>
        <p:spPr>
          <a:xfrm>
            <a:off x="2400300" y="5657850"/>
            <a:ext cx="9277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7242B"/>
                </a:solidFill>
              </a:defRPr>
            </a:pPr>
            <a:r>
              <a:rPr sz="1800" b="1">
                <a:solidFill>
                  <a:srgbClr val="17242B"/>
                </a:solidFill>
              </a:rPr>
              <a:t>Run the GEM verification before promoting the branch to operational use.</a:t>
            </a:r>
          </a:p>
        </p:txBody>
      </p:sp>
    </p:spTree>
    <p:extLst>
      <p:ext uri="{BB962C8B-B14F-4D97-AF65-F5344CB8AC3E}">
        <p14:creationId xmlns:p14="http://schemas.microsoft.com/office/powerpoint/2010/main" val="1804262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45A4107-2935-435F-8BEE-97DFB7A2F90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8FC9DA"/>
                </a:solidFill>
              </a:defRPr>
            </a:pPr>
            <a:r>
              <a:rPr sz="1125" b="1">
                <a:solidFill>
                  <a:srgbClr val="8FC9DA"/>
                </a:solidFill>
              </a:rPr>
              <a:t>TAKEAWAY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DA5A7E-EB98-4338-B0C3-5260AE784CDB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8858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P3 is substantially simpler,</a:t>
            </a:r>
          </a:p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more robust, and better tested—</a:t>
            </a:r>
          </a:p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without changing its behavior.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37EF39-95EE-422B-BDDA-883590EEDAD6}"/>
              </a:ext>
            </a:extLst>
          </p:cNvPr>
          <p:cNvSpPr>
            <a:spLocks noGrp="1"/>
          </p:cNvSpPr>
          <p:nvPr/>
        </p:nvSpPr>
        <p:spPr>
          <a:xfrm>
            <a:off x="609600" y="3924300"/>
            <a:ext cx="10572750" cy="19050"/>
          </a:xfrm>
          <a:prstGeom prst="rect">
            <a:avLst/>
          </a:prstGeom>
          <a:solidFill>
            <a:srgbClr val="41616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24022A-EA38-46E1-B1AA-66C295DACF20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8FC9DA"/>
                </a:solidFill>
              </a:defRPr>
            </a:pPr>
            <a:r>
              <a:rPr sz="1800" b="1">
                <a:solidFill>
                  <a:srgbClr val="8FC9DA"/>
                </a:solidFill>
              </a:rPr>
              <a:t>4,451 lines removed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2CAB25-AE3B-49FB-A4EE-2AE72710877F}"/>
              </a:ext>
            </a:extLst>
          </p:cNvPr>
          <p:cNvSpPr>
            <a:spLocks noGrp="1"/>
          </p:cNvSpPr>
          <p:nvPr/>
        </p:nvSpPr>
        <p:spPr>
          <a:xfrm>
            <a:off x="3714750" y="43243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8FC9DA"/>
                </a:solidFill>
              </a:defRPr>
            </a:pPr>
            <a:r>
              <a:rPr sz="1800" b="1">
                <a:solidFill>
                  <a:srgbClr val="8FC9DA"/>
                </a:solidFill>
              </a:rPr>
              <a:t>+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19A569-A65A-4A04-B81A-3E8E8C7C3518}"/>
              </a:ext>
            </a:extLst>
          </p:cNvPr>
          <p:cNvSpPr>
            <a:spLocks noGrp="1"/>
          </p:cNvSpPr>
          <p:nvPr/>
        </p:nvSpPr>
        <p:spPr>
          <a:xfrm>
            <a:off x="4171950" y="43243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8FC9DA"/>
                </a:solidFill>
              </a:defRPr>
            </a:pPr>
            <a:r>
              <a:rPr sz="1800" b="1">
                <a:solidFill>
                  <a:srgbClr val="8FC9DA"/>
                </a:solidFill>
              </a:rPr>
              <a:t>1 operational crash fixed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EBBE0B-A753-4010-B21F-805F45849B84}"/>
              </a:ext>
            </a:extLst>
          </p:cNvPr>
          <p:cNvSpPr>
            <a:spLocks noGrp="1"/>
          </p:cNvSpPr>
          <p:nvPr/>
        </p:nvSpPr>
        <p:spPr>
          <a:xfrm>
            <a:off x="7639050" y="4324350"/>
            <a:ext cx="38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8FC9DA"/>
                </a:solidFill>
              </a:defRPr>
            </a:pPr>
            <a:r>
              <a:rPr sz="1800" b="1">
                <a:solidFill>
                  <a:srgbClr val="8FC9DA"/>
                </a:solidFill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63FC5F-C85D-45DE-996F-C893CEEF7D73}"/>
              </a:ext>
            </a:extLst>
          </p:cNvPr>
          <p:cNvSpPr>
            <a:spLocks noGrp="1"/>
          </p:cNvSpPr>
          <p:nvPr/>
        </p:nvSpPr>
        <p:spPr>
          <a:xfrm>
            <a:off x="8096250" y="43243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8FC9DA"/>
                </a:solidFill>
              </a:defRPr>
            </a:pPr>
            <a:r>
              <a:rPr sz="1800" b="1">
                <a:solidFill>
                  <a:srgbClr val="8FC9DA"/>
                </a:solidFill>
              </a:rPr>
              <a:t>6 configurations proving equivalence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AD7EED-B7F8-4A90-AFA0-ACAD9F90E7B0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0">
                <a:solidFill>
                  <a:srgbClr val="C9DDE4"/>
                </a:solidFill>
              </a:defRPr>
            </a:pPr>
            <a:r>
              <a:rPr sz="1650" b="0">
                <a:solidFill>
                  <a:srgbClr val="C9DDE4"/>
                </a:solidFill>
              </a:rPr>
              <a:t>The foundation is now automated regression evidence—not confidence by inspection alone.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31789F-52E4-4C78-AD6C-DF8F8C2085AE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590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75" b="0">
                <a:solidFill>
                  <a:srgbClr val="8CA0A9"/>
                </a:solidFill>
              </a:defRPr>
            </a:pPr>
            <a:r>
              <a:rPr sz="975" b="0">
                <a:solidFill>
                  <a:srgbClr val="8CA0A9"/>
                </a:solidFill>
              </a:rPr>
              <a:t>P3 v5.5.1 branch review  •  July 3, 2026</a:t>
            </a:r>
          </a:p>
        </p:txBody>
      </p:sp>
    </p:spTree>
    <p:extLst>
      <p:ext uri="{BB962C8B-B14F-4D97-AF65-F5344CB8AC3E}">
        <p14:creationId xmlns:p14="http://schemas.microsoft.com/office/powerpoint/2010/main" val="19038041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1125</Words>
  <Application>Microsoft Macintosh PowerPoint</Application>
  <DocSecurity>0</DocSecurity>
  <PresentationFormat>Widescreen</PresentationFormat>
  <Paragraphs>241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Jason Milbrandt</cp:lastModifiedBy>
  <cp:revision>2</cp:revision>
  <dcterms:created xsi:type="dcterms:W3CDTF">2026-07-03T15:08:35Z</dcterms:created>
  <dcterms:modified xsi:type="dcterms:W3CDTF">2026-07-03T15:25:02Z</dcterms:modified>
</cp:coreProperties>
</file>