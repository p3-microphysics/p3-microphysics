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-1280160" y="-1554480"/>
            <a:ext cx="2926080" cy="2633472"/>
          </a:xfrm>
          <a:prstGeom prst="hexagon">
            <a:avLst/>
          </a:prstGeom>
          <a:noFill/>
          <a:ln w="19050">
            <a:solidFill>
              <a:srgbClr val="1C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607040" y="4572000"/>
            <a:ext cx="3291840" cy="2962656"/>
          </a:xfrm>
          <a:prstGeom prst="hexagon">
            <a:avLst/>
          </a:prstGeom>
          <a:noFill/>
          <a:ln w="19050">
            <a:solidFill>
              <a:srgbClr val="1C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418320" y="-1280160"/>
            <a:ext cx="2194560" cy="1975104"/>
          </a:xfrm>
          <a:prstGeom prst="hexagon">
            <a:avLst/>
          </a:prstGeom>
          <a:noFill/>
          <a:ln w="19050">
            <a:solidFill>
              <a:srgbClr val="1C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502920" y="4297680"/>
            <a:ext cx="1371600" cy="1234440"/>
          </a:xfrm>
          <a:prstGeom prst="hexagon">
            <a:avLst/>
          </a:prstGeom>
          <a:noFill/>
          <a:ln w="1905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B8FB9"/>
                </a:solidFill>
                <a:latin typeface="Calibri"/>
              </a:rPr>
              <a:t>P3 · PREDICTED PARTICLE PROPERTIES MICROPHYSICS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Refactoring, Bug Fixes &amp;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DCE8F2"/>
                </a:solidFill>
                <a:latin typeface="Calibri"/>
              </a:rPr>
              <a:t>A before-and-after summary of the cleanup-refactor branch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5669280" cy="18288"/>
          </a:xfrm>
          <a:prstGeom prst="rect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B8FB9"/>
                </a:solidFill>
                <a:latin typeface="Calibri"/>
              </a:rPr>
              <a:t>Branch  </a:t>
            </a:r>
            <a:r>
              <a:rPr sz="1400" b="0" i="0">
                <a:solidFill>
                  <a:srgbClr val="EAF2F8"/>
                </a:solidFill>
                <a:latin typeface="Calibri"/>
              </a:rPr>
              <a:t>jason-cleanup-refactor      </a:t>
            </a:r>
            <a:r>
              <a:rPr sz="1400" b="1" i="0">
                <a:solidFill>
                  <a:srgbClr val="5B8FB9"/>
                </a:solidFill>
                <a:latin typeface="Calibri"/>
              </a:rPr>
              <a:t>Baseline  </a:t>
            </a:r>
            <a:r>
              <a:rPr sz="1400" b="0" i="0">
                <a:solidFill>
                  <a:srgbClr val="EAF2F8"/>
                </a:solidFill>
                <a:latin typeface="Calibri"/>
              </a:rPr>
              <a:t>v5.5.1      </a:t>
            </a:r>
            <a:r>
              <a:rPr sz="1400" b="1" i="0">
                <a:solidFill>
                  <a:srgbClr val="5B8FB9"/>
                </a:solidFill>
                <a:latin typeface="Calibri"/>
              </a:rPr>
              <a:t>Tables  </a:t>
            </a:r>
            <a:r>
              <a:rPr sz="1400" b="0" i="0">
                <a:solidFill>
                  <a:srgbClr val="EAF2F8"/>
                </a:solidFill>
                <a:latin typeface="Calibri"/>
              </a:rPr>
              <a:t>LT1 v6.9 · LT2 v6.2 · LT3 v1.4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7185"/>
                </a:solidFill>
                <a:latin typeface="Calibri"/>
              </a:rPr>
              <a:t>P3 core-team review  · 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8FB9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Why this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P3's core is a single Fortran module of roughly 12,900 lines that accumulated technical debt as the scheme grew — multi-category ice, liquid fraction, triple-moment.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A May 2026 code review catalogued that debt. This branch clears the high-impact items and eliminates one operational crash.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Every change is gated on bit-identical kin1d regression tests — simpler code, provably identical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349240" cy="1298448"/>
          </a:xfrm>
          <a:prstGeom prst="roundRect">
            <a:avLst>
              <a:gd name="adj" fmla="val 5500"/>
            </a:avLst>
          </a:prstGeom>
          <a:solidFill>
            <a:srgbClr val="E1F2EE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46504"/>
            <a:ext cx="2377440" cy="10241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28C7A"/>
                </a:solidFill>
                <a:latin typeface="Cambria"/>
              </a:rPr>
              <a:t>−4,400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1746504"/>
            <a:ext cx="2240279" cy="10241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2A3A"/>
                </a:solidFill>
                <a:latin typeface="Calibri"/>
              </a:rPr>
              <a:t>lines removed from the core module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063239"/>
            <a:ext cx="5349240" cy="1298448"/>
          </a:xfrm>
          <a:prstGeom prst="roundRect">
            <a:avLst>
              <a:gd name="adj" fmla="val 5500"/>
            </a:avLst>
          </a:prstGeom>
          <a:solidFill>
            <a:srgbClr val="EAF2F8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209544"/>
            <a:ext cx="2377440" cy="10241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5B8FB9"/>
                </a:solidFill>
                <a:latin typeface="Cambria"/>
              </a:rPr>
              <a:t>bit-identical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09544"/>
            <a:ext cx="2240279" cy="10241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2A3A"/>
                </a:solidFill>
                <a:latin typeface="Calibri"/>
              </a:rPr>
              <a:t>results preserved across the refactor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526279"/>
            <a:ext cx="5349240" cy="1298448"/>
          </a:xfrm>
          <a:prstGeom prst="roundRect">
            <a:avLst>
              <a:gd name="adj" fmla="val 5500"/>
            </a:avLst>
          </a:prstGeom>
          <a:solidFill>
            <a:srgbClr val="F5E6E1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672583"/>
            <a:ext cx="2377440" cy="10241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A84635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4672583"/>
            <a:ext cx="2240279" cy="10241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2A3A"/>
                </a:solidFill>
                <a:latin typeface="Calibri"/>
              </a:rPr>
              <a:t>operational GEM crash fixed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C7A"/>
                </a:solidFill>
                <a:latin typeface="Calibri"/>
              </a:rPr>
              <a:t>REFACTORING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Lookup-table interpolation, rebuilt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892040" cy="2788920"/>
          </a:xfrm>
          <a:prstGeom prst="roundRect">
            <a:avLst>
              <a:gd name="adj" fmla="val 5500"/>
            </a:avLst>
          </a:prstGeom>
          <a:solidFill>
            <a:srgbClr val="F5E6E1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84635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04288"/>
            <a:ext cx="41605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B2A3A"/>
                </a:solidFill>
                <a:latin typeface="Calibri"/>
              </a:rPr>
              <a:t>~3,500 lines of hand-unrolled, copy-pasted multilinear interpolation.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B2A3A"/>
                </a:solidFill>
                <a:latin typeface="Calibri"/>
              </a:rPr>
              <a:t>Duplicated across six lookup-table access functions.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B2A3A"/>
                </a:solidFill>
                <a:latin typeface="Calibri"/>
              </a:rPr>
              <a:t>One convention change meant editing all six in lockstep — a standing correctness risk.</a:t>
            </a:r>
          </a:p>
        </p:txBody>
      </p:sp>
      <p:sp>
        <p:nvSpPr>
          <p:cNvPr id="8" name="Chevron 7"/>
          <p:cNvSpPr/>
          <p:nvPr/>
        </p:nvSpPr>
        <p:spPr>
          <a:xfrm>
            <a:off x="5760720" y="2656332"/>
            <a:ext cx="566928" cy="768096"/>
          </a:xfrm>
          <a:prstGeom prst="chevron">
            <a:avLst/>
          </a:prstGeom>
          <a:solidFill>
            <a:srgbClr val="5B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4892040" cy="2788920"/>
          </a:xfrm>
          <a:prstGeom prst="roundRect">
            <a:avLst>
              <a:gd name="adj" fmla="val 5500"/>
            </a:avLst>
          </a:prstGeom>
          <a:solidFill>
            <a:srgbClr val="E1F2EE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0195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8C7A"/>
                </a:solidFill>
                <a:latin typeface="Calibri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304288"/>
            <a:ext cx="41605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B2A3A"/>
                </a:solidFill>
                <a:latin typeface="Calibri"/>
              </a:rPr>
              <a:t>One elemental lerp function plus explicit static corner-trees.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B2A3A"/>
                </a:solidFill>
                <a:latin typeface="Calibri"/>
              </a:rPr>
              <a:t>Six access functions unified; 6-D ice-ice collection via a shared helper.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B2A3A"/>
                </a:solidFill>
                <a:latin typeface="Calibri"/>
              </a:rPr>
              <a:t>A single, readable interpolation convention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0600"/>
            <a:ext cx="348477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01768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28C7A"/>
                </a:solidFill>
                <a:latin typeface="Cambria"/>
              </a:rPr>
              <a:t>−4,451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7185"/>
                </a:solidFill>
                <a:latin typeface="Calibri"/>
              </a:rPr>
              <a:t>lines 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3458" y="4800600"/>
            <a:ext cx="348477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7778" y="5001768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5B8FB9"/>
                </a:solidFill>
                <a:latin typeface="Cambria"/>
              </a:rPr>
              <a:t>bit-identical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7778" y="562356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7185"/>
                </a:solidFill>
                <a:latin typeface="Calibri"/>
              </a:rPr>
              <a:t>per-call cross-check + full suite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4800600"/>
            <a:ext cx="348477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1156" y="5001768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B2A3A"/>
                </a:solidFill>
                <a:latin typeface="Cambria"/>
              </a:rPr>
              <a:t>par or better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562356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7185"/>
                </a:solidFill>
                <a:latin typeface="Calibri"/>
              </a:rPr>
              <a:t>runtime at −O2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C7A"/>
                </a:solidFill>
                <a:latin typeface="Calibri"/>
              </a:rPr>
              <a:t>REFACTORING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Readability &amp;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11535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02536"/>
            <a:ext cx="585216" cy="585216"/>
          </a:xfrm>
          <a:prstGeom prst="ellipse">
            <a:avLst/>
          </a:prstGeom>
          <a:solidFill>
            <a:srgbClr val="DC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02536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C4A6E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47088"/>
            <a:ext cx="93570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1B2A3A"/>
                </a:solidFill>
                <a:latin typeface="Calibri"/>
              </a:rPr>
              <a:t>Named lookup-table constants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249424"/>
            <a:ext cx="9357055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E7185"/>
                </a:solidFill>
                <a:latin typeface="Calibri"/>
              </a:rPr>
              <a:t>57 symbolic parameters replace 84 magic column indices across every access function — removing a whole class of silent-corruption bugs.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27248"/>
            <a:ext cx="10911535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483864"/>
            <a:ext cx="585216" cy="585216"/>
          </a:xfrm>
          <a:prstGeom prst="ellipse">
            <a:avLst/>
          </a:prstGeom>
          <a:solidFill>
            <a:srgbClr val="DC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83864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C4A6E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328416"/>
            <a:ext cx="93570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1B2A3A"/>
                </a:solidFill>
                <a:latin typeface="Calibri"/>
              </a:rPr>
              <a:t>Allocatable LUT 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30752"/>
            <a:ext cx="9357055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E7185"/>
                </a:solidFill>
                <a:latin typeface="Calibri"/>
              </a:rPr>
              <a:t>15 tables move from always-on static storage to per-configuration allocation (2-mom vs 3-mom, nCat, liquid fraction). About 65 MB saved in typical 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08576"/>
            <a:ext cx="10911535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965192"/>
            <a:ext cx="585216" cy="585216"/>
          </a:xfrm>
          <a:prstGeom prst="ellipse">
            <a:avLst/>
          </a:prstGeom>
          <a:solidFill>
            <a:srgbClr val="DC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C4A6E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809744"/>
            <a:ext cx="93570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1B2A3A"/>
                </a:solidFill>
                <a:latin typeface="Calibri"/>
              </a:rPr>
              <a:t>Documented conventions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212080"/>
            <a:ext cx="9357055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E7185"/>
                </a:solidFill>
                <a:latin typeface="Calibri"/>
              </a:rPr>
              <a:t>The LUT2 liquid-fraction assembly protocol and the itabcolli naming scheme are now written down at the source — closing a silent-error risk in table regeneration.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08191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128C7A"/>
                </a:solidFill>
                <a:latin typeface="Calibri"/>
              </a:rPr>
              <a:t>All three changes verified bit-identical.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A84635"/>
                </a:solidFill>
                <a:latin typeface="Calibri"/>
              </a:rPr>
              <a:t>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BUG-001 — a crash in operational 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6309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Intermittent GEM crashes traced into P3's rime-fraction index. In liquid-fraction configurations, when the frozen ice mass (qitot − qiliq) reaches zero, the index computation divides by zero.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int() of the resulting Inf / NaN then crashes — or the divide itself traps under floating-point exception checking.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11880"/>
            <a:ext cx="6309360" cy="960120"/>
          </a:xfrm>
          <a:prstGeom prst="roundRect">
            <a:avLst>
              <a:gd name="adj" fmla="val 5500"/>
            </a:avLst>
          </a:prstGeom>
          <a:solidFill>
            <a:srgbClr val="12263A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3776472"/>
            <a:ext cx="5669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2F8"/>
                </a:solidFill>
                <a:latin typeface="Courier New"/>
              </a:rPr>
              <a:t>dum4 = qirim / (qitot − qiliq) * 3. + 1.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89A8C"/>
                </a:solidFill>
                <a:latin typeface="Courier New"/>
              </a:rPr>
              <a:t>                     ^ qitot − qiliq →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572768"/>
            <a:ext cx="4282135" cy="2999232"/>
          </a:xfrm>
          <a:prstGeom prst="roundRect">
            <a:avLst>
              <a:gd name="adj" fmla="val 5500"/>
            </a:avLst>
          </a:prstGeom>
          <a:solidFill>
            <a:srgbClr val="F5E6E1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828800"/>
            <a:ext cx="3550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84635"/>
                </a:solidFill>
                <a:latin typeface="Calibri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286000"/>
            <a:ext cx="35506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B2A3A"/>
                </a:solidFill>
                <a:latin typeface="Calibri"/>
              </a:rPr>
              <a:t>Severity  </a:t>
            </a:r>
            <a:r>
              <a:rPr sz="1500" b="1" i="0">
                <a:solidFill>
                  <a:srgbClr val="A84635"/>
                </a:solidFill>
                <a:latin typeface="Calibri"/>
              </a:rPr>
              <a:t>HIGH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B2A3A"/>
                </a:solidFill>
                <a:latin typeface="Calibri"/>
              </a:rPr>
              <a:t>Hard crash in an operational NWP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3310128"/>
            <a:ext cx="3550615" cy="18288"/>
          </a:xfrm>
          <a:prstGeom prst="rect">
            <a:avLst/>
          </a:prstGeom>
          <a:solidFill>
            <a:srgbClr val="E0C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456432"/>
            <a:ext cx="35506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A3A"/>
                </a:solidFill>
                <a:latin typeface="Calibri"/>
              </a:rPr>
              <a:t>Root cause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Sedimentation-induced — the physics path was already guarded by the 0.99 liquid-fraction clip.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E7185"/>
                </a:solidFill>
                <a:latin typeface="Calibri"/>
              </a:rPr>
              <a:t>Affects  </a:t>
            </a:r>
            <a:r>
              <a:rPr sz="1350" b="0" i="0">
                <a:solidFill>
                  <a:srgbClr val="5E7185"/>
                </a:solidFill>
                <a:latin typeface="Calibri"/>
              </a:rPr>
              <a:t>log_LiquidFrac = .true. configurations.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C7A"/>
                </a:solidFill>
                <a:latin typeface="Calibri"/>
              </a:rPr>
              <a:t>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BUG-001 — fix &amp;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309360" cy="1737360"/>
          </a:xfrm>
          <a:prstGeom prst="roundRect">
            <a:avLst>
              <a:gd name="adj" fmla="val 5500"/>
            </a:avLst>
          </a:prstGeom>
          <a:solidFill>
            <a:srgbClr val="12263A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847088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8FB9"/>
                </a:solidFill>
                <a:latin typeface="Calibri"/>
              </a:rPr>
              <a:t>THE GUARDS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212848"/>
            <a:ext cx="5715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2F8"/>
                </a:solidFill>
                <a:latin typeface="Courier New"/>
              </a:rPr>
              <a:t>dum4 = ( min(max(qirim,0.), max(qitot−qiliq,0.))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2F8"/>
                </a:solidFill>
                <a:latin typeface="Courier New"/>
              </a:rPr>
              <a:t>         / max(qitot−qiliq, tiny(qitot)) )*3.+1.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AF2F8"/>
                </a:solidFill>
                <a:latin typeface="Courier New"/>
              </a:rPr>
              <a:t>calc_bulkRhoRime:  qi_rim = max(qi_tot−qi_liq, 0.)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6309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Clr>
                <a:srgbClr val="128C7A"/>
              </a:buClr>
              <a:buFont typeface="Arial"/>
              <a:buChar char="•"/>
            </a:pPr>
            <a:r>
              <a:rPr sz="1400" b="0" i="0">
                <a:solidFill>
                  <a:srgbClr val="1B2A3A"/>
                </a:solidFill>
                <a:latin typeface="Calibri"/>
              </a:rPr>
              <a:t>Branchless guards at all three index sites — plus the source of the negative rime mass.</a:t>
            </a:r>
          </a:p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Clr>
                <a:srgbClr val="128C7A"/>
              </a:buClr>
              <a:buFont typeface="Arial"/>
              <a:buChar char="•"/>
            </a:pPr>
            <a:r>
              <a:rPr sz="1400" b="0" i="0">
                <a:solidFill>
                  <a:srgbClr val="1B2A3A"/>
                </a:solidFill>
                <a:latin typeface="Calibri"/>
              </a:rPr>
              <a:t>tiny() (not epsilon()) as the denominator floor: preserves physically-real tiny ice.</a:t>
            </a:r>
          </a:p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Clr>
                <a:srgbClr val="128C7A"/>
              </a:buClr>
              <a:buFont typeface="Arial"/>
              <a:buChar char="•"/>
            </a:pPr>
            <a:r>
              <a:rPr sz="1400" b="0" i="0">
                <a:solidFill>
                  <a:srgbClr val="1B2A3A"/>
                </a:solidFill>
                <a:latin typeface="Calibri"/>
              </a:rPr>
              <a:t>Standalone FPE trigger test — raises INVALID before, runs clean after.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645920"/>
            <a:ext cx="4282135" cy="1920240"/>
          </a:xfrm>
          <a:prstGeom prst="roundRect">
            <a:avLst>
              <a:gd name="adj" fmla="val 5500"/>
            </a:avLst>
          </a:prstGeom>
          <a:solidFill>
            <a:srgbClr val="E1F2EE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883664"/>
            <a:ext cx="3550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C7A"/>
                </a:solidFill>
                <a:latin typeface="Calibri"/>
              </a:rPr>
              <a:t>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304288"/>
            <a:ext cx="35506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128C7A"/>
              </a:buClr>
              <a:buFont typeface="Arial"/>
              <a:buChar char="•"/>
            </a:pPr>
            <a:r>
              <a:rPr sz="1350" b="0" i="0">
                <a:solidFill>
                  <a:srgbClr val="1B2A3A"/>
                </a:solidFill>
                <a:latin typeface="Calibri"/>
              </a:rPr>
              <a:t>All kin1d configurations bit-identical.</a:t>
            </a:r>
          </a:p>
          <a:p>
            <a:pPr indent="-182880" marL="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128C7A"/>
              </a:buClr>
              <a:buFont typeface="Arial"/>
              <a:buChar char="•"/>
            </a:pPr>
            <a:r>
              <a:rPr sz="1350" b="0" i="0">
                <a:solidFill>
                  <a:srgbClr val="1B2A3A"/>
                </a:solidFill>
                <a:latin typeface="Calibri"/>
              </a:rPr>
              <a:t>Trigger test confirms the crash is gone.</a:t>
            </a:r>
          </a:p>
          <a:p>
            <a:pPr indent="-182880" marL="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128C7A"/>
              </a:buClr>
              <a:buFont typeface="Arial"/>
              <a:buChar char="•"/>
            </a:pPr>
            <a:r>
              <a:rPr sz="1350" b="0" i="0">
                <a:solidFill>
                  <a:srgbClr val="1B2A3A"/>
                </a:solidFill>
                <a:latin typeface="Calibri"/>
              </a:rPr>
              <a:t>Documented in KNOWN_BUGS.md · CODE_REVIEW.md §9.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3730752"/>
            <a:ext cx="4282135" cy="1207008"/>
          </a:xfrm>
          <a:prstGeom prst="roundRect">
            <a:avLst>
              <a:gd name="adj" fmla="val 5500"/>
            </a:avLst>
          </a:prstGeom>
          <a:solidFill>
            <a:srgbClr val="FAEFD8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3931920"/>
            <a:ext cx="3550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7861E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297680"/>
            <a:ext cx="3550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2A3A"/>
                </a:solidFill>
                <a:latin typeface="Calibri"/>
              </a:rPr>
              <a:t>Fixed &amp; verified in kin1d — </a:t>
            </a:r>
            <a:r>
              <a:rPr sz="1450" b="1" i="0">
                <a:solidFill>
                  <a:srgbClr val="C7861E"/>
                </a:solidFill>
                <a:latin typeface="Calibri"/>
              </a:rPr>
              <a:t>pending verification in GEM.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28C7A"/>
                </a:solidFill>
                <a:latin typeface="Calibri"/>
              </a:rPr>
              <a:t>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Further correctness &amp; robustness fixes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342381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901952"/>
            <a:ext cx="182880" cy="182880"/>
          </a:xfrm>
          <a:prstGeom prst="ellipse">
            <a:avLst/>
          </a:prstGeom>
          <a:solidFill>
            <a:srgbClr val="12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94560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3A"/>
                </a:solidFill>
                <a:latin typeface="Calibri"/>
              </a:rPr>
              <a:t>Version-mismatch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0048"/>
            <a:ext cx="287517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5E7185"/>
                </a:solidFill>
                <a:latin typeface="Calibri"/>
              </a:rPr>
              <a:t>Uniform hard-stop on a version mismatch across LUT1/2/3 and all host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627632"/>
            <a:ext cx="342381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76546" y="1901952"/>
            <a:ext cx="182880" cy="182880"/>
          </a:xfrm>
          <a:prstGeom prst="ellipse">
            <a:avLst/>
          </a:prstGeom>
          <a:solidFill>
            <a:srgbClr val="12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6546" y="2194560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3A"/>
                </a:solidFill>
                <a:latin typeface="Calibri"/>
              </a:rPr>
              <a:t>Floating-point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546" y="2670048"/>
            <a:ext cx="287517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5E7185"/>
                </a:solidFill>
                <a:latin typeface="Calibri"/>
              </a:rPr>
              <a:t>Removed brittle exact ‘== 1.’ tests in the interpolation guards.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627632"/>
            <a:ext cx="342381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20404" y="1901952"/>
            <a:ext cx="182880" cy="182880"/>
          </a:xfrm>
          <a:prstGeom prst="ellipse">
            <a:avLst/>
          </a:prstGeom>
          <a:solidFill>
            <a:srgbClr val="12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0404" y="2194560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3A"/>
                </a:solidFill>
                <a:latin typeface="Calibri"/>
              </a:rPr>
              <a:t>Dead code removed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404" y="2670048"/>
            <a:ext cx="287517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5E7185"/>
                </a:solidFill>
                <a:latin typeface="Calibri"/>
              </a:rPr>
              <a:t>Deleted the unused triple-moment µ solver (compute_mu_3mom_2).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12463"/>
            <a:ext cx="342381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" y="3986783"/>
            <a:ext cx="182880" cy="182880"/>
          </a:xfrm>
          <a:prstGeom prst="ellipse">
            <a:avLst/>
          </a:prstGeom>
          <a:solidFill>
            <a:srgbClr val="12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79392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3A"/>
                </a:solidFill>
                <a:latin typeface="Calibri"/>
              </a:rPr>
              <a:t>LUT2 blend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754879"/>
            <a:ext cx="287517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5E7185"/>
                </a:solidFill>
                <a:latin typeface="Calibri"/>
              </a:rPr>
              <a:t>Restored liquid-fraction blending an earlier epsilon change had disabled.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3938" y="3712463"/>
            <a:ext cx="342381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76546" y="3986783"/>
            <a:ext cx="182880" cy="182880"/>
          </a:xfrm>
          <a:prstGeom prst="ellipse">
            <a:avLst/>
          </a:prstGeom>
          <a:solidFill>
            <a:srgbClr val="12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6546" y="4279392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3A"/>
                </a:solidFill>
                <a:latin typeface="Calibri"/>
              </a:rPr>
              <a:t>Stale-value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6546" y="4754879"/>
            <a:ext cx="287517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5E7185"/>
                </a:solidFill>
                <a:latin typeface="Calibri"/>
              </a:rPr>
              <a:t>The rime-fraction ratio can no longer read an uninitialized temporary.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7796" y="3712463"/>
            <a:ext cx="342381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3DEE8"/>
            </a:solidFill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20404" y="3986783"/>
            <a:ext cx="182880" cy="182880"/>
          </a:xfrm>
          <a:prstGeom prst="ellipse">
            <a:avLst/>
          </a:prstGeom>
          <a:solidFill>
            <a:srgbClr val="12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0404" y="4279392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3A"/>
                </a:solidFill>
                <a:latin typeface="Calibri"/>
              </a:rPr>
              <a:t>Negative-input guards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0404" y="4754879"/>
            <a:ext cx="287517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5E7185"/>
                </a:solidFill>
                <a:latin typeface="Calibri"/>
              </a:rPr>
              <a:t>Index math floored against negative rime mass from any 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8FB9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A regression-test safety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A84635"/>
                </a:solidFill>
                <a:latin typeface="Calibri"/>
              </a:rPr>
              <a:t>Before:  </a:t>
            </a:r>
            <a:r>
              <a:rPr sz="1450" b="0" i="1">
                <a:solidFill>
                  <a:srgbClr val="5E7185"/>
                </a:solidFill>
                <a:latin typeface="Calibri"/>
              </a:rPr>
              <a:t>manual, visual, per-change spot checks — no captured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383280" cy="1517904"/>
          </a:xfrm>
          <a:prstGeom prst="roundRect">
            <a:avLst>
              <a:gd name="adj" fmla="val 5500"/>
            </a:avLst>
          </a:prstGeom>
          <a:solidFill>
            <a:srgbClr val="12263A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2257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CE8F2"/>
                </a:solidFill>
                <a:latin typeface="Calibr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517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save_reference.sh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2724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EAF2F8"/>
                </a:solidFill>
                <a:latin typeface="Calibri"/>
              </a:rPr>
              <a:t>Capture the baseline first.</a:t>
            </a:r>
          </a:p>
        </p:txBody>
      </p:sp>
      <p:sp>
        <p:nvSpPr>
          <p:cNvPr id="10" name="Chevron 9"/>
          <p:cNvSpPr/>
          <p:nvPr/>
        </p:nvSpPr>
        <p:spPr>
          <a:xfrm>
            <a:off x="4078224" y="2660903"/>
            <a:ext cx="365760" cy="402336"/>
          </a:xfrm>
          <a:prstGeom prst="chevron">
            <a:avLst/>
          </a:prstGeom>
          <a:solidFill>
            <a:srgbClr val="5B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8848" y="2103120"/>
            <a:ext cx="3383280" cy="1517904"/>
          </a:xfrm>
          <a:prstGeom prst="roundRect">
            <a:avLst>
              <a:gd name="adj" fmla="val 5500"/>
            </a:avLst>
          </a:prstGeom>
          <a:solidFill>
            <a:srgbClr val="2C4A6E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232257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CE8F2"/>
                </a:solidFill>
                <a:latin typeface="Calibr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26517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run_full_tests --compare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312724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EAF2F8"/>
                </a:solidFill>
                <a:latin typeface="Calibri"/>
              </a:rPr>
              <a:t>Recompile, run every config.</a:t>
            </a:r>
          </a:p>
        </p:txBody>
      </p:sp>
      <p:sp>
        <p:nvSpPr>
          <p:cNvPr id="15" name="Chevron 14"/>
          <p:cNvSpPr/>
          <p:nvPr/>
        </p:nvSpPr>
        <p:spPr>
          <a:xfrm>
            <a:off x="7936992" y="2660903"/>
            <a:ext cx="365760" cy="402336"/>
          </a:xfrm>
          <a:prstGeom prst="chevron">
            <a:avLst/>
          </a:prstGeom>
          <a:solidFill>
            <a:srgbClr val="5B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7616" y="2103120"/>
            <a:ext cx="3383280" cy="1517904"/>
          </a:xfrm>
          <a:prstGeom prst="roundRect">
            <a:avLst>
              <a:gd name="adj" fmla="val 5500"/>
            </a:avLst>
          </a:prstGeom>
          <a:solidFill>
            <a:srgbClr val="5B8FB9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232257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CE8F2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26517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compare_runs.py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312724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EAF2F8"/>
                </a:solidFill>
                <a:latin typeface="Calibri"/>
              </a:rPr>
              <a:t>Exact or tolerance diff.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77639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1B2A3A"/>
                </a:solidFill>
                <a:latin typeface="Calibri"/>
              </a:rPr>
              <a:t>The discipline: baseline → change → compare, classified by change type (exact vs. tolerance).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3423818" cy="1234440"/>
          </a:xfrm>
          <a:prstGeom prst="roundRect">
            <a:avLst>
              <a:gd name="adj" fmla="val 5500"/>
            </a:avLst>
          </a:prstGeom>
          <a:solidFill>
            <a:srgbClr val="EAF2F8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64607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A3A"/>
                </a:solidFill>
                <a:latin typeface="Calibri"/>
              </a:rPr>
              <a:t>Change-classified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7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5E7185"/>
                </a:solidFill>
                <a:latin typeface="Calibri"/>
              </a:rPr>
              <a:t>exact vs. tolerance, in TESTING_PROTOCOL.md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3938" y="4663440"/>
            <a:ext cx="3423818" cy="1234440"/>
          </a:xfrm>
          <a:prstGeom prst="roundRect">
            <a:avLst>
              <a:gd name="adj" fmla="val 5500"/>
            </a:avLst>
          </a:prstGeom>
          <a:solidFill>
            <a:srgbClr val="EAF2F8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8258" y="4864607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A3A"/>
                </a:solidFill>
                <a:latin typeface="Calibri"/>
              </a:rPr>
              <a:t>Timing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8258" y="5321807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5E7185"/>
                </a:solidFill>
                <a:latin typeface="Calibri"/>
              </a:rPr>
              <a:t>−O2, five runs per configuration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7796" y="4663440"/>
            <a:ext cx="3423818" cy="1234440"/>
          </a:xfrm>
          <a:prstGeom prst="roundRect">
            <a:avLst>
              <a:gd name="adj" fmla="val 5500"/>
            </a:avLst>
          </a:prstGeom>
          <a:solidFill>
            <a:srgbClr val="EAF2F8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2116" y="4864607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A3A"/>
                </a:solidFill>
                <a:latin typeface="Calibri"/>
              </a:rPr>
              <a:t>Per-commit archives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2116" y="5321807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5E7185"/>
                </a:solidFill>
                <a:latin typeface="Calibri"/>
              </a:rPr>
              <a:t>every result set committed for traceability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8FB9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Test coverage — six configurations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11535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005840"/>
                <a:gridCol w="1188720"/>
                <a:gridCol w="1371600"/>
                <a:gridCol w="4206240"/>
                <a:gridCol w="176753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109728" marR="54864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nCat</a:t>
                      </a:r>
                    </a:p>
                  </a:txBody>
                  <a:tcPr marL="109728" marR="54864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3-mom</a:t>
                      </a:r>
                    </a:p>
                  </a:txBody>
                  <a:tcPr marL="109728" marR="54864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LiqFrac</a:t>
                      </a:r>
                    </a:p>
                  </a:txBody>
                  <a:tcPr marL="109728" marR="54864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Key lookup tables</a:t>
                      </a:r>
                    </a:p>
                  </a:txBody>
                  <a:tcPr marL="109728" marR="54864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Sedi. routine</a:t>
                      </a:r>
                    </a:p>
                  </a:txBody>
                  <a:tcPr marL="109728" marR="54864" marT="27432" marB="27432" anchor="ctr">
                    <a:solidFill>
                      <a:srgbClr val="12263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3A"/>
                          </a:solidFill>
                          <a:latin typeface="Calibri"/>
                        </a:rPr>
                        <a:t>1FF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LT1 (2-mom)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3A"/>
                          </a:solidFill>
                          <a:latin typeface="Calibri"/>
                        </a:rPr>
                        <a:t>1FT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LT1 (2-mom, LF)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FT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3A"/>
                          </a:solidFill>
                          <a:latin typeface="Calibri"/>
                        </a:rPr>
                        <a:t>1TF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LT1 (3-mom) · LT3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TF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3A"/>
                          </a:solidFill>
                          <a:latin typeface="Calibri"/>
                        </a:rPr>
                        <a:t>1TT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LT1 (3-mom) · LT3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TT</a:t>
                      </a:r>
                    </a:p>
                  </a:txBody>
                  <a:tcPr marL="109728" marR="54864" marT="27432" marB="27432" anchor="ctr">
                    <a:solidFill>
                      <a:srgbClr val="E1F2E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3A"/>
                          </a:solidFill>
                          <a:latin typeface="Calibri"/>
                        </a:rPr>
                        <a:t>2TT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LT1 · LT2 · LT3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TT</a:t>
                      </a:r>
                    </a:p>
                  </a:txBody>
                  <a:tcPr marL="109728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3A"/>
                          </a:solidFill>
                          <a:latin typeface="Calibri"/>
                        </a:rPr>
                        <a:t>3TT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LT1 · LT2 · LT3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A3A"/>
                          </a:solidFill>
                          <a:latin typeface="Calibri"/>
                        </a:rPr>
                        <a:t>TT</a:t>
                      </a:r>
                    </a:p>
                  </a:txBody>
                  <a:tcPr marL="109728" marR="54864" marT="27432" marB="27432" anchor="ctr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11496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28C7A"/>
                </a:solidFill>
                <a:latin typeface="Calibri"/>
              </a:rPr>
              <a:t>Added 1FT and 1TF this cycle </a:t>
            </a:r>
            <a:r>
              <a:rPr sz="1450" b="0" i="0">
                <a:solidFill>
                  <a:srgbClr val="1B2A3A"/>
                </a:solidFill>
                <a:latin typeface="Calibri"/>
              </a:rPr>
              <a:t>(the tinted rows) → all four sedimentation variants and both the 2-mom and 3-mom × liquid-fraction interpolation families are now exercised.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7861E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Planned: one sedimentation routine, not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2A3A"/>
                </a:solidFill>
                <a:latin typeface="Calibri"/>
              </a:rPr>
              <a:t>sedimentation_ice_TT / TF / FT / FF are four near-identical ~150-line copies, split to keep the inner loops branch-free. Goal: one maintained body with no added computational cost. Runtime configuration is unchanged either 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285232" cy="2331720"/>
          </a:xfrm>
          <a:prstGeom prst="roundRect">
            <a:avLst>
              <a:gd name="adj" fmla="val 5500"/>
            </a:avLst>
          </a:prstGeom>
          <a:solidFill>
            <a:srgbClr val="E1F2EE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52344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8C7A"/>
                </a:solidFill>
                <a:latin typeface="Calibri"/>
              </a:rPr>
              <a:t>OPTION A  ·  RUNTIME FLAGS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553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3A"/>
                </a:solidFill>
                <a:latin typeface="Calibri"/>
              </a:rPr>
              <a:t>One routine, two logical arguments, plain guards.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128C7A"/>
              </a:buClr>
              <a:buFont typeface="Arial"/>
              <a:buChar char="•"/>
            </a:pPr>
            <a:r>
              <a:rPr sz="1330" b="0" i="0">
                <a:solidFill>
                  <a:srgbClr val="1B2A3A"/>
                </a:solidFill>
                <a:latin typeface="Calibri"/>
              </a:rPr>
              <a:t>Zero new files; no build or host-model change.</a:t>
            </a:r>
          </a:p>
          <a:p>
            <a:pPr indent="-182880" marL="18288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128C7A"/>
              </a:buClr>
              <a:buFont typeface="Arial"/>
              <a:buChar char="•"/>
            </a:pPr>
            <a:r>
              <a:rPr sz="1330" b="0" i="0">
                <a:solidFill>
                  <a:srgbClr val="1B2A3A"/>
                </a:solidFill>
                <a:latin typeface="Calibri"/>
              </a:rPr>
              <a:t>Branches are loop-invariant — expected bit-identical, cost ~0.</a:t>
            </a:r>
          </a:p>
          <a:p>
            <a:pPr indent="-182880" marL="18288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128C7A"/>
              </a:buClr>
              <a:buFont typeface="Arial"/>
              <a:buChar char="•"/>
            </a:pPr>
            <a:r>
              <a:rPr sz="1330" b="0" i="0">
                <a:solidFill>
                  <a:srgbClr val="1B2A3A"/>
                </a:solidFill>
                <a:latin typeface="Calibri"/>
              </a:rPr>
              <a:t>Must be measured, not assumed.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514600"/>
            <a:ext cx="5285232" cy="2331720"/>
          </a:xfrm>
          <a:prstGeom prst="roundRect">
            <a:avLst>
              <a:gd name="adj" fmla="val 5500"/>
            </a:avLst>
          </a:prstGeom>
          <a:solidFill>
            <a:srgbClr val="EAF2F8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752344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C4A6E"/>
                </a:solidFill>
                <a:latin typeface="Calibri"/>
              </a:rPr>
              <a:t>OPTION B  ·  COMPILE-TIME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154680"/>
            <a:ext cx="4553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A3A"/>
                </a:solidFill>
                <a:latin typeface="Calibri"/>
              </a:rPr>
              <a:t>Shared include body + four thin wrappers.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3749039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C4A6E"/>
              </a:buClr>
              <a:buFont typeface="Arial"/>
              <a:buChar char="•"/>
            </a:pPr>
            <a:r>
              <a:rPr sz="1330" b="0" i="0">
                <a:solidFill>
                  <a:srgbClr val="1B2A3A"/>
                </a:solidFill>
                <a:latin typeface="Calibri"/>
              </a:rPr>
              <a:t>Logical parameters; dead branches removed at compile time.</a:t>
            </a:r>
          </a:p>
          <a:p>
            <a:pPr indent="-182880" marL="18288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C4A6E"/>
              </a:buClr>
              <a:buFont typeface="Arial"/>
              <a:buChar char="•"/>
            </a:pPr>
            <a:r>
              <a:rPr sz="1330" b="0" i="0">
                <a:solidFill>
                  <a:srgbClr val="1B2A3A"/>
                </a:solidFill>
                <a:latin typeface="Calibri"/>
              </a:rPr>
              <a:t>Machine code identical to today — guaranteed zero cost.</a:t>
            </a:r>
          </a:p>
          <a:p>
            <a:pPr indent="-182880" marL="18288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C4A6E"/>
              </a:buClr>
              <a:buFont typeface="Arial"/>
              <a:buChar char="•"/>
            </a:pPr>
            <a:r>
              <a:rPr sz="1330" b="0" i="0">
                <a:solidFill>
                  <a:srgbClr val="1B2A3A"/>
                </a:solidFill>
                <a:latin typeface="Calibri"/>
              </a:rPr>
              <a:t>Adds one passive source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10912"/>
            <a:ext cx="10911535" cy="658368"/>
          </a:xfrm>
          <a:prstGeom prst="roundRect">
            <a:avLst>
              <a:gd name="adj" fmla="val 5500"/>
            </a:avLst>
          </a:prstGeom>
          <a:solidFill>
            <a:srgbClr val="FAEFD8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10912"/>
            <a:ext cx="1018001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7861E"/>
                </a:solidFill>
                <a:latin typeface="Calibri"/>
              </a:rPr>
              <a:t>Recommendation   </a:t>
            </a:r>
            <a:r>
              <a:rPr sz="1450" b="0" i="0">
                <a:solidFill>
                  <a:srgbClr val="1B2A3A"/>
                </a:solidFill>
                <a:latin typeface="Calibri"/>
              </a:rPr>
              <a:t>Prototype A first; B as fallback. Both gated on the six-config suite (bit-identical) + timing.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8FB9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B2A3A"/>
                </a:solidFill>
                <a:latin typeface="Cambria"/>
              </a:rPr>
              <a:t>Status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93338" cy="4160520"/>
          </a:xfrm>
          <a:prstGeom prst="roundRect">
            <a:avLst>
              <a:gd name="adj" fmla="val 5500"/>
            </a:avLst>
          </a:prstGeom>
          <a:solidFill>
            <a:srgbClr val="E1F2EE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393338" cy="658368"/>
          </a:xfrm>
          <a:prstGeom prst="roundRect">
            <a:avLst>
              <a:gd name="adj" fmla="val 5000"/>
            </a:avLst>
          </a:prstGeom>
          <a:solidFill>
            <a:srgbClr val="12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20824"/>
            <a:ext cx="3393338" cy="329184"/>
          </a:xfrm>
          <a:prstGeom prst="rect">
            <a:avLst/>
          </a:prstGeom>
          <a:solidFill>
            <a:srgbClr val="12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339333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661818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Clr>
                <a:srgbClr val="128C7A"/>
              </a:buClr>
              <a:buFont typeface="Arial"/>
              <a:buChar char="•"/>
            </a:pPr>
            <a:r>
              <a:rPr sz="1450" b="0" i="0">
                <a:solidFill>
                  <a:srgbClr val="1B2A3A"/>
                </a:solidFill>
                <a:latin typeface="Calibri"/>
              </a:rPr>
              <a:t>LUT interpolation refactor</a:t>
            </a:r>
          </a:p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Clr>
                <a:srgbClr val="128C7A"/>
              </a:buClr>
              <a:buFont typeface="Arial"/>
              <a:buChar char="•"/>
            </a:pPr>
            <a:r>
              <a:rPr sz="1450" b="0" i="0">
                <a:solidFill>
                  <a:srgbClr val="1B2A3A"/>
                </a:solidFill>
                <a:latin typeface="Calibri"/>
              </a:rPr>
              <a:t>Named constants &amp; allocatable tables</a:t>
            </a:r>
          </a:p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Clr>
                <a:srgbClr val="128C7A"/>
              </a:buClr>
              <a:buFont typeface="Arial"/>
              <a:buChar char="•"/>
            </a:pPr>
            <a:r>
              <a:rPr sz="1450" b="0" i="0">
                <a:solidFill>
                  <a:srgbClr val="1B2A3A"/>
                </a:solidFill>
                <a:latin typeface="Calibri"/>
              </a:rPr>
              <a:t>BUG-001 fix (kin1d)</a:t>
            </a:r>
          </a:p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Clr>
                <a:srgbClr val="128C7A"/>
              </a:buClr>
              <a:buFont typeface="Arial"/>
              <a:buChar char="•"/>
            </a:pPr>
            <a:r>
              <a:rPr sz="1450" b="0" i="0">
                <a:solidFill>
                  <a:srgbClr val="1B2A3A"/>
                </a:solidFill>
                <a:latin typeface="Calibri"/>
              </a:rPr>
              <a:t>Six-config regression suite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691640"/>
            <a:ext cx="3393338" cy="4160520"/>
          </a:xfrm>
          <a:prstGeom prst="roundRect">
            <a:avLst>
              <a:gd name="adj" fmla="val 5500"/>
            </a:avLst>
          </a:prstGeom>
          <a:solidFill>
            <a:srgbClr val="FAEFD8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9178" y="1691640"/>
            <a:ext cx="3393338" cy="658368"/>
          </a:xfrm>
          <a:prstGeom prst="roundRect">
            <a:avLst>
              <a:gd name="adj" fmla="val 5000"/>
            </a:avLst>
          </a:prstGeom>
          <a:solidFill>
            <a:srgbClr val="C7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9178" y="2020824"/>
            <a:ext cx="3393338" cy="329184"/>
          </a:xfrm>
          <a:prstGeom prst="rect">
            <a:avLst/>
          </a:prstGeom>
          <a:solidFill>
            <a:srgbClr val="C7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9178" y="1709928"/>
            <a:ext cx="339333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938" y="2606040"/>
            <a:ext cx="2661818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Clr>
                <a:srgbClr val="C7861E"/>
              </a:buClr>
              <a:buFont typeface="Arial"/>
              <a:buChar char="•"/>
            </a:pPr>
            <a:r>
              <a:rPr sz="1450" b="0" i="0">
                <a:solidFill>
                  <a:srgbClr val="1B2A3A"/>
                </a:solidFill>
                <a:latin typeface="Calibri"/>
              </a:rPr>
              <a:t>GEM verification of BUG-001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691640"/>
            <a:ext cx="3393338" cy="4160520"/>
          </a:xfrm>
          <a:prstGeom prst="roundRect">
            <a:avLst>
              <a:gd name="adj" fmla="val 5500"/>
            </a:avLst>
          </a:prstGeom>
          <a:solidFill>
            <a:srgbClr val="EAF2F8"/>
          </a:solidFill>
          <a:ln>
            <a:noFill/>
          </a:ln>
          <a:effectLst>
            <a:outerShdw blurRad="95000" dist="40000" dir="5400000" rotWithShape="0">
              <a:srgbClr val="16283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8276" y="1691640"/>
            <a:ext cx="3393338" cy="658368"/>
          </a:xfrm>
          <a:prstGeom prst="roundRect">
            <a:avLst>
              <a:gd name="adj" fmla="val 5000"/>
            </a:avLst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8276" y="2020824"/>
            <a:ext cx="3393338" cy="329184"/>
          </a:xfrm>
          <a:prstGeom prst="rect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1709928"/>
            <a:ext cx="339333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4036" y="2606040"/>
            <a:ext cx="2661818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Clr>
                <a:srgbClr val="2C4A6E"/>
              </a:buClr>
              <a:buFont typeface="Arial"/>
              <a:buChar char="•"/>
            </a:pPr>
            <a:r>
              <a:rPr sz="1450" b="0" i="0">
                <a:solidFill>
                  <a:srgbClr val="1B2A3A"/>
                </a:solidFill>
                <a:latin typeface="Calibri"/>
              </a:rPr>
              <a:t>Sedimentation consolidation</a:t>
            </a:r>
          </a:p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Clr>
                <a:srgbClr val="2C4A6E"/>
              </a:buClr>
              <a:buFont typeface="Arial"/>
              <a:buChar char="•"/>
            </a:pPr>
            <a:r>
              <a:rPr sz="1450" b="0" i="0">
                <a:solidFill>
                  <a:srgbClr val="1B2A3A"/>
                </a:solidFill>
                <a:latin typeface="Calibri"/>
              </a:rPr>
              <a:t>Parallel LUT generation</a:t>
            </a:r>
          </a:p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Clr>
                <a:srgbClr val="2C4A6E"/>
              </a:buClr>
              <a:buFont typeface="Arial"/>
              <a:buChar char="•"/>
            </a:pPr>
            <a:r>
              <a:rPr sz="1450" b="0" i="0">
                <a:solidFill>
                  <a:srgbClr val="1B2A3A"/>
                </a:solidFill>
                <a:latin typeface="Calibri"/>
              </a:rPr>
              <a:t>Shared mod_p3_psd module</a:t>
            </a:r>
          </a:p>
          <a:p>
            <a:pPr indent="-182880" marL="18288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Clr>
                <a:srgbClr val="2C4A6E"/>
              </a:buClr>
              <a:buFont typeface="Arial"/>
              <a:buChar char="•"/>
            </a:pPr>
            <a:r>
              <a:rPr sz="1450" b="0" i="0">
                <a:solidFill>
                  <a:srgbClr val="1B2A3A"/>
                </a:solidFill>
                <a:latin typeface="Calibri"/>
              </a:rPr>
              <a:t>Split p3_main into per-process routines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-1371600" y="-1463040"/>
            <a:ext cx="2743200" cy="2468880"/>
          </a:xfrm>
          <a:prstGeom prst="hexagon">
            <a:avLst/>
          </a:prstGeom>
          <a:noFill/>
          <a:ln w="19050">
            <a:solidFill>
              <a:srgbClr val="1C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881360" y="4480560"/>
            <a:ext cx="3108960" cy="2798064"/>
          </a:xfrm>
          <a:prstGeom prst="hexagon">
            <a:avLst/>
          </a:prstGeom>
          <a:noFill/>
          <a:ln w="19050">
            <a:solidFill>
              <a:srgbClr val="1C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0058400" y="-1097280"/>
            <a:ext cx="2011680" cy="1810512"/>
          </a:xfrm>
          <a:prstGeom prst="hexagon">
            <a:avLst/>
          </a:prstGeom>
          <a:noFill/>
          <a:ln w="19050">
            <a:solidFill>
              <a:srgbClr val="1C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B8FB9"/>
                </a:solidFill>
                <a:latin typeface="Calibri"/>
              </a:rPr>
              <a:t>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A materially smaller, better-tested P3 — with one operational crash eliminated — and no change to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5669280" cy="18288"/>
          </a:xfrm>
          <a:prstGeom prst="rect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8C7A"/>
                </a:solidFill>
                <a:latin typeface="Calibri"/>
              </a:rPr>
              <a:t>~4,400 fewer lines</a:t>
            </a:r>
            <a:r>
              <a:rPr sz="1700" b="0" i="0">
                <a:solidFill>
                  <a:srgbClr val="EAF2F8"/>
                </a:solidFill>
                <a:latin typeface="Calibri"/>
              </a:rPr>
              <a:t>      six-config regression coverage</a:t>
            </a:r>
            <a:r>
              <a:rPr sz="1700" b="0" i="0">
                <a:solidFill>
                  <a:srgbClr val="EAF2F8"/>
                </a:solidFill>
                <a:latin typeface="Calibri"/>
              </a:rPr>
              <a:t>      every change bit-identical or documented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5E7185"/>
                </a:solidFill>
                <a:latin typeface="Calibri"/>
              </a:rPr>
              <a:t>Next milestone: GEM verification of BUG-001.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